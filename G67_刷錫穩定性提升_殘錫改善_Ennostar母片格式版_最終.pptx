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fonts/font.dat" ContentType="application/x-fontdata"/>
  <Override PartName="/ppt/fonts/font2.dat" ContentType="application/x-fontdata"/>
  <Override PartName="/ppt/fonts/font3.dat" ContentType="application/x-fontdata"/>
  <Override PartName="/ppt/fonts/font4.dat" ContentType="application/x-fontdata"/>
  <Override PartName="/ppt/fonts/font5.dat" ContentType="application/x-fontdata"/>
  <Override PartName="/ppt/media/image.svg" ContentType="image/svg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5de4a4a8a8649f3" Type="http://schemas.openxmlformats.org/package/2006/relationships/metadata/core-properties" Target="docProps/core.xml"/><Relationship Id="R3c3dbadf44f441b5" Type="http://schemas.openxmlformats.org/officeDocument/2006/relationships/officeDocument" Target="ppt/presentation.xml"/><Relationship Id="R9744d7edbe94428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20e6db5ae0474778"/>
  </p:sldMasterIdLst>
  <p:notesMasterIdLst>
    <p:notesMasterId xmlns:r="http://schemas.openxmlformats.org/officeDocument/2006/relationships" r:id="Rbf68ef057a2c4852"/>
  </p:notesMasterIdLst>
  <p:sldIdLst>
    <p:sldId xmlns:r="http://schemas.openxmlformats.org/officeDocument/2006/relationships" id="256" r:id="R4ef526af56cf41e9"/>
    <p:sldId xmlns:r="http://schemas.openxmlformats.org/officeDocument/2006/relationships" id="257" r:id="R205cf061131b4155"/>
    <p:sldId xmlns:r="http://schemas.openxmlformats.org/officeDocument/2006/relationships" id="258" r:id="R044298f454e3456f"/>
    <p:sldId xmlns:r="http://schemas.openxmlformats.org/officeDocument/2006/relationships" id="259" r:id="R8ffd1f2112894a20"/>
    <p:sldId xmlns:r="http://schemas.openxmlformats.org/officeDocument/2006/relationships" id="260" r:id="R01342e450004429f"/>
    <p:sldId xmlns:r="http://schemas.openxmlformats.org/officeDocument/2006/relationships" id="261" r:id="R8e3ea5af091b4834"/>
    <p:sldId xmlns:r="http://schemas.openxmlformats.org/officeDocument/2006/relationships" id="262" r:id="R166fe0d31b4641ad"/>
    <p:sldId xmlns:ns0="http://schemas.openxmlformats.org/officeDocument/2006/relationships" id="264" ns0:id="rId20"/>
    <p:sldId xmlns:r="http://schemas.openxmlformats.org/officeDocument/2006/relationships" id="263" r:id="R28b60a4f8b2b45e7"/>
  </p:sldIdLst>
  <p:sldSz cx="9144000" cy="5143500"/>
  <p:notesSz cx="6858000" cy="9144000"/>
  <p:embeddedFontLst>
    <p:embeddedFont>
      <p:font typeface="MS PGothic"/>
      <p:regular xmlns:r="http://schemas.openxmlformats.org/officeDocument/2006/relationships" r:id="R251ac83e6bbd4fc3"/>
    </p:embeddedFont>
    <p:embeddedFont>
      <p:font typeface="Roboto Light"/>
      <p:regular xmlns:r="http://schemas.openxmlformats.org/officeDocument/2006/relationships" r:id="R14159ea19b114910"/>
      <p:italic xmlns:r="http://schemas.openxmlformats.org/officeDocument/2006/relationships" r:id="R19b84bb5512145c3"/>
    </p:embeddedFont>
    <p:embeddedFont>
      <p:font typeface="微軟正黑體"/>
      <p:regular xmlns:r="http://schemas.openxmlformats.org/officeDocument/2006/relationships" r:id="R14bdb507b8e048fa"/>
      <p:bold xmlns:r="http://schemas.openxmlformats.org/officeDocument/2006/relationships" r:id="R8ca19a12c513459f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1342e450004429f" Type="http://schemas.openxmlformats.org/officeDocument/2006/relationships/slide" Target="slides/slide5.xml"/><Relationship Id="R044298f454e3456f" Type="http://schemas.openxmlformats.org/officeDocument/2006/relationships/slide" Target="slides/slide3.xml"/><Relationship Id="R14159ea19b114910" Type="http://schemas.openxmlformats.org/officeDocument/2006/relationships/font" Target="fonts/font2.dat"/><Relationship Id="R14bdb507b8e048fa" Type="http://schemas.openxmlformats.org/officeDocument/2006/relationships/font" Target="fonts/font4.dat"/><Relationship Id="R166fe0d31b4641ad" Type="http://schemas.openxmlformats.org/officeDocument/2006/relationships/slide" Target="slides/slide7.xml"/><Relationship Id="R19b84bb5512145c3" Type="http://schemas.openxmlformats.org/officeDocument/2006/relationships/font" Target="fonts/font3.dat"/><Relationship Id="R1dd7d65d9fd54c7e" Type="http://schemas.openxmlformats.org/officeDocument/2006/relationships/presProps" Target="presProps.xml"/><Relationship Id="R205cf061131b4155" Type="http://schemas.openxmlformats.org/officeDocument/2006/relationships/slide" Target="slides/slide2.xml"/><Relationship Id="R20e6db5ae0474778" Type="http://schemas.openxmlformats.org/officeDocument/2006/relationships/slideMaster" Target="slideMasters/slideMaster1.xml"/><Relationship Id="R251ac83e6bbd4fc3" Type="http://schemas.openxmlformats.org/officeDocument/2006/relationships/font" Target="fonts/font.dat"/><Relationship Id="R28b60a4f8b2b45e7" Type="http://schemas.openxmlformats.org/officeDocument/2006/relationships/slide" Target="slides/slide8.xml"/><Relationship Id="R4ef526af56cf41e9" Type="http://schemas.openxmlformats.org/officeDocument/2006/relationships/slide" Target="slides/slide1.xml"/><Relationship Id="R8ca19a12c513459f" Type="http://schemas.openxmlformats.org/officeDocument/2006/relationships/font" Target="fonts/font5.dat"/><Relationship Id="R8e3ea5af091b4834" Type="http://schemas.openxmlformats.org/officeDocument/2006/relationships/slide" Target="slides/slide6.xml"/><Relationship Id="R8ffd1f2112894a20" Type="http://schemas.openxmlformats.org/officeDocument/2006/relationships/slide" Target="slides/slide4.xml"/><Relationship Id="R9692e07bb3914bf7" Type="http://schemas.openxmlformats.org/officeDocument/2006/relationships/theme" Target="theme/theme1.xml"/><Relationship Id="Rbf68ef057a2c4852" Type="http://schemas.openxmlformats.org/officeDocument/2006/relationships/notesMaster" Target="notesMasters/notesMaster1.xml"/><Relationship Id="Rd181acebd8844e4a" Type="http://schemas.openxmlformats.org/officeDocument/2006/relationships/tableStyles" Target="tableStyles.xml"/><Relationship Id="Red4a4c52e8784cfa" Type="http://schemas.openxmlformats.org/officeDocument/2006/relationships/viewProps" Target="viewProps.xml"/><Relationship Id="rId20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F6FB2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850">
                    <a:latin typeface="Noto Sans TC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修正前異常影響</c:v>
                </c:pt>
                <c:pt idx="1">
                  <c:v>修正後相同異常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</c:v>
                </c:pt>
                <c:pt idx="1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Noto Sans T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"/>
          <c:min val="0.0"/>
        </c:scaling>
        <c:delete val="0"/>
        <c:axPos val="l"/>
        <c:majorGridlines/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Noto Sans T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06f733eac54a4f8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002f08c14d94aeb" Type="http://schemas.openxmlformats.org/officeDocument/2006/relationships/slide" Target="../slides/slide1.xml"/><Relationship Id="Rc3503eb72bc74a8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272092ab7f14dcf" Type="http://schemas.openxmlformats.org/officeDocument/2006/relationships/notesMaster" Target="../notesMasters/notesMaster1.xml"/><Relationship Id="Rbe455cd047524dd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ad72439a7bec4a20" Type="http://schemas.openxmlformats.org/officeDocument/2006/relationships/slide" Target="../slides/slide3.xml"/><Relationship Id="Rdca2b472903d437c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f01f7aa7d694ae7" Type="http://schemas.openxmlformats.org/officeDocument/2006/relationships/notesMaster" Target="../notesMasters/notesMaster1.xml"/><Relationship Id="Rca9cb98bb9b649f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be0ae237ae884899" Type="http://schemas.openxmlformats.org/officeDocument/2006/relationships/notesMaster" Target="../notesMasters/notesMaster1.xml"/><Relationship Id="Rf9301a45fd524ce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913c9d5f405406c" Type="http://schemas.openxmlformats.org/officeDocument/2006/relationships/slide" Target="../slides/slide6.xml"/><Relationship Id="Rc429832d74a04e2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0b221f457d14e2e" Type="http://schemas.openxmlformats.org/officeDocument/2006/relationships/slide" Target="../slides/slide7.xml"/><Relationship Id="R88bf2ba6535a4100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e05e86605c747fb" Type="http://schemas.openxmlformats.org/officeDocument/2006/relationships/notesMaster" Target="../notesMasters/notesMaster1.xml"/><Relationship Id="Rdac5eb3d519b465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32a06a21ff9488e" Type="http://schemas.openxmlformats.org/officeDocument/2006/relationships/image" Target="../media/image.svg"/><Relationship Id="Rd2afb519233c417a" Type="http://schemas.openxmlformats.org/officeDocument/2006/relationships/image" Target="../media/image.jpeg"/><Relationship Id="Rdc7f0447c55f415f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42d69c27b9774599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186553e468a45d8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0bd5a521783436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3f69b0fdabb74c2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5272658e58cf4e90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3540509664d4f16" Type="http://schemas.openxmlformats.org/officeDocument/2006/relationships/image" Target="../media/image2.jpeg"/><Relationship Id="Rf6106bb34ad2405c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2b01c415b124746" Type="http://schemas.openxmlformats.org/officeDocument/2006/relationships/image" Target="../media/image3.jpeg"/><Relationship Id="R760dc01ee17d4cbf" Type="http://schemas.openxmlformats.org/officeDocument/2006/relationships/slideMaster" Target="../slideMasters/slideMaster1.xml"/><Relationship Id="Rc9fa4ce8ebed47cd" Type="http://schemas.openxmlformats.org/officeDocument/2006/relationships/image" Target="../media/image.jpeg"/><Relationship Id="Rfe4bfaa73df84319" Type="http://schemas.openxmlformats.org/officeDocument/2006/relationships/image" Target="../media/image.svg"/></Relationships>
</file>

<file path=ppt/slideLayouts/_rels/slideLayout9.xml.rels><?xml version='1.0' encoding='UTF-8' standalone='yes'?>
<Relationships xmlns="http://schemas.openxmlformats.org/package/2006/relationships"><Relationship Id="R0ed85a975206417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userDrawn="1">
  <p:cSld name="NO">
    <p:bg>
      <p:bgPr>
        <a:blipFill xmlns:a="http://schemas.openxmlformats.org/drawingml/2006/main" rotWithShape="1">
          <a:blip xmlns:r="http://schemas.openxmlformats.org/officeDocument/2006/relationships" r:embed="Rd2afb519233c417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fb519233c417a">
            <a:extLst>
              <a:ext uri="{96DAC541-7B7A-43D3-8B79-37D633B846F1}">
                <asvg:svgBlip xmlns:asvg="http://schemas.microsoft.com/office/drawing/2016/SVG/main" r:embed="Rb32a06a21ff948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959" y="509888"/>
            <a:ext cx="1620000" cy="281912"/>
          </a:xfrm>
          <a:prstGeom xmlns:a="http://schemas.openxmlformats.org/drawingml/2006/main" prst="rect">
            <a:avLst/>
          </a:prstGeom>
        </p:spPr>
      </p:pic>
      <p:sp>
        <p:nvSpPr>
          <p:cNvPr id="5" name="標題 1">
            <a:extLst xmlns:a="http://schemas.openxmlformats.org/drawingml/2006/main">
              <a:ext uri="{FF2B5EF4-FFF2-40B4-BE49-F238E27FC236}">
                <a16:creationId xmlns:a16="http://schemas.microsoft.com/office/drawing/2014/main" id="{F30EA4B6-1EA5-CAD2-7D92-D816D026C90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9620" y="1433376"/>
            <a:ext cx="657528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50000"/>
              </a:lnSpc>
              <a:buNone/>
              <a:defRPr sz="2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6" name="文字版面配置區 9">
            <a:extLst xmlns:a="http://schemas.openxmlformats.org/drawingml/2006/main">
              <a:ext uri="{FF2B5EF4-FFF2-40B4-BE49-F238E27FC236}">
                <a16:creationId xmlns:a16="http://schemas.microsoft.com/office/drawing/2014/main" id="{5AB66D1F-A2DD-022A-5025-4D3881B08E7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723659"/>
            <a:ext cx="4137025" cy="106424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6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D067D35E-DB98-1A2F-C350-F063DC9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手繪多邊形: 圖案 5">
            <a:extLst xmlns:a="http://schemas.openxmlformats.org/drawingml/2006/main">
              <a:ext uri="{FF2B5EF4-FFF2-40B4-BE49-F238E27FC236}">
                <a16:creationId xmlns:a16="http://schemas.microsoft.com/office/drawing/2014/main" id="{F941FA01-169A-9CC1-113E-9C690B04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3B73E5D6-1E65-09C2-5DE6-598D1FE8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F791F0FA-3D2A-6EA8-A678-73A95BD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手繪多邊形: 圖案 8">
            <a:extLst xmlns:a="http://schemas.openxmlformats.org/drawingml/2006/main">
              <a:ext uri="{FF2B5EF4-FFF2-40B4-BE49-F238E27FC236}">
                <a16:creationId xmlns:a16="http://schemas.microsoft.com/office/drawing/2014/main" id="{313CAB3E-8E49-4B1B-A765-96826F5F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EDFAB0CA-9A16-3303-A4B4-AD1E294A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98341F7-9E6A-49B1-3196-693228DF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4934BB63-0AB7-C7AE-5731-CF2E91CE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8C2DC5A-3AC4-DC00-EF78-B9920046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2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2DE94A3-8D80-D68B-3D16-B4CD870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844D30BA-A527-81A0-485F-BE1328BC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77362FD-2310-314B-027B-D8E03B47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7A613C8A-8C2A-1523-0AA8-BB262551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34D52C2B-D04A-6EDC-7FCF-F840968E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F6F2E4C-820F-45C4-A8C6-03517E8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F5AC4AA7-15D8-FC84-5990-22D59FB1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4618E767-40E2-EC3A-1269-ABED0AC2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0EBB9939-68A9-C97F-4E74-CBE7A34E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3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607BEBEB-1EAC-DE58-02F4-E2F30FE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408996C7-F996-9B38-9D3E-AEDDD060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6219661E-F9AC-3DB2-0914-2B1C26D0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6D2540B6-74D7-BF17-62DE-D36FA09A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5A9F677-E62A-B977-1184-CB2F7783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0375208F-13E0-B71C-05BC-B8A01DD4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ED7BD8DE-6415-6154-D316-F7B3D1D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9BBAC877-E8AC-2BAF-B501-625F36FB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6D7AA028-4714-8A19-2B73-F1807B2B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4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D0B506F-F4E5-B87B-AF77-E5337916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17EDB9B5-1719-92EE-65AC-E8392798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B204D236-863F-AE5D-A8E6-C2216617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6DF2A49-A57E-7B39-9AF1-1A9E6D57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62CF9680-BF7B-412A-CE95-C87DAF4A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F3EBAF98-77AE-494D-FCA9-F54E34A6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A557B764-00A0-46B9-4028-596AFBFE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3394AF1E-F464-9D64-F738-F1D4A9E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2AAEA814-7EBB-6340-75B9-979BE531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5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1890509B-3FFF-67B9-2EFB-D202760A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D0D72D94-1389-9377-5290-4C58495F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1D088CB-CC88-1FE0-3AC1-3F519437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3AD385E-3EFE-FBA2-F94C-546C898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A11B2028-5E73-6B1D-1670-38F1E85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1005EDF-9BB2-B00C-46FB-31BED787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D076D30F-9855-7D60-D9B2-6D8F4675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E2BDE920-FA5F-9880-2F43-4C8D8D90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436E3EAC-A630-BF9B-787C-FC168B48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NO">
    <p:bg>
      <p:bgPr>
        <a:blipFill xmlns:a="http://schemas.openxmlformats.org/drawingml/2006/main" rotWithShape="1">
          <a:blip xmlns:r="http://schemas.openxmlformats.org/officeDocument/2006/relationships" r:embed="R03540509664d4f1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標題 1">
            <a:extLst xmlns:a="http://schemas.openxmlformats.org/drawingml/2006/main">
              <a:ext uri="{FF2B5EF4-FFF2-40B4-BE49-F238E27FC236}">
                <a16:creationId xmlns:a16="http://schemas.microsoft.com/office/drawing/2014/main" id="{6AEA8C3C-A036-4B77-B8CD-09625A8ED3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1050" y="1676400"/>
            <a:ext cx="567925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2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5E3C85-4891-1A25-EE4F-82200A8E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字方塊 26">
            <a:extLst xmlns:a="http://schemas.openxmlformats.org/drawingml/2006/main">
              <a:ext uri="{FF2B5EF4-FFF2-40B4-BE49-F238E27FC236}">
                <a16:creationId xmlns:a16="http://schemas.microsoft.com/office/drawing/2014/main" id="{4A47F723-4F80-88E0-2119-3C04C7EA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0B6C38F-0A5C-0698-1F8D-56E44F2A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0EA36068-B592-77AC-CDCC-1EBDC6E4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5D33458A-8375-FDE9-E878-C1BE270A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19ACBC42-2343-9B9C-6958-31944714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5BB0C189-8222-5238-A819-23E7137A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55C0A18D-1096-2010-A9D2-F338B92E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DB01F9FB-8A74-B0FB-E978-BBCF05E3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E502A36-44D7-4F93-00A2-A823583D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74521D93-7C67-F49E-4B23-769237CA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6_Ending Page">
    <p:bg>
      <p:bgPr>
        <a:blipFill xmlns:a="http://schemas.openxmlformats.org/drawingml/2006/main" rotWithShape="1">
          <a:blip xmlns:r="http://schemas.openxmlformats.org/officeDocument/2006/relationships" r:embed="R02b01c415b12474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a4ce8ebed47cd">
            <a:extLst>
              <a:ext uri="{96DAC541-7B7A-43D3-8B79-37D633B846F1}">
                <asvg:svgBlip xmlns:asvg="http://schemas.microsoft.com/office/drawing/2016/SVG/main" r:embed="Rfe4bfaa73df8431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6532" y="1661914"/>
            <a:ext cx="1962130" cy="341448"/>
          </a:xfrm>
          <a:prstGeom xmlns:a="http://schemas.openxmlformats.org/drawingml/2006/main" prst="rect">
            <a:avLst/>
          </a:prstGeom>
        </p:spPr>
      </p:pic>
      <p:sp>
        <p:nvSpPr>
          <p:cNvPr id="8" name="文字方塊 7">
            <a:extLst xmlns:a="http://schemas.openxmlformats.org/drawingml/2006/main">
              <a:ext uri="{FF2B5EF4-FFF2-40B4-BE49-F238E27FC236}">
                <a16:creationId xmlns:a16="http://schemas.microsoft.com/office/drawing/2014/main" id="{E2E4EF78-35FB-4A91-2CA8-A0E350C2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491" y="2345384"/>
            <a:ext cx="4971288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Bright Innovation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．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Sustainable Future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C286CB-829C-41C0-A295-1F2DEAF4754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457200" y="742951"/>
            <a:ext cx="8229600" cy="3600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428EC4B-568E-4184-BC32-A5A23179B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9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 b="1"/>
            </a:lvl1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5C85EC-CD80-4230-AB30-639BA3D456A3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67B409B-8358-4DFC-99EB-A8FD880AEB92}" type="slidenum">
              <a:t>‹#›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a0f65f5342b4969" Type="http://schemas.openxmlformats.org/officeDocument/2006/relationships/slideLayout" Target="../slideLayouts/slideLayout6.xml"/><Relationship Id="R17886187e55f452d" Type="http://schemas.openxmlformats.org/officeDocument/2006/relationships/slideLayout" Target="../slideLayouts/slideLayout5.xml"/><Relationship Id="R5ab9cb7196b94ba8" Type="http://schemas.openxmlformats.org/officeDocument/2006/relationships/slideLayout" Target="../slideLayouts/slideLayout8.xml"/><Relationship Id="R71c41d335c564363" Type="http://schemas.openxmlformats.org/officeDocument/2006/relationships/slideLayout" Target="../slideLayouts/slideLayout3.xml"/><Relationship Id="R91f19dd47453421c" Type="http://schemas.openxmlformats.org/officeDocument/2006/relationships/slideLayout" Target="../slideLayouts/slideLayout2.xml"/><Relationship Id="R940dbd83033942a3" Type="http://schemas.openxmlformats.org/officeDocument/2006/relationships/slideLayout" Target="../slideLayouts/slideLayout1.xml"/><Relationship Id="Rca10b00f6cc4469f" Type="http://schemas.openxmlformats.org/officeDocument/2006/relationships/slideLayout" Target="../slideLayouts/slideLayout4.xml"/><Relationship Id="Rd63f815dee9c40b9" Type="http://schemas.openxmlformats.org/officeDocument/2006/relationships/theme" Target="theme/theme2.xml"/><Relationship Id="Re66d75c5b4004dc0" Type="http://schemas.openxmlformats.org/officeDocument/2006/relationships/slideLayout" Target="../slideLayouts/slideLayout7.xml"/><Relationship Id="Rfe0ad06f96cd423f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B8D49BD-F53A-4CD7-9E09-57EB6794E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564F88-2685-475F-92CF-4C1907BC10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47413D-AA86-413D-92EC-DC29DF4F30C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D04105CA-BFC3-4BCD-B806-E151D69215F4}" type="datetimeFigureOut">
              <a:t>2026/7/22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9DB3CE-A747-4908-9CB2-1D7D9D44DC8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2BB4CB-26DC-4982-B2E3-44340A594D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72E5D2EC-D9FC-4367-9291-770F97719C8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0dbd83033942a3"/>
    <p:sldLayoutId xmlns:r="http://schemas.openxmlformats.org/officeDocument/2006/relationships" id="2147483650" r:id="R91f19dd47453421c"/>
    <p:sldLayoutId xmlns:r="http://schemas.openxmlformats.org/officeDocument/2006/relationships" id="2147483651" r:id="R71c41d335c564363"/>
    <p:sldLayoutId xmlns:r="http://schemas.openxmlformats.org/officeDocument/2006/relationships" id="2147483652" r:id="Rca10b00f6cc4469f"/>
    <p:sldLayoutId xmlns:r="http://schemas.openxmlformats.org/officeDocument/2006/relationships" id="2147483653" r:id="R17886187e55f452d"/>
    <p:sldLayoutId xmlns:r="http://schemas.openxmlformats.org/officeDocument/2006/relationships" id="2147483654" r:id="R0a0f65f5342b4969"/>
    <p:sldLayoutId xmlns:r="http://schemas.openxmlformats.org/officeDocument/2006/relationships" id="2147483655" r:id="Re66d75c5b4004dc0"/>
    <p:sldLayoutId xmlns:r="http://schemas.openxmlformats.org/officeDocument/2006/relationships" id="2147483656" r:id="R5ab9cb7196b94ba8"/>
    <p:sldLayoutId xmlns:r="http://schemas.openxmlformats.org/officeDocument/2006/relationships" id="2147483657" r:id="Rfe0ad06f96cd423f"/>
  </p:sldLayoutIdLst>
  <p:txStyles>
    <p:titleStyle>
      <a:lvl1pPr xmlns:a="http://schemas.openxmlformats.org/drawingml/2006/main" algn="l">
        <a:lnSpc>
          <a:spcPct val="90000"/>
        </a:lnSpc>
        <a:buNone/>
        <a:defRPr sz="2400" b="1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171450" indent="-171450" algn="l">
        <a:lnSpc>
          <a:spcPct val="90000"/>
        </a:lnSpc>
        <a:spcBef>
          <a:spcPts val="750"/>
        </a:spcBef>
        <a:buChar char="•"/>
        <a:defRPr sz="16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  <a:lvl2pPr xmlns:a="http://schemas.openxmlformats.org/drawingml/2006/main" marL="514350" indent="-171450" algn="l">
        <a:lnSpc>
          <a:spcPct val="90000"/>
        </a:lnSpc>
        <a:spcBef>
          <a:spcPts val="375"/>
        </a:spcBef>
        <a:buChar char="•"/>
        <a:defRPr sz="12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2pPr>
      <a:lvl3pPr xmlns:a="http://schemas.openxmlformats.org/drawingml/2006/main" marL="857250" indent="-171450" algn="l">
        <a:lnSpc>
          <a:spcPct val="90000"/>
        </a:lnSpc>
        <a:spcBef>
          <a:spcPts val="375"/>
        </a:spcBef>
        <a:buChar char="•"/>
        <a:defRPr sz="11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3pPr>
      <a:lvl4pPr xmlns:a="http://schemas.openxmlformats.org/drawingml/2006/main" marL="12001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4pPr>
      <a:lvl5pPr xmlns:a="http://schemas.openxmlformats.org/drawingml/2006/main" marL="15430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5pPr>
      <a:lvl6pPr xmlns:a="http://schemas.openxmlformats.org/drawingml/2006/main" marL="18859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a29333211c04175" Type="http://schemas.openxmlformats.org/officeDocument/2006/relationships/slideLayout" Target="../slideLayouts/slideLayout1.xml"/><Relationship Id="Rccefae7ba3f040e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03c5b26404a4400" Type="http://schemas.openxmlformats.org/officeDocument/2006/relationships/slideLayout" Target="../slideLayouts/slideLayout2.xml"/><Relationship Id="Re9cb44296135433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40a9438727f479b" Type="http://schemas.openxmlformats.org/officeDocument/2006/relationships/notesSlide" Target="../notesSlides/notesSlide3.xml"/><Relationship Id="R594a008d88d94c3e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54b5e182ff0b488a" Type="http://schemas.openxmlformats.org/officeDocument/2006/relationships/slideLayout" Target="../slideLayouts/slideLayout2.xml"/><Relationship Id="Rf6b54dc4e2024b9f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74d7d7c122c140e4" Type="http://schemas.openxmlformats.org/officeDocument/2006/relationships/notesSlide" Target="../notesSlides/notesSlide5.xml"/><Relationship Id="R871dfec4e3b54e7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873b044c0fdd458d" Type="http://schemas.openxmlformats.org/officeDocument/2006/relationships/slideLayout" Target="../slideLayouts/slideLayout2.xml"/><Relationship Id="Rd2668e6afd9340eb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3ed115b8efdf4a7e" Type="http://schemas.openxmlformats.org/officeDocument/2006/relationships/notesSlide" Target="../notesSlides/notesSlide7.xml"/><Relationship Id="R89c79faf2de64ee6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27af9ef8ccb548f5" Type="http://schemas.openxmlformats.org/officeDocument/2006/relationships/slideLayout" Target="../slideLayouts/slideLayout8.xml"/><Relationship Id="R60d999dab0f841ed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ECF983F6-1835-79B2-8CA5-D94A43F7637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G67_刷錫穩定性提升_殘錫改善</a:t>
            </a:r>
          </a:p>
        </p:txBody>
      </p:sp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C4D41FB1-427B-88C3-8C8C-17D376270D5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487578"/>
            <a:ext cx="4137025" cy="1064241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Presented by（新產品工程）</a:t>
            </a:r>
          </a:p>
          <a:p xmlns:a="http://schemas.openxmlformats.org/drawingml/2006/main">
            <a:r>
              <a:rPr>
                <a:latin typeface="Noto Sans TC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1099743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4D10127-80C4-4369-A721-EDE5BA4FA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Agenda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D2CB2A-E887-4B54-BB65-2DAD1E71825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2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324000" y="737999"/>
            <a:ext cx="8208000" cy="259200"/>
          </a:xfrm>
          <a:prstGeom prst="roundRect">
            <a:avLst/>
          </a:prstGeom>
          <a:solidFill>
            <a:srgbClr val="F8FAFC"/>
          </a:solidFill>
          <a:ln w="7620"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4400" bIns="14400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F2937"/>
                </a:solidFill>
                <a:latin typeface="Noto Sans TC"/>
              </a:rPr>
              <a:t>以刮刀滑行距離優化，避開殘錫滴落功能區，降低SPI / 3DL Tilt異常</a:t>
            </a:r>
          </a:p>
        </p:txBody>
      </p:sp>
      <p:sp xmlns:a="http://schemas.openxmlformats.org/drawingml/2006/main">
        <p:nvSpPr>
          <p:cNvPr id="7174" name="Oval 7173"/>
          <p:cNvSpPr/>
          <p:nvPr/>
        </p:nvSpPr>
        <p:spPr>
          <a:xfrm>
            <a:off x="468000" y="1296000"/>
            <a:ext cx="259200" cy="259200"/>
          </a:xfrm>
          <a:prstGeom prst="ellipse">
            <a:avLst/>
          </a:prstGeom>
          <a:solidFill>
            <a:srgbClr val="113A6B"/>
          </a:solidFill>
          <a:ln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Noto Sans TC"/>
              </a:rPr>
              <a:t>A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827999" y="1332000"/>
            <a:ext cx="2880000" cy="162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937"/>
                </a:solidFill>
                <a:latin typeface="Noto Sans TC"/>
              </a:rPr>
              <a:t>背景說明及問題描述</a:t>
            </a:r>
          </a:p>
        </p:txBody>
      </p:sp>
      <p:sp xmlns:a="http://schemas.openxmlformats.org/drawingml/2006/main">
        <p:nvSpPr>
          <p:cNvPr id="7176" name="Oval 7175"/>
          <p:cNvSpPr/>
          <p:nvPr/>
        </p:nvSpPr>
        <p:spPr>
          <a:xfrm>
            <a:off x="468000" y="1666800"/>
            <a:ext cx="259200" cy="259200"/>
          </a:xfrm>
          <a:prstGeom prst="ellipse">
            <a:avLst/>
          </a:prstGeom>
          <a:solidFill>
            <a:srgbClr val="113A6B"/>
          </a:solidFill>
          <a:ln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Noto Sans TC"/>
              </a:rPr>
              <a:t>B</a:t>
            </a:r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827999" y="1702799"/>
            <a:ext cx="2880000" cy="162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937"/>
                </a:solidFill>
                <a:latin typeface="Noto Sans TC"/>
              </a:rPr>
              <a:t>創新特徵及內容描述</a:t>
            </a:r>
          </a:p>
        </p:txBody>
      </p:sp>
      <p:sp xmlns:a="http://schemas.openxmlformats.org/drawingml/2006/main">
        <p:nvSpPr>
          <p:cNvPr id="7178" name="Oval 7177"/>
          <p:cNvSpPr/>
          <p:nvPr/>
        </p:nvSpPr>
        <p:spPr>
          <a:xfrm>
            <a:off x="468000" y="2037600"/>
            <a:ext cx="259200" cy="259200"/>
          </a:xfrm>
          <a:prstGeom prst="ellipse">
            <a:avLst/>
          </a:prstGeom>
          <a:solidFill>
            <a:srgbClr val="113A6B"/>
          </a:solidFill>
          <a:ln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Noto Sans TC"/>
              </a:rPr>
              <a:t>C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827999" y="2073600"/>
            <a:ext cx="2880000" cy="162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937"/>
                </a:solidFill>
                <a:latin typeface="Noto Sans TC"/>
              </a:rPr>
              <a:t>效益說明</a:t>
            </a:r>
          </a:p>
        </p:txBody>
      </p:sp>
      <p:sp xmlns:a="http://schemas.openxmlformats.org/drawingml/2006/main">
        <p:nvSpPr>
          <p:cNvPr id="7180" name="Oval 7179"/>
          <p:cNvSpPr/>
          <p:nvPr/>
        </p:nvSpPr>
        <p:spPr>
          <a:xfrm>
            <a:off x="468000" y="2408400"/>
            <a:ext cx="259200" cy="259200"/>
          </a:xfrm>
          <a:prstGeom prst="ellipse">
            <a:avLst/>
          </a:prstGeom>
          <a:solidFill>
            <a:srgbClr val="113A6B"/>
          </a:solidFill>
          <a:ln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Noto Sans TC"/>
              </a:rPr>
              <a:t>D</a:t>
            </a:r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827999" y="2444400"/>
            <a:ext cx="2880000" cy="162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937"/>
                </a:solidFill>
                <a:latin typeface="Noto Sans TC"/>
              </a:rPr>
              <a:t>以營業秘密保護之考量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468000" y="2833200"/>
            <a:ext cx="2880000" cy="162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937"/>
                </a:solidFill>
                <a:latin typeface="Noto Sans TC"/>
              </a:rPr>
              <a:t>Summary</a:t>
            </a:r>
          </a:p>
        </p:txBody>
      </p:sp>
      <p:sp xmlns:a="http://schemas.openxmlformats.org/drawingml/2006/main">
        <p:nvSpPr>
          <p:cNvPr id="7183" name="Rounded Rectangle 7182"/>
          <p:cNvSpPr/>
          <p:nvPr/>
        </p:nvSpPr>
        <p:spPr>
          <a:xfrm>
            <a:off x="4031999" y="1152000"/>
            <a:ext cx="4284000" cy="169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4140000" y="1242000"/>
            <a:ext cx="4068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改善路徑｜Overview</a:t>
            </a:r>
          </a:p>
        </p:txBody>
      </p:sp>
      <p:sp xmlns:a="http://schemas.openxmlformats.org/drawingml/2006/main">
        <p:nvSpPr>
          <p:cNvPr id="7185" name="Rounded Rectangle 7184"/>
          <p:cNvSpPr/>
          <p:nvPr/>
        </p:nvSpPr>
        <p:spPr>
          <a:xfrm>
            <a:off x="4284000" y="1638000"/>
            <a:ext cx="702000" cy="475200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6" name="TextBox 7185"/>
          <p:cNvSpPr txBox="1"/>
          <p:nvPr/>
        </p:nvSpPr>
        <p:spPr>
          <a:xfrm>
            <a:off x="4320000" y="1688400"/>
            <a:ext cx="630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殘錫</a:t>
            </a:r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4320000" y="1810800"/>
            <a:ext cx="630000" cy="208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刮刀滴落</a:t>
            </a:r>
          </a:p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鋼板功能區</a:t>
            </a:r>
          </a:p>
        </p:txBody>
      </p:sp>
      <p:sp xmlns:a="http://schemas.openxmlformats.org/drawingml/2006/main">
        <p:nvSpPr>
          <p:cNvPr id="7188" name="Chevron 7187"/>
          <p:cNvSpPr/>
          <p:nvPr/>
        </p:nvSpPr>
        <p:spPr>
          <a:xfrm>
            <a:off x="5011200" y="1782000"/>
            <a:ext cx="198000" cy="198000"/>
          </a:xfrm>
          <a:prstGeom prst="chevron">
            <a:avLst/>
          </a:prstGeom>
          <a:solidFill>
            <a:srgbClr val="007D89"/>
          </a:solidFill>
          <a:ln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9" name="Rounded Rectangle 7188"/>
          <p:cNvSpPr/>
          <p:nvPr/>
        </p:nvSpPr>
        <p:spPr>
          <a:xfrm>
            <a:off x="5220000" y="1638000"/>
            <a:ext cx="702000" cy="475200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TextBox 7189"/>
          <p:cNvSpPr txBox="1"/>
          <p:nvPr/>
        </p:nvSpPr>
        <p:spPr>
          <a:xfrm>
            <a:off x="5256000" y="1688400"/>
            <a:ext cx="630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滲透</a:t>
            </a:r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5256000" y="1810800"/>
            <a:ext cx="630000" cy="208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鋼板孔洞</a:t>
            </a:r>
          </a:p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滲至背面</a:t>
            </a:r>
          </a:p>
        </p:txBody>
      </p:sp>
      <p:sp xmlns:a="http://schemas.openxmlformats.org/drawingml/2006/main">
        <p:nvSpPr>
          <p:cNvPr id="7192" name="Chevron 7191"/>
          <p:cNvSpPr/>
          <p:nvPr/>
        </p:nvSpPr>
        <p:spPr>
          <a:xfrm>
            <a:off x="5947200" y="1782000"/>
            <a:ext cx="198000" cy="198000"/>
          </a:xfrm>
          <a:prstGeom prst="chevron">
            <a:avLst/>
          </a:prstGeom>
          <a:solidFill>
            <a:srgbClr val="007D89"/>
          </a:solidFill>
          <a:ln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3" name="Rounded Rectangle 7192"/>
          <p:cNvSpPr/>
          <p:nvPr/>
        </p:nvSpPr>
        <p:spPr>
          <a:xfrm>
            <a:off x="6156000" y="1638000"/>
            <a:ext cx="702000" cy="475200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6192000" y="1688400"/>
            <a:ext cx="630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異常</a:t>
            </a:r>
          </a:p>
        </p:txBody>
      </p:sp>
      <p:sp xmlns:a="http://schemas.openxmlformats.org/drawingml/2006/main">
        <p:nvSpPr>
          <p:cNvPr id="7195" name="TextBox 7194"/>
          <p:cNvSpPr txBox="1"/>
          <p:nvPr/>
        </p:nvSpPr>
        <p:spPr>
          <a:xfrm>
            <a:off x="6192000" y="1810800"/>
            <a:ext cx="630000" cy="208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局部錫量</a:t>
            </a:r>
          </a:p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Area / Height</a:t>
            </a:r>
          </a:p>
        </p:txBody>
      </p:sp>
      <p:sp xmlns:a="http://schemas.openxmlformats.org/drawingml/2006/main">
        <p:nvSpPr>
          <p:cNvPr id="7196" name="Chevron 7195"/>
          <p:cNvSpPr/>
          <p:nvPr/>
        </p:nvSpPr>
        <p:spPr>
          <a:xfrm>
            <a:off x="6883200" y="1782000"/>
            <a:ext cx="198000" cy="198000"/>
          </a:xfrm>
          <a:prstGeom prst="chevron">
            <a:avLst/>
          </a:prstGeom>
          <a:solidFill>
            <a:srgbClr val="007D89"/>
          </a:solidFill>
          <a:ln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7" name="Rounded Rectangle 7196"/>
          <p:cNvSpPr/>
          <p:nvPr/>
        </p:nvSpPr>
        <p:spPr>
          <a:xfrm>
            <a:off x="7092000" y="1638000"/>
            <a:ext cx="702000" cy="475200"/>
          </a:xfrm>
          <a:prstGeom prst="roundRect">
            <a:avLst/>
          </a:prstGeom>
          <a:solidFill>
            <a:srgbClr val="E6F4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8" name="TextBox 7197"/>
          <p:cNvSpPr txBox="1"/>
          <p:nvPr/>
        </p:nvSpPr>
        <p:spPr>
          <a:xfrm>
            <a:off x="7128000" y="1688400"/>
            <a:ext cx="630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改善</a:t>
            </a:r>
          </a:p>
        </p:txBody>
      </p:sp>
      <p:sp xmlns:a="http://schemas.openxmlformats.org/drawingml/2006/main">
        <p:nvSpPr>
          <p:cNvPr id="7199" name="TextBox 7198"/>
          <p:cNvSpPr txBox="1"/>
          <p:nvPr/>
        </p:nvSpPr>
        <p:spPr>
          <a:xfrm>
            <a:off x="7128000" y="1810800"/>
            <a:ext cx="630000" cy="208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滑行10mm</a:t>
            </a:r>
          </a:p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避開功能區</a:t>
            </a:r>
          </a:p>
        </p:txBody>
      </p:sp>
      <p:sp xmlns:a="http://schemas.openxmlformats.org/drawingml/2006/main">
        <p:nvSpPr>
          <p:cNvPr id="7200" name="TextBox 7199"/>
          <p:cNvSpPr txBox="1"/>
          <p:nvPr/>
        </p:nvSpPr>
        <p:spPr>
          <a:xfrm>
            <a:off x="4194000" y="2376000"/>
            <a:ext cx="3888000" cy="19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1F2937"/>
                </a:solidFill>
                <a:latin typeface="Noto Sans TC"/>
              </a:rPr>
              <a:t>由「直接抬刀旋轉」改為「先滑行10mm再抬刀」，阻斷殘錫進入功能區。</a:t>
            </a:r>
          </a:p>
        </p:txBody>
      </p:sp>
    </p:spTree>
    <p:extLst>
      <p:ext uri="{BB962C8B-B14F-4D97-AF65-F5344CB8AC3E}">
        <p14:creationId xmlns:p14="http://schemas.microsoft.com/office/powerpoint/2010/main" val="15164796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F18BCBE-E779-45D8-A41A-EBF308B272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A. 背景說明及問題描述｜異常現象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C07DAC-8B55-4DC9-A8FF-9E745AC8FE1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3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198000" y="737999"/>
            <a:ext cx="2268000" cy="187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306000" y="835200"/>
            <a:ext cx="2052000" cy="1512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13A6B"/>
                </a:solidFill>
                <a:latin typeface="Noto Sans TC"/>
              </a:rPr>
              <a:t>不良現象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306000" y="1026000"/>
            <a:ext cx="2034000" cy="936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>
                <a:solidFill>
                  <a:srgbClr val="1F2937"/>
                </a:solidFill>
                <a:latin typeface="Noto Sans TC"/>
              </a:rPr>
              <a:t>局部錫量異常造成 3DL Tilt_Y、SPI Area / Height 良率異常。</a:t>
            </a:r>
          </a:p>
          <a:p>
            <a:pPr algn="l">
              <a:lnSpc>
                <a:spcPct val="105000"/>
              </a:lnSpc>
            </a:pPr>
          </a:p>
          <a:p>
            <a:pPr algn="l">
              <a:lnSpc>
                <a:spcPct val="105000"/>
              </a:lnSpc>
            </a:pPr>
            <a:r>
              <a:rPr sz="1019" b="0">
                <a:solidFill>
                  <a:srgbClr val="1F2937"/>
                </a:solidFill>
                <a:latin typeface="Noto Sans TC"/>
              </a:rPr>
              <a:t>經異常品分析與刮刀行走路線比對，異常集中於刮刀行徑路線的板邊區域；對照鋼板上的殘錫狀況，兩者具有高度連結性。</a:t>
            </a:r>
          </a:p>
        </p:txBody>
      </p:sp>
      <p:sp xmlns:a="http://schemas.openxmlformats.org/drawingml/2006/main">
        <p:nvSpPr>
          <p:cNvPr id="7176" name="Rounded Rectangle 7175"/>
          <p:cNvSpPr/>
          <p:nvPr/>
        </p:nvSpPr>
        <p:spPr>
          <a:xfrm>
            <a:off x="306000" y="2052000"/>
            <a:ext cx="972000" cy="450000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349200" y="2098800"/>
            <a:ext cx="885600" cy="11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先前整體良率影響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349200" y="2232000"/>
            <a:ext cx="8856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F2937"/>
                </a:solidFill>
                <a:latin typeface="Noto Sans TC"/>
              </a:rPr>
              <a:t>~0.5%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349200" y="2455200"/>
            <a:ext cx="8856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歷史異常推估</a:t>
            </a:r>
          </a:p>
        </p:txBody>
      </p:sp>
      <p:sp xmlns:a="http://schemas.openxmlformats.org/drawingml/2006/main">
        <p:nvSpPr>
          <p:cNvPr id="7180" name="Rounded Rectangle 7179"/>
          <p:cNvSpPr/>
          <p:nvPr/>
        </p:nvSpPr>
        <p:spPr>
          <a:xfrm>
            <a:off x="1386000" y="2052000"/>
            <a:ext cx="936000" cy="450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1429200" y="2098800"/>
            <a:ext cx="849600" cy="11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受影響項目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1429200" y="2232000"/>
            <a:ext cx="8496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F2937"/>
                </a:solidFill>
                <a:latin typeface="Noto Sans TC"/>
              </a:rPr>
              <a:t>SPI / Tilt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1429200" y="2455200"/>
            <a:ext cx="8496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Area、Height、Tilt_Y</a:t>
            </a:r>
          </a:p>
        </p:txBody>
      </p:sp>
      <p:sp xmlns:a="http://schemas.openxmlformats.org/drawingml/2006/main">
        <p:nvSpPr>
          <p:cNvPr id="7184" name="Rounded Rectangle 7183"/>
          <p:cNvSpPr/>
          <p:nvPr/>
        </p:nvSpPr>
        <p:spPr>
          <a:xfrm>
            <a:off x="2592000" y="737999"/>
            <a:ext cx="6012000" cy="187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a="http://schemas.openxmlformats.org/drawingml/2006/main" xmlns:r="http://schemas.openxmlformats.org/officeDocument/2006/relationships">
        <p:nvPicPr>
          <p:cNvPr id="7185" name="Picture 7184" descr="full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000" y="846000"/>
            <a:ext cx="5832000" cy="1602000"/>
          </a:xfrm>
          <a:prstGeom prst="rect">
            <a:avLst/>
          </a:prstGeom>
        </p:spPr>
      </p:pic>
      <p:sp xmlns:a="http://schemas.openxmlformats.org/drawingml/2006/main">
        <p:nvSpPr>
          <p:cNvPr id="7186" name="Rounded Rectangle 7185"/>
          <p:cNvSpPr/>
          <p:nvPr/>
        </p:nvSpPr>
        <p:spPr>
          <a:xfrm>
            <a:off x="198000" y="2718000"/>
            <a:ext cx="8406000" cy="756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306000" y="2880000"/>
            <a:ext cx="8172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13A6B"/>
                </a:solidFill>
                <a:latin typeface="Noto Sans TC"/>
              </a:rPr>
              <a:t>異常位置與數據表現</a:t>
            </a:r>
          </a:p>
        </p:txBody>
      </p:sp>
      <p:pic xmlns:a="http://schemas.openxmlformats.org/drawingml/2006/main" xmlns:r="http://schemas.openxmlformats.org/officeDocument/2006/relationships">
        <p:nvPicPr>
          <p:cNvPr id="7188" name="Picture 7187" descr="aoi_cl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00" y="2959200"/>
            <a:ext cx="1440000" cy="450000"/>
          </a:xfrm>
          <a:prstGeom prst="rect">
            <a:avLst/>
          </a:prstGeom>
        </p:spPr>
      </p:pic>
      <p:sp xmlns:a="http://schemas.openxmlformats.org/drawingml/2006/main">
        <p:nvSpPr>
          <p:cNvPr id="7189" name="TextBox 7188"/>
          <p:cNvSpPr txBox="1"/>
          <p:nvPr/>
        </p:nvSpPr>
        <p:spPr>
          <a:xfrm>
            <a:off x="324000" y="3401999"/>
            <a:ext cx="1440000" cy="90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異常品局部錫量 / 刮痕特徵</a:t>
            </a:r>
          </a:p>
        </p:txBody>
      </p:sp>
      <p:pic xmlns:a="http://schemas.openxmlformats.org/drawingml/2006/main" xmlns:r="http://schemas.openxmlformats.org/officeDocument/2006/relationships">
        <p:nvPicPr>
          <p:cNvPr id="7190" name="Picture 7189" descr="spi_area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5999" y="2934000"/>
            <a:ext cx="1512000" cy="486000"/>
          </a:xfrm>
          <a:prstGeom prst="rect">
            <a:avLst/>
          </a:prstGeom>
        </p:spPr>
      </p:pic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1925999" y="3401999"/>
            <a:ext cx="1512000" cy="90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SPI Area分佈異常</a:t>
            </a:r>
          </a:p>
        </p:txBody>
      </p:sp>
      <p:pic xmlns:a="http://schemas.openxmlformats.org/drawingml/2006/main" xmlns:r="http://schemas.openxmlformats.org/officeDocument/2006/relationships">
        <p:nvPicPr>
          <p:cNvPr id="7192" name="Picture 7191" descr="spi_height_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0000" y="2934000"/>
            <a:ext cx="1512000" cy="486000"/>
          </a:xfrm>
          <a:prstGeom prst="rect">
            <a:avLst/>
          </a:prstGeom>
        </p:spPr>
      </p:pic>
      <p:sp xmlns:a="http://schemas.openxmlformats.org/drawingml/2006/main">
        <p:nvSpPr>
          <p:cNvPr id="7193" name="TextBox 7192"/>
          <p:cNvSpPr txBox="1"/>
          <p:nvPr/>
        </p:nvSpPr>
        <p:spPr>
          <a:xfrm>
            <a:off x="3600000" y="3401999"/>
            <a:ext cx="1512000" cy="90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SPI Height分佈異常</a:t>
            </a:r>
          </a:p>
        </p:txBody>
      </p:sp>
      <p:pic xmlns:a="http://schemas.openxmlformats.org/drawingml/2006/main" xmlns:r="http://schemas.openxmlformats.org/officeDocument/2006/relationships">
        <p:nvPicPr>
          <p:cNvPr id="7194" name="Picture 7193" descr="board_rou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000" y="2934000"/>
            <a:ext cx="1475999" cy="486000"/>
          </a:xfrm>
          <a:prstGeom prst="rect">
            <a:avLst/>
          </a:prstGeom>
        </p:spPr>
      </p:pic>
      <p:sp xmlns:a="http://schemas.openxmlformats.org/drawingml/2006/main">
        <p:nvSpPr>
          <p:cNvPr id="7195" name="TextBox 7194"/>
          <p:cNvSpPr txBox="1"/>
          <p:nvPr/>
        </p:nvSpPr>
        <p:spPr>
          <a:xfrm>
            <a:off x="5292000" y="3401999"/>
            <a:ext cx="1475999" cy="90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刮刀行徑路線對應</a:t>
            </a:r>
          </a:p>
        </p:txBody>
      </p:sp>
      <p:pic xmlns:a="http://schemas.openxmlformats.org/drawingml/2006/main" xmlns:r="http://schemas.openxmlformats.org/officeDocument/2006/relationships">
        <p:nvPicPr>
          <p:cNvPr id="7196" name="Picture 7195" descr="stencil_residue_ed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0000" y="2916000"/>
            <a:ext cx="1548000" cy="511200"/>
          </a:xfrm>
          <a:prstGeom prst="rect">
            <a:avLst/>
          </a:prstGeom>
        </p:spPr>
      </p:pic>
      <p:sp xmlns:a="http://schemas.openxmlformats.org/drawingml/2006/main">
        <p:nvSpPr>
          <p:cNvPr id="7197" name="TextBox 7196"/>
          <p:cNvSpPr txBox="1"/>
          <p:nvPr/>
        </p:nvSpPr>
        <p:spPr>
          <a:xfrm>
            <a:off x="6930000" y="3401999"/>
            <a:ext cx="1548000" cy="90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鋼板邊緣殘錫</a:t>
            </a:r>
          </a:p>
        </p:txBody>
      </p:sp>
    </p:spTree>
    <p:extLst>
      <p:ext uri="{BB962C8B-B14F-4D97-AF65-F5344CB8AC3E}">
        <p14:creationId xmlns:p14="http://schemas.microsoft.com/office/powerpoint/2010/main" val="821822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99C4ED8E-3EB1-44E2-B720-E2C0A9645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A. 背景說明及問題描述｜原因鏈結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5F223F4-DD29-4D9A-B519-E01C1ABD102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4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251999" y="774000"/>
            <a:ext cx="8243999" cy="111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360000" y="864000"/>
            <a:ext cx="8028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3A6B"/>
                </a:solidFill>
                <a:latin typeface="Noto Sans TC"/>
              </a:rPr>
              <a:t>原因鏈結</a:t>
            </a:r>
          </a:p>
        </p:txBody>
      </p:sp>
      <p:sp xmlns:a="http://schemas.openxmlformats.org/drawingml/2006/main">
        <p:nvSpPr>
          <p:cNvPr id="7175" name="Rounded Rectangle 7174"/>
          <p:cNvSpPr/>
          <p:nvPr/>
        </p:nvSpPr>
        <p:spPr>
          <a:xfrm>
            <a:off x="396000" y="1134000"/>
            <a:ext cx="1584000" cy="486000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450000" y="1195200"/>
            <a:ext cx="1475999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現行作法</a:t>
            </a:r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468000" y="1324800"/>
            <a:ext cx="1440000" cy="19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刷錫完成後，刮刀直接提高並旋轉</a:t>
            </a:r>
          </a:p>
        </p:txBody>
      </p:sp>
      <p:sp xmlns:a="http://schemas.openxmlformats.org/drawingml/2006/main">
        <p:nvSpPr>
          <p:cNvPr id="7178" name="Chevron 7177"/>
          <p:cNvSpPr/>
          <p:nvPr/>
        </p:nvSpPr>
        <p:spPr>
          <a:xfrm>
            <a:off x="2044800" y="1278000"/>
            <a:ext cx="251999" cy="216000"/>
          </a:xfrm>
          <a:prstGeom prst="chevron">
            <a:avLst/>
          </a:prstGeom>
          <a:solidFill>
            <a:srgbClr val="007D89"/>
          </a:solidFill>
          <a:ln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9" name="Rounded Rectangle 7178"/>
          <p:cNvSpPr/>
          <p:nvPr/>
        </p:nvSpPr>
        <p:spPr>
          <a:xfrm>
            <a:off x="2412000" y="1134000"/>
            <a:ext cx="1584000" cy="486000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2466000" y="1195200"/>
            <a:ext cx="1475999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殘錫滴落</a:t>
            </a:r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2484000" y="1324800"/>
            <a:ext cx="1440000" cy="19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刮刀上錫膏隨時間滴落至鋼板功能區</a:t>
            </a:r>
          </a:p>
        </p:txBody>
      </p:sp>
      <p:sp xmlns:a="http://schemas.openxmlformats.org/drawingml/2006/main">
        <p:nvSpPr>
          <p:cNvPr id="7182" name="Chevron 7181"/>
          <p:cNvSpPr/>
          <p:nvPr/>
        </p:nvSpPr>
        <p:spPr>
          <a:xfrm>
            <a:off x="4060800" y="1278000"/>
            <a:ext cx="251999" cy="216000"/>
          </a:xfrm>
          <a:prstGeom prst="chevron">
            <a:avLst/>
          </a:prstGeom>
          <a:solidFill>
            <a:srgbClr val="007D89"/>
          </a:solidFill>
          <a:ln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3" name="Rounded Rectangle 7182"/>
          <p:cNvSpPr/>
          <p:nvPr/>
        </p:nvSpPr>
        <p:spPr>
          <a:xfrm>
            <a:off x="4428000" y="1134000"/>
            <a:ext cx="1584000" cy="486000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4482000" y="1195200"/>
            <a:ext cx="1475999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滲到背面</a:t>
            </a:r>
          </a:p>
        </p:txBody>
      </p:sp>
      <p:sp xmlns:a="http://schemas.openxmlformats.org/drawingml/2006/main">
        <p:nvSpPr>
          <p:cNvPr id="7185" name="TextBox 7184"/>
          <p:cNvSpPr txBox="1"/>
          <p:nvPr/>
        </p:nvSpPr>
        <p:spPr>
          <a:xfrm>
            <a:off x="4500000" y="1324800"/>
            <a:ext cx="1440000" cy="19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經鋼板孔洞滲入鋼板背部與墊板</a:t>
            </a:r>
          </a:p>
        </p:txBody>
      </p:sp>
      <p:sp xmlns:a="http://schemas.openxmlformats.org/drawingml/2006/main">
        <p:nvSpPr>
          <p:cNvPr id="7186" name="Chevron 7185"/>
          <p:cNvSpPr/>
          <p:nvPr/>
        </p:nvSpPr>
        <p:spPr>
          <a:xfrm>
            <a:off x="6076800" y="1278000"/>
            <a:ext cx="251999" cy="216000"/>
          </a:xfrm>
          <a:prstGeom prst="chevron">
            <a:avLst/>
          </a:prstGeom>
          <a:solidFill>
            <a:srgbClr val="007D89"/>
          </a:solidFill>
          <a:ln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7" name="Rounded Rectangle 7186"/>
          <p:cNvSpPr/>
          <p:nvPr/>
        </p:nvSpPr>
        <p:spPr>
          <a:xfrm>
            <a:off x="6443999" y="1134000"/>
            <a:ext cx="1584000" cy="486000"/>
          </a:xfrm>
          <a:prstGeom prst="roundRect">
            <a:avLst/>
          </a:prstGeom>
          <a:solidFill>
            <a:srgbClr val="E6F4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6497999" y="1195200"/>
            <a:ext cx="1475999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錫量異常</a:t>
            </a:r>
          </a:p>
        </p:txBody>
      </p:sp>
      <p:sp xmlns:a="http://schemas.openxmlformats.org/drawingml/2006/main">
        <p:nvSpPr>
          <p:cNvPr id="7189" name="TextBox 7188"/>
          <p:cNvSpPr txBox="1"/>
          <p:nvPr/>
        </p:nvSpPr>
        <p:spPr>
          <a:xfrm>
            <a:off x="6515999" y="1324800"/>
            <a:ext cx="1440000" cy="19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局部錫量偏多 / 偏少，造成Area、Height、Tilt_Y異常</a:t>
            </a:r>
          </a:p>
        </p:txBody>
      </p:sp>
      <p:sp xmlns:a="http://schemas.openxmlformats.org/drawingml/2006/main">
        <p:nvSpPr>
          <p:cNvPr id="7190" name="Rounded Rectangle 7189"/>
          <p:cNvSpPr/>
          <p:nvPr/>
        </p:nvSpPr>
        <p:spPr>
          <a:xfrm>
            <a:off x="251999" y="2034000"/>
            <a:ext cx="2628000" cy="13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360000" y="2124000"/>
            <a:ext cx="2412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13A6B"/>
                </a:solidFill>
                <a:latin typeface="Noto Sans TC"/>
              </a:rPr>
              <a:t>殘錫來源</a:t>
            </a:r>
          </a:p>
        </p:txBody>
      </p:sp>
      <p:pic xmlns:a="http://schemas.openxmlformats.org/drawingml/2006/main" xmlns:r="http://schemas.openxmlformats.org/officeDocument/2006/relationships">
        <p:nvPicPr>
          <p:cNvPr id="7192" name="Picture 7191" descr="squeegee_resid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2286000"/>
            <a:ext cx="2304000" cy="954000"/>
          </a:xfrm>
          <a:prstGeom prst="rect">
            <a:avLst/>
          </a:prstGeom>
        </p:spPr>
      </p:pic>
      <p:sp xmlns:a="http://schemas.openxmlformats.org/drawingml/2006/main">
        <p:nvSpPr>
          <p:cNvPr id="7193" name="Rounded Rectangle 7192"/>
          <p:cNvSpPr/>
          <p:nvPr/>
        </p:nvSpPr>
        <p:spPr>
          <a:xfrm>
            <a:off x="3041999" y="2034000"/>
            <a:ext cx="2628000" cy="13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3150000" y="2124000"/>
            <a:ext cx="2412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13A6B"/>
                </a:solidFill>
                <a:latin typeface="Noto Sans TC"/>
              </a:rPr>
              <a:t>殘錫滲透位置</a:t>
            </a:r>
          </a:p>
        </p:txBody>
      </p:sp>
      <p:pic xmlns:a="http://schemas.openxmlformats.org/drawingml/2006/main" xmlns:r="http://schemas.openxmlformats.org/officeDocument/2006/relationships">
        <p:nvPicPr>
          <p:cNvPr id="7195" name="Picture 7194" descr="stencil_residue_e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000" y="2250000"/>
            <a:ext cx="2232000" cy="1007999"/>
          </a:xfrm>
          <a:prstGeom prst="rect">
            <a:avLst/>
          </a:prstGeom>
        </p:spPr>
      </p:pic>
      <p:sp xmlns:a="http://schemas.openxmlformats.org/drawingml/2006/main">
        <p:nvSpPr>
          <p:cNvPr id="7196" name="Rounded Rectangle 7195"/>
          <p:cNvSpPr/>
          <p:nvPr/>
        </p:nvSpPr>
        <p:spPr>
          <a:xfrm>
            <a:off x="5832000" y="2034000"/>
            <a:ext cx="2664000" cy="13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7" name="TextBox 7196"/>
          <p:cNvSpPr txBox="1"/>
          <p:nvPr/>
        </p:nvSpPr>
        <p:spPr>
          <a:xfrm>
            <a:off x="5940000" y="2124000"/>
            <a:ext cx="2448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13A6B"/>
                </a:solidFill>
                <a:latin typeface="Noto Sans TC"/>
              </a:rPr>
              <a:t>對應數據異常</a:t>
            </a:r>
          </a:p>
        </p:txBody>
      </p:sp>
      <p:pic xmlns:a="http://schemas.openxmlformats.org/drawingml/2006/main" xmlns:r="http://schemas.openxmlformats.org/officeDocument/2006/relationships">
        <p:nvPicPr>
          <p:cNvPr id="7198" name="Picture 7197" descr="spi_area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000" y="2286000"/>
            <a:ext cx="1152000" cy="936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7199" name="Picture 7198" descr="spi_height_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000" y="2286000"/>
            <a:ext cx="1152000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18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A08E7A72-C75F-4CA6-95C8-50416C107F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B. 創新特徵及內容描述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847360-C7A7-4B9E-8801-5991B5016A3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5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216000" y="756000"/>
            <a:ext cx="3888000" cy="226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324000" y="846000"/>
            <a:ext cx="3671999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3A6B"/>
                </a:solidFill>
                <a:latin typeface="Noto Sans TC"/>
              </a:rPr>
              <a:t>改善設計：刮刀滑行距離 0 → 10 mm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360000" y="1080000"/>
            <a:ext cx="1728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Before：直接抬刀旋轉</a:t>
            </a:r>
          </a:p>
        </p:txBody>
      </p:sp>
      <p:sp xmlns:a="http://schemas.openxmlformats.org/drawingml/2006/main">
        <p:nvSpPr>
          <p:cNvPr id="7176" name="Rounded Rectangle 7175"/>
          <p:cNvSpPr/>
          <p:nvPr/>
        </p:nvSpPr>
        <p:spPr>
          <a:xfrm>
            <a:off x="432000" y="1242000"/>
            <a:ext cx="1584000" cy="558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7" name="Rounded Rectangle 7176"/>
          <p:cNvSpPr/>
          <p:nvPr/>
        </p:nvSpPr>
        <p:spPr>
          <a:xfrm>
            <a:off x="576000" y="1368000"/>
            <a:ext cx="1296000" cy="198000"/>
          </a:xfrm>
          <a:prstGeom prst="roundRect">
            <a:avLst/>
          </a:prstGeom>
          <a:solidFill>
            <a:srgbClr val="D8E9F7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4400" bIns="14400"/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鋼板功能區</a:t>
            </a:r>
          </a:p>
        </p:txBody>
      </p:sp>
      <p:sp xmlns:a="http://schemas.openxmlformats.org/drawingml/2006/main">
        <p:nvSpPr>
          <p:cNvPr id="7178" name="Down Arrow 7177"/>
          <p:cNvSpPr/>
          <p:nvPr/>
        </p:nvSpPr>
        <p:spPr>
          <a:xfrm>
            <a:off x="1080000" y="1818000"/>
            <a:ext cx="270000" cy="342000"/>
          </a:xfrm>
          <a:prstGeom prst="downArrow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432000" y="2178000"/>
            <a:ext cx="1584000" cy="251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1F2937"/>
                </a:solidFill>
                <a:latin typeface="Noto Sans TC"/>
              </a:rPr>
              <a:t>殘錫可能直接滴落於功能區，經孔洞滲入鋼板背部。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2160000" y="1080000"/>
            <a:ext cx="1728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007D89"/>
                </a:solidFill>
                <a:latin typeface="Noto Sans TC"/>
              </a:rPr>
              <a:t>After：先滑行10mm再抬刀</a:t>
            </a:r>
          </a:p>
        </p:txBody>
      </p:sp>
      <p:sp xmlns:a="http://schemas.openxmlformats.org/drawingml/2006/main">
        <p:nvSpPr>
          <p:cNvPr id="7181" name="Rounded Rectangle 7180"/>
          <p:cNvSpPr/>
          <p:nvPr/>
        </p:nvSpPr>
        <p:spPr>
          <a:xfrm>
            <a:off x="2232000" y="1242000"/>
            <a:ext cx="1584000" cy="558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2" name="Rounded Rectangle 7181"/>
          <p:cNvSpPr/>
          <p:nvPr/>
        </p:nvSpPr>
        <p:spPr>
          <a:xfrm>
            <a:off x="2376000" y="1368000"/>
            <a:ext cx="936000" cy="198000"/>
          </a:xfrm>
          <a:prstGeom prst="roundRect">
            <a:avLst/>
          </a:prstGeom>
          <a:solidFill>
            <a:srgbClr val="D8E9F7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4400" bIns="14400"/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鋼板功能區</a:t>
            </a:r>
          </a:p>
        </p:txBody>
      </p:sp>
      <p:sp xmlns:a="http://schemas.openxmlformats.org/drawingml/2006/main">
        <p:nvSpPr>
          <p:cNvPr id="7183" name="Right Arrow 7182"/>
          <p:cNvSpPr/>
          <p:nvPr/>
        </p:nvSpPr>
        <p:spPr>
          <a:xfrm>
            <a:off x="3204000" y="1440000"/>
            <a:ext cx="450000" cy="125999"/>
          </a:xfrm>
          <a:prstGeom prst="rightArrow">
            <a:avLst/>
          </a:prstGeom>
          <a:solidFill>
            <a:srgbClr val="007D89"/>
          </a:solidFill>
          <a:ln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3204000" y="1584000"/>
            <a:ext cx="503999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007D89"/>
                </a:solidFill>
                <a:latin typeface="Noto Sans TC"/>
              </a:rPr>
              <a:t>10 mm</a:t>
            </a:r>
          </a:p>
        </p:txBody>
      </p:sp>
      <p:sp xmlns:a="http://schemas.openxmlformats.org/drawingml/2006/main">
        <p:nvSpPr>
          <p:cNvPr id="7185" name="Down Arrow 7184"/>
          <p:cNvSpPr/>
          <p:nvPr/>
        </p:nvSpPr>
        <p:spPr>
          <a:xfrm>
            <a:off x="3510000" y="1818000"/>
            <a:ext cx="270000" cy="342000"/>
          </a:xfrm>
          <a:prstGeom prst="downArrow">
            <a:avLst/>
          </a:prstGeom>
          <a:solidFill>
            <a:srgbClr val="007D89"/>
          </a:solidFill>
          <a:ln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6" name="TextBox 7185"/>
          <p:cNvSpPr txBox="1"/>
          <p:nvPr/>
        </p:nvSpPr>
        <p:spPr>
          <a:xfrm>
            <a:off x="2232000" y="2178000"/>
            <a:ext cx="1584000" cy="251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1F2937"/>
                </a:solidFill>
                <a:latin typeface="Noto Sans TC"/>
              </a:rPr>
              <a:t>將殘錫滴落點移出功能區，降低滲透與局部錫量異常。</a:t>
            </a:r>
          </a:p>
        </p:txBody>
      </p:sp>
      <p:sp xmlns:a="http://schemas.openxmlformats.org/drawingml/2006/main">
        <p:nvSpPr>
          <p:cNvPr id="7187" name="Rounded Rectangle 7186"/>
          <p:cNvSpPr/>
          <p:nvPr/>
        </p:nvSpPr>
        <p:spPr>
          <a:xfrm>
            <a:off x="4248000" y="756000"/>
            <a:ext cx="4176000" cy="226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4356000" y="846000"/>
            <a:ext cx="3960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3A6B"/>
                </a:solidFill>
                <a:latin typeface="Noto Sans TC"/>
              </a:rPr>
              <a:t>改善重點</a:t>
            </a:r>
          </a:p>
        </p:txBody>
      </p:sp>
      <p:pic xmlns:a="http://schemas.openxmlformats.org/drawingml/2006/main" xmlns:r="http://schemas.openxmlformats.org/officeDocument/2006/relationships">
        <p:nvPicPr>
          <p:cNvPr id="7189" name="Picture 7188" descr="squeegee_resid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000" y="1044000"/>
            <a:ext cx="2232000" cy="1116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7190" name="Picture 7189" descr="stencil_residue_e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000" y="1044000"/>
            <a:ext cx="1440000" cy="1116000"/>
          </a:xfrm>
          <a:prstGeom prst="rect">
            <a:avLst/>
          </a:prstGeom>
        </p:spPr>
      </p:pic>
      <p:sp xmlns:a="http://schemas.openxmlformats.org/drawingml/2006/main">
        <p:nvSpPr>
          <p:cNvPr id="7191" name="Rounded Rectangle 7190"/>
          <p:cNvSpPr/>
          <p:nvPr/>
        </p:nvSpPr>
        <p:spPr>
          <a:xfrm>
            <a:off x="4392000" y="2268000"/>
            <a:ext cx="3888000" cy="558000"/>
          </a:xfrm>
          <a:prstGeom prst="roundRect">
            <a:avLst/>
          </a:prstGeom>
          <a:solidFill>
            <a:srgbClr val="E6F4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2" name="TextBox 7191"/>
          <p:cNvSpPr txBox="1"/>
          <p:nvPr/>
        </p:nvSpPr>
        <p:spPr>
          <a:xfrm>
            <a:off x="4518000" y="2358000"/>
            <a:ext cx="3636000" cy="270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F2937"/>
                </a:solidFill>
                <a:latin typeface="Noto Sans TC"/>
              </a:rPr>
              <a:t>• 參數由「滑行距離 0 mm」調整為「滑行距離 10 mm」</a:t>
            </a:r>
          </a:p>
          <a:p>
            <a:pPr algn="l">
              <a:lnSpc>
                <a:spcPct val="105000"/>
              </a:lnSpc>
            </a:pPr>
            <a:r>
              <a:rPr sz="919" b="0">
                <a:solidFill>
                  <a:srgbClr val="1F2937"/>
                </a:solidFill>
                <a:latin typeface="Noto Sans TC"/>
              </a:rPr>
              <a:t>• 目標是避開鋼板功能區，阻斷殘錫進入印刷孔洞與背面</a:t>
            </a:r>
          </a:p>
        </p:txBody>
      </p:sp>
      <p:sp xmlns:a="http://schemas.openxmlformats.org/drawingml/2006/main">
        <p:nvSpPr>
          <p:cNvPr id="7193" name="Rounded Rectangle 7192"/>
          <p:cNvSpPr/>
          <p:nvPr/>
        </p:nvSpPr>
        <p:spPr>
          <a:xfrm>
            <a:off x="216000" y="3131999"/>
            <a:ext cx="8208000" cy="306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324000" y="3225600"/>
            <a:ext cx="7992000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F2937"/>
                </a:solidFill>
                <a:latin typeface="Noto Sans TC"/>
              </a:rPr>
              <a:t>設計核心：改變刮刀收刀軌跡，不改變產品設計，直接降低殘錫引發的局部錫量異常。</a:t>
            </a:r>
          </a:p>
        </p:txBody>
      </p:sp>
    </p:spTree>
    <p:extLst>
      <p:ext uri="{BB962C8B-B14F-4D97-AF65-F5344CB8AC3E}">
        <p14:creationId xmlns:p14="http://schemas.microsoft.com/office/powerpoint/2010/main" val="26273209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1CF0E01-C679-D85C-0E24-4E6BC0D4EA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C. 效益說明</a:t>
            </a:r>
          </a:p>
        </p:txBody>
      </p:sp>
      <p:sp xmlns:a="http://schemas.openxmlformats.org/drawingml/2006/main">
        <p:nvSpPr>
          <p:cNvPr id="3" name="TextBox 2"/>
          <p:cNvSpPr txBox="1"/>
          <p:nvPr/>
        </p:nvSpPr>
        <p:spPr>
          <a:xfrm>
            <a:off x="7110000" y="4701600"/>
            <a:ext cx="288000" cy="1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1F2937"/>
                </a:solidFill>
                <a:latin typeface="Noto Sans TC"/>
              </a:rPr>
              <a:t>6</a:t>
            </a:r>
          </a:p>
        </p:txBody>
      </p:sp>
      <p:sp xmlns:a="http://schemas.openxmlformats.org/drawingml/2006/main">
        <p:nvSpPr>
          <p:cNvPr id="4" name="Rounded Rectangle 3"/>
          <p:cNvSpPr/>
          <p:nvPr/>
        </p:nvSpPr>
        <p:spPr>
          <a:xfrm>
            <a:off x="234000" y="774000"/>
            <a:ext cx="3600000" cy="187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342000" y="864000"/>
            <a:ext cx="3384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3A6B"/>
                </a:solidFill>
                <a:latin typeface="Noto Sans TC"/>
              </a:rPr>
              <a:t>異常再發驗證</a:t>
            </a:r>
          </a:p>
        </p:txBody>
      </p:sp>
      <p:sp xmlns:a="http://schemas.openxmlformats.org/drawingml/2006/main">
        <p:nvSpPr>
          <p:cNvPr id="6" name="Rounded Rectangle 5"/>
          <p:cNvSpPr/>
          <p:nvPr/>
        </p:nvSpPr>
        <p:spPr>
          <a:xfrm>
            <a:off x="378000" y="1080000"/>
            <a:ext cx="936000" cy="486000"/>
          </a:xfrm>
          <a:prstGeom prst="roundRect">
            <a:avLst/>
          </a:prstGeom>
          <a:solidFill>
            <a:srgbClr val="E6F4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421200" y="1126800"/>
            <a:ext cx="849600" cy="11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參數修正後生產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421200" y="1260000"/>
            <a:ext cx="8496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F2937"/>
                </a:solidFill>
                <a:latin typeface="Noto Sans TC"/>
              </a:rPr>
              <a:t>&gt;200 pcs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421200" y="1483200"/>
            <a:ext cx="8496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驗證量</a:t>
            </a:r>
          </a:p>
        </p:txBody>
      </p:sp>
      <p:sp xmlns:a="http://schemas.openxmlformats.org/drawingml/2006/main">
        <p:nvSpPr>
          <p:cNvPr id="10" name="Rounded Rectangle 9"/>
          <p:cNvSpPr/>
          <p:nvPr/>
        </p:nvSpPr>
        <p:spPr>
          <a:xfrm>
            <a:off x="1440000" y="1080000"/>
            <a:ext cx="936000" cy="486000"/>
          </a:xfrm>
          <a:prstGeom prst="roundRect">
            <a:avLst/>
          </a:prstGeom>
          <a:solidFill>
            <a:srgbClr val="E6F4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1483200" y="1126800"/>
            <a:ext cx="849600" cy="11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相同異常再發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1483200" y="1260000"/>
            <a:ext cx="8496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F2937"/>
                </a:solidFill>
                <a:latin typeface="Noto Sans TC"/>
              </a:rPr>
              <a:t>0 pcs</a:t>
            </a:r>
          </a:p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1483200" y="1483200"/>
            <a:ext cx="8496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SPI / Tilt NG</a:t>
            </a:r>
          </a:p>
        </p:txBody>
      </p:sp>
      <p:sp xmlns:a="http://schemas.openxmlformats.org/drawingml/2006/main">
        <p:nvSpPr>
          <p:cNvPr id="14" name="Rounded Rectangle 13"/>
          <p:cNvSpPr/>
          <p:nvPr/>
        </p:nvSpPr>
        <p:spPr>
          <a:xfrm>
            <a:off x="2502000" y="1080000"/>
            <a:ext cx="1044000" cy="486000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2545200" y="1126800"/>
            <a:ext cx="957600" cy="11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整體良率改善</a:t>
            </a:r>
          </a:p>
        </p:txBody>
      </p:sp>
      <p:sp xmlns:a="http://schemas.openxmlformats.org/drawingml/2006/main">
        <p:nvSpPr>
          <p:cNvPr id="16" name="TextBox 15"/>
          <p:cNvSpPr txBox="1"/>
          <p:nvPr/>
        </p:nvSpPr>
        <p:spPr>
          <a:xfrm>
            <a:off x="2545200" y="1260000"/>
            <a:ext cx="9576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F2937"/>
                </a:solidFill>
                <a:latin typeface="Noto Sans TC"/>
              </a:rPr>
              <a:t>~0.5%</a:t>
            </a:r>
          </a:p>
        </p:txBody>
      </p:sp>
      <p:sp xmlns:a="http://schemas.openxmlformats.org/drawingml/2006/main">
        <p:nvSpPr>
          <p:cNvPr id="17" name="TextBox 16"/>
          <p:cNvSpPr txBox="1"/>
          <p:nvPr/>
        </p:nvSpPr>
        <p:spPr>
          <a:xfrm>
            <a:off x="2545200" y="1483200"/>
            <a:ext cx="9576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依歷史異常推估</a:t>
            </a:r>
          </a:p>
        </p:txBody>
      </p:sp>
      <p:graphicFrame xmlns:a="http://schemas.openxmlformats.org/drawingml/2006/main">
        <p:nvGraphicFramePr>
          <p:cNvPr id="18" name="Chart 17"/>
          <p:cNvGraphicFramePr>
            <a:graphicFrameLocks noGrp="1"/>
          </p:cNvGraphicFramePr>
          <p:nvPr/>
        </p:nvGraphicFramePr>
        <p:xfrm>
          <a:off x="503999" y="1710000"/>
          <a:ext cx="2916000" cy="6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 xmlns:a="http://schemas.openxmlformats.org/drawingml/2006/main">
        <p:nvSpPr>
          <p:cNvPr id="19" name="TextBox 18"/>
          <p:cNvSpPr txBox="1"/>
          <p:nvPr/>
        </p:nvSpPr>
        <p:spPr>
          <a:xfrm>
            <a:off x="342000" y="2430000"/>
            <a:ext cx="3366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註：0.5%為先前異常對整體良率影響的估算值；修正後以&gt;200 pcs生產驗證，未發現相同異常。</a:t>
            </a:r>
          </a:p>
        </p:txBody>
      </p:sp>
      <p:sp xmlns:a="http://schemas.openxmlformats.org/drawingml/2006/main">
        <p:nvSpPr>
          <p:cNvPr id="20" name="Rounded Rectangle 19"/>
          <p:cNvSpPr/>
          <p:nvPr/>
        </p:nvSpPr>
        <p:spPr>
          <a:xfrm>
            <a:off x="3960000" y="774000"/>
            <a:ext cx="4464000" cy="187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4086000" y="864000"/>
            <a:ext cx="4212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3A6B"/>
                </a:solidFill>
                <a:latin typeface="Noto Sans TC"/>
              </a:rPr>
              <a:t>預期效益</a:t>
            </a:r>
          </a:p>
        </p:txBody>
      </p:sp>
      <p:sp xmlns:a="http://schemas.openxmlformats.org/drawingml/2006/main">
        <p:nvSpPr>
          <p:cNvPr id="22" name="Rounded Rectangle 21"/>
          <p:cNvSpPr/>
          <p:nvPr/>
        </p:nvSpPr>
        <p:spPr>
          <a:xfrm>
            <a:off x="4121999" y="1080000"/>
            <a:ext cx="1944000" cy="450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4193999" y="1137600"/>
            <a:ext cx="1800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SPI Area / Height</a:t>
            </a:r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4212000" y="1267200"/>
            <a:ext cx="1764000" cy="144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降低局部錫量異常導致的NG</a:t>
            </a:r>
          </a:p>
        </p:txBody>
      </p:sp>
      <p:sp xmlns:a="http://schemas.openxmlformats.org/drawingml/2006/main">
        <p:nvSpPr>
          <p:cNvPr id="25" name="Rounded Rectangle 24"/>
          <p:cNvSpPr/>
          <p:nvPr/>
        </p:nvSpPr>
        <p:spPr>
          <a:xfrm>
            <a:off x="6210000" y="1080000"/>
            <a:ext cx="1944000" cy="450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6282000" y="1137600"/>
            <a:ext cx="1800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3DL Tilt_Y</a:t>
            </a:r>
          </a:p>
        </p:txBody>
      </p:sp>
      <p:sp xmlns:a="http://schemas.openxmlformats.org/drawingml/2006/main">
        <p:nvSpPr>
          <p:cNvPr id="27" name="TextBox 26"/>
          <p:cNvSpPr txBox="1"/>
          <p:nvPr/>
        </p:nvSpPr>
        <p:spPr>
          <a:xfrm>
            <a:off x="6300000" y="1267200"/>
            <a:ext cx="1764000" cy="144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降低因錫量不均引起的傾斜異常</a:t>
            </a:r>
          </a:p>
        </p:txBody>
      </p:sp>
      <p:sp xmlns:a="http://schemas.openxmlformats.org/drawingml/2006/main">
        <p:nvSpPr>
          <p:cNvPr id="28" name="Rounded Rectangle 27"/>
          <p:cNvSpPr/>
          <p:nvPr/>
        </p:nvSpPr>
        <p:spPr>
          <a:xfrm>
            <a:off x="4121999" y="1692000"/>
            <a:ext cx="1944000" cy="450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TextBox 28"/>
          <p:cNvSpPr txBox="1"/>
          <p:nvPr/>
        </p:nvSpPr>
        <p:spPr>
          <a:xfrm>
            <a:off x="4193999" y="1749600"/>
            <a:ext cx="1800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製程穩定性</a:t>
            </a:r>
          </a:p>
        </p:txBody>
      </p:sp>
      <p:sp xmlns:a="http://schemas.openxmlformats.org/drawingml/2006/main">
        <p:nvSpPr>
          <p:cNvPr id="30" name="TextBox 29"/>
          <p:cNvSpPr txBox="1"/>
          <p:nvPr/>
        </p:nvSpPr>
        <p:spPr>
          <a:xfrm>
            <a:off x="4212000" y="1879200"/>
            <a:ext cx="1764000" cy="144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改善刮刀收刀動作的一致性</a:t>
            </a:r>
          </a:p>
        </p:txBody>
      </p:sp>
      <p:sp xmlns:a="http://schemas.openxmlformats.org/drawingml/2006/main">
        <p:nvSpPr>
          <p:cNvPr id="31" name="Rounded Rectangle 30"/>
          <p:cNvSpPr/>
          <p:nvPr/>
        </p:nvSpPr>
        <p:spPr>
          <a:xfrm>
            <a:off x="6210000" y="1692000"/>
            <a:ext cx="1944000" cy="450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6282000" y="1749600"/>
            <a:ext cx="1800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報廢 / Rework</a:t>
            </a:r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6300000" y="1879200"/>
            <a:ext cx="1764000" cy="144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降低追查與重工負荷</a:t>
            </a:r>
          </a:p>
        </p:txBody>
      </p:sp>
      <p:sp xmlns:a="http://schemas.openxmlformats.org/drawingml/2006/main">
        <p:nvSpPr>
          <p:cNvPr id="34" name="Rounded Rectangle 33"/>
          <p:cNvSpPr/>
          <p:nvPr/>
        </p:nvSpPr>
        <p:spPr>
          <a:xfrm>
            <a:off x="234000" y="2790000"/>
            <a:ext cx="8190000" cy="648000"/>
          </a:xfrm>
          <a:prstGeom prst="roundRect">
            <a:avLst/>
          </a:prstGeom>
          <a:solidFill>
            <a:srgbClr val="E6F4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TextBox 34"/>
          <p:cNvSpPr txBox="1"/>
          <p:nvPr/>
        </p:nvSpPr>
        <p:spPr>
          <a:xfrm>
            <a:off x="360000" y="2890800"/>
            <a:ext cx="7938000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13A6B"/>
                </a:solidFill>
                <a:latin typeface="Noto Sans TC"/>
              </a:rPr>
              <a:t>效益結論</a:t>
            </a:r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360000" y="3041999"/>
            <a:ext cx="7938000" cy="19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F2937"/>
                </a:solidFill>
                <a:latin typeface="Noto Sans TC"/>
              </a:rPr>
              <a:t>以滑行距離參數修正後，已阻斷「殘錫滴落功能區 → 鋼板背面污染 → 局部錫量異常」的失效鏈；可望回收先前約0.5%的整體良率損失。</a:t>
            </a:r>
          </a:p>
        </p:txBody>
      </p:sp>
    </p:spTree>
    <p:extLst>
      <p:ext uri="{BB962C8B-B14F-4D97-AF65-F5344CB8AC3E}">
        <p14:creationId xmlns:p14="http://schemas.microsoft.com/office/powerpoint/2010/main" val="33423371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F013D6EF-A44E-4B8D-829F-CF8E73084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D. 以營業秘密保護之考量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DA000B3-1E2A-4B09-BF65-14D3A1745B3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7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216000" y="792000"/>
            <a:ext cx="2538000" cy="226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Rounded Rectangle 7173"/>
          <p:cNvSpPr/>
          <p:nvPr/>
        </p:nvSpPr>
        <p:spPr>
          <a:xfrm>
            <a:off x="2970000" y="792000"/>
            <a:ext cx="2538000" cy="226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5" name="Rounded Rectangle 7174"/>
          <p:cNvSpPr/>
          <p:nvPr/>
        </p:nvSpPr>
        <p:spPr>
          <a:xfrm>
            <a:off x="5724000" y="792000"/>
            <a:ext cx="2538000" cy="226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360000" y="917999"/>
            <a:ext cx="2268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13A6B"/>
                </a:solidFill>
                <a:latin typeface="Noto Sans TC"/>
              </a:rPr>
              <a:t>保護標的</a:t>
            </a:r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360000" y="1098000"/>
            <a:ext cx="2268000" cy="172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刮刀收刀滑行距離參數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殘錫滴落位置與功能區避讓邏輯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刮刀行走路線與異常位置對應分析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鋼板孔洞、背面污染與錫量異常關聯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生產驗證條件與異常再發判定方式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3114000" y="917999"/>
            <a:ext cx="2268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13A6B"/>
                </a:solidFill>
                <a:latin typeface="Noto Sans TC"/>
              </a:rPr>
              <a:t>保密價值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3114000" y="1098000"/>
            <a:ext cx="2286000" cy="172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本案關鍵不在單一設備參數，而是透過異常品位置、刮刀路徑、鋼板殘錫與SPI / 3DL結果建立因果鏈。</a:t>
            </a:r>
          </a:p>
          <a:p>
            <a:pPr algn="l">
              <a:lnSpc>
                <a:spcPct val="105000"/>
              </a:lnSpc>
            </a:pP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外部若取得此邏輯，可直接縮短刷錫殘錫問題的分析時間，並複製低成本參數優化方法。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5868000" y="917999"/>
            <a:ext cx="2268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13A6B"/>
                </a:solidFill>
                <a:latin typeface="Noto Sans TC"/>
              </a:rPr>
              <a:t>建議管理方式</a:t>
            </a:r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5868000" y="1098000"/>
            <a:ext cx="2268000" cy="172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簡報、參數、圖片與驗證資料標示為Confidential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限定製程、NPI、設備與品保使用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刮刀收刀參數與作業文件納入版本管制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對外不揭露路徑比對、參數設定與驗證條件</a:t>
            </a:r>
          </a:p>
        </p:txBody>
      </p:sp>
      <p:sp xmlns:a="http://schemas.openxmlformats.org/drawingml/2006/main">
        <p:nvSpPr>
          <p:cNvPr id="7182" name="Rounded Rectangle 7181"/>
          <p:cNvSpPr/>
          <p:nvPr/>
        </p:nvSpPr>
        <p:spPr>
          <a:xfrm>
            <a:off x="216000" y="3204000"/>
            <a:ext cx="8046000" cy="270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324000" y="3286800"/>
            <a:ext cx="7848000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1F2937"/>
                </a:solidFill>
                <a:latin typeface="Noto Sans TC"/>
              </a:rPr>
              <a:t>建議對外說法：透過印刷收刀參數優化降低殘錫造成的錫量異常；不揭露刮刀路徑、鋼板功能區避讓邏輯與內部驗證條件。</a:t>
            </a:r>
          </a:p>
        </p:txBody>
      </p:sp>
    </p:spTree>
    <p:extLst>
      <p:ext uri="{BB962C8B-B14F-4D97-AF65-F5344CB8AC3E}">
        <p14:creationId xmlns:p14="http://schemas.microsoft.com/office/powerpoint/2010/main" val="26102135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79650954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57600" y="162000"/>
            <a:ext cx="28800" cy="378000"/>
          </a:xfrm>
          <a:prstGeom prst="rect">
            <a:avLst/>
          </a:prstGeom>
          <a:solidFill>
            <a:srgbClr val="1F6FB2"/>
          </a:solidFill>
          <a:ln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8000" y="198000"/>
            <a:ext cx="57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1F2937"/>
                </a:solidFill>
                <a:latin typeface="Noto Sans T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0000" y="4701600"/>
            <a:ext cx="288000" cy="1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1F2937"/>
                </a:solidFill>
                <a:latin typeface="Noto Sans T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0" y="4734000"/>
            <a:ext cx="2520000" cy="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450" b="0">
                <a:solidFill>
                  <a:srgbClr val="1F2937"/>
                </a:solidFill>
                <a:latin typeface="Noto Sans TC"/>
              </a:rPr>
              <a:t>[ Confidential ]   [ Security P ]   © 2026 Ennostar Inc. &amp; Ennostar Corp. All Rights Reserved.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999" y="882000"/>
            <a:ext cx="1800000" cy="156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5999" y="1026000"/>
            <a:ext cx="378000" cy="378000"/>
          </a:xfrm>
          <a:prstGeom prst="ellipse">
            <a:avLst/>
          </a:prstGeom>
          <a:solidFill>
            <a:srgbClr val="113A6B"/>
          </a:solidFill>
          <a:ln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Noto Sans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999" y="1494000"/>
            <a:ext cx="1548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3A6B"/>
                </a:solidFill>
                <a:latin typeface="Noto Sans TC"/>
              </a:rPr>
              <a:t>問題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999" y="1692000"/>
            <a:ext cx="1548000" cy="450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1F2937"/>
                </a:solidFill>
                <a:latin typeface="Noto Sans TC"/>
              </a:rPr>
              <a:t>殘錫滴落於鋼板功能區，造成局部錫量異常並影響SPI Area / Height與3DL Tilt_Y。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04000" y="882000"/>
            <a:ext cx="1800000" cy="156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88000" y="1026000"/>
            <a:ext cx="378000" cy="378000"/>
          </a:xfrm>
          <a:prstGeom prst="ellipse">
            <a:avLst/>
          </a:prstGeom>
          <a:solidFill>
            <a:srgbClr val="113A6B"/>
          </a:solidFill>
          <a:ln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Noto Sans T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000" y="1494000"/>
            <a:ext cx="1548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3A6B"/>
                </a:solidFill>
                <a:latin typeface="Noto Sans TC"/>
              </a:rPr>
              <a:t>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0000" y="1692000"/>
            <a:ext cx="1548000" cy="450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1F2937"/>
                </a:solidFill>
                <a:latin typeface="Noto Sans TC"/>
              </a:rPr>
              <a:t>將刮刀滑行距離由0 mm調整為10 mm，使殘錫滴落點避開功能區。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882000"/>
            <a:ext cx="1800000" cy="156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40000" y="1026000"/>
            <a:ext cx="378000" cy="378000"/>
          </a:xfrm>
          <a:prstGeom prst="ellipse">
            <a:avLst/>
          </a:prstGeom>
          <a:solidFill>
            <a:srgbClr val="113A6B"/>
          </a:solidFill>
          <a:ln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Noto Sans T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2000" y="1494000"/>
            <a:ext cx="1548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3A6B"/>
                </a:solidFill>
                <a:latin typeface="Noto Sans TC"/>
              </a:rPr>
              <a:t>效益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2000" y="1692000"/>
            <a:ext cx="1548000" cy="450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1F2937"/>
                </a:solidFill>
                <a:latin typeface="Noto Sans TC"/>
              </a:rPr>
              <a:t>修正後生產&gt;200 pcs未再發相同SPI / Tilt NG，預期回收約0.5%整體良率損失。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8000" y="882000"/>
            <a:ext cx="1800000" cy="156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92000" y="1026000"/>
            <a:ext cx="378000" cy="378000"/>
          </a:xfrm>
          <a:prstGeom prst="ellipse">
            <a:avLst/>
          </a:prstGeom>
          <a:solidFill>
            <a:srgbClr val="113A6B"/>
          </a:solidFill>
          <a:ln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Noto Sans T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4000" y="1494000"/>
            <a:ext cx="1548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3A6B"/>
                </a:solidFill>
                <a:latin typeface="Noto Sans TC"/>
              </a:rPr>
              <a:t>保護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000" y="1692000"/>
            <a:ext cx="1548000" cy="450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1F2937"/>
                </a:solidFill>
                <a:latin typeface="Noto Sans TC"/>
              </a:rPr>
              <a:t>刮刀路徑、鋼板功能區避讓與驗證條件屬製程Know-how，需控管。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999" y="2718000"/>
            <a:ext cx="3924000" cy="522000"/>
          </a:xfrm>
          <a:prstGeom prst="roundRect">
            <a:avLst/>
          </a:prstGeom>
          <a:solidFill>
            <a:srgbClr val="E6F4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000" y="2815200"/>
            <a:ext cx="3708000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13A6B"/>
                </a:solidFill>
                <a:latin typeface="Noto Sans TC"/>
              </a:rPr>
              <a:t>建議導入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00" y="2951999"/>
            <a:ext cx="3636000" cy="136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1F2937"/>
                </a:solidFill>
                <a:latin typeface="Noto Sans TC"/>
              </a:rPr>
              <a:t>將刮刀收刀滑行距離納入標準印刷參數，並追蹤SPI與3DL Tilt異常再發率。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0" y="2718000"/>
            <a:ext cx="3960000" cy="522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28000" y="2815200"/>
            <a:ext cx="3744000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13A6B"/>
                </a:solidFill>
                <a:latin typeface="Noto Sans TC"/>
              </a:rPr>
              <a:t>驗收 KPI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8000" y="2951999"/>
            <a:ext cx="3671999" cy="136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1F2937"/>
                </a:solidFill>
                <a:latin typeface="Noto Sans TC"/>
              </a:rPr>
              <a:t>相同異常再發率、SPI Area / Height NG、3DL Tilt_Y NG、整體良率影響。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2026-07-22T11:55:34.0640000Z</dcterms:created>
  <dcterms:modified xsi:type="dcterms:W3CDTF">2026-07-22T11:55:34.0650000Z</dcterms:modified>
</coreProperties>
</file>