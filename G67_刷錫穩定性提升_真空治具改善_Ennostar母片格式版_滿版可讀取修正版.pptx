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8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SPI2 A+ Yield</c:v>
                </c:pt>
              </c:strCache>
            </c:strRef>
          </c:tx>
          <c:spPr>
            <a:ln w="28575">
              <a:solidFill>
                <a:srgbClr val="1E5B9F"/>
              </a:solidFill>
            </a:ln>
          </c:spPr>
          <c:marker>
            <c:spPr>
              <a:solidFill>
                <a:srgbClr val="1A9A9A"/>
              </a:solidFill>
              <a:ln>
                <a:solidFill>
                  <a:srgbClr val="1A9A9A"/>
                </a:solidFill>
              </a:ln>
            </c:spPr>
          </c:marker>
          <c:dLbls>
            <c:numFmt formatCode="0.00%" sourceLinked="0"/>
            <c:txPr>
              <a:bodyPr/>
              <a:lstStyle/>
              <a:p>
                <a:pPr>
                  <a:defRPr sz="800">
                    <a:solidFill>
                      <a:srgbClr val="1F2937"/>
                    </a:solidFill>
                    <a:latin typeface="Noto Sans TC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Nov</c:v>
                </c:pt>
                <c:pt idx="1">
                  <c:v>Dec</c:v>
                </c:pt>
                <c:pt idx="2">
                  <c:v>Jan</c:v>
                </c:pt>
                <c:pt idx="3">
                  <c:v>Feb</c:v>
                </c:pt>
                <c:pt idx="4">
                  <c:v>Mar</c:v>
                </c:pt>
                <c:pt idx="5">
                  <c:v>Apr</c:v>
                </c:pt>
                <c:pt idx="6">
                  <c:v>May</c:v>
                </c:pt>
                <c:pt idx="7">
                  <c:v>Jun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0.9348</c:v>
                </c:pt>
                <c:pt idx="1">
                  <c:v>1.0</c:v>
                </c:pt>
                <c:pt idx="2">
                  <c:v>0.9587</c:v>
                </c:pt>
                <c:pt idx="3">
                  <c:v>0.8662</c:v>
                </c:pt>
                <c:pt idx="4">
                  <c:v>0.9278</c:v>
                </c:pt>
                <c:pt idx="5">
                  <c:v>0.9254</c:v>
                </c:pt>
                <c:pt idx="6">
                  <c:v>0.956</c:v>
                </c:pt>
                <c:pt idx="7">
                  <c:v>0.9633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85"/>
        </c:scaling>
        <c:delete val="0"/>
        <c:axPos val="l"/>
        <c:majorGridlines>
          <c:spPr>
            <a:ln>
              <a:solidFill>
                <a:srgbClr val="CBD5E1"/>
              </a:solidFill>
            </a:ln>
          </c:spPr>
        </c:majorGridlines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Relationship Id="rId3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latin typeface="Noto Sans TC"/>
              </a:rPr>
              <a:t>G67_刷錫穩定性提升_真空治具改善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000"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 sz="1000">
                <a:latin typeface="Noto Sans TC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937"/>
                </a:solidFill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 sz="900">
                <a:solidFill>
                  <a:srgbClr val="1F2937"/>
                </a:solidFill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162000" y="938028"/>
            <a:ext cx="8820000" cy="35776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86225" y="1027470"/>
            <a:ext cx="8571549" cy="13913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TC"/>
              </a:rPr>
              <a:t>以四週真空流道提升PCB板邊吸附穩定性，改善鋼板貼合與SPI錫量分佈</a:t>
            </a:r>
          </a:p>
        </p:txBody>
      </p:sp>
      <p:sp xmlns:a="http://schemas.openxmlformats.org/drawingml/2006/main">
        <p:nvSpPr>
          <p:cNvPr id="7175" name="Oval 7174"/>
          <p:cNvSpPr/>
          <p:nvPr/>
        </p:nvSpPr>
        <p:spPr>
          <a:xfrm>
            <a:off x="335915" y="1584000"/>
            <a:ext cx="308078" cy="308078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783126" y="1623752"/>
            <a:ext cx="3378929" cy="168946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7" name="Oval 7176"/>
          <p:cNvSpPr/>
          <p:nvPr/>
        </p:nvSpPr>
        <p:spPr>
          <a:xfrm>
            <a:off x="335915" y="2105745"/>
            <a:ext cx="308078" cy="308078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783126" y="2145498"/>
            <a:ext cx="3378929" cy="168946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79" name="Oval 7178"/>
          <p:cNvSpPr/>
          <p:nvPr/>
        </p:nvSpPr>
        <p:spPr>
          <a:xfrm>
            <a:off x="335915" y="2627492"/>
            <a:ext cx="308078" cy="308078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783126" y="2667245"/>
            <a:ext cx="3378929" cy="168946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1" name="Oval 7180"/>
          <p:cNvSpPr/>
          <p:nvPr/>
        </p:nvSpPr>
        <p:spPr>
          <a:xfrm>
            <a:off x="335915" y="3149239"/>
            <a:ext cx="308078" cy="308078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783126" y="3188991"/>
            <a:ext cx="3378929" cy="168946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60759" y="3770366"/>
            <a:ext cx="2236056" cy="19876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4" name="Rounded Rectangle 7183"/>
          <p:cNvSpPr/>
          <p:nvPr/>
        </p:nvSpPr>
        <p:spPr>
          <a:xfrm>
            <a:off x="4907408" y="1559154"/>
            <a:ext cx="3677070" cy="2434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5056478" y="1683380"/>
            <a:ext cx="3378929" cy="17391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改善架構｜Overview</a:t>
            </a:r>
          </a:p>
        </p:txBody>
      </p:sp>
      <p:sp xmlns:a="http://schemas.openxmlformats.org/drawingml/2006/main">
        <p:nvSpPr>
          <p:cNvPr id="7186" name="Rounded Rectangle 7185"/>
          <p:cNvSpPr/>
          <p:nvPr/>
        </p:nvSpPr>
        <p:spPr>
          <a:xfrm>
            <a:off x="5081323" y="2279661"/>
            <a:ext cx="670816" cy="63603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5121076" y="2344259"/>
            <a:ext cx="591312" cy="1490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板翹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121076" y="2518174"/>
            <a:ext cx="591312" cy="27329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鋼板貼合不佳</a:t>
            </a:r>
          </a:p>
        </p:txBody>
      </p:sp>
      <p:sp xmlns:a="http://schemas.openxmlformats.org/drawingml/2006/main">
        <p:nvSpPr>
          <p:cNvPr id="7189" name="Chevron 7188"/>
          <p:cNvSpPr/>
          <p:nvPr/>
        </p:nvSpPr>
        <p:spPr>
          <a:xfrm>
            <a:off x="5786923" y="2473453"/>
            <a:ext cx="198760" cy="188822"/>
          </a:xfrm>
          <a:prstGeom prst="chevron">
            <a:avLst/>
          </a:prstGeom>
          <a:solidFill>
            <a:srgbClr val="1A9A9A"/>
          </a:solidFill>
          <a:ln>
            <a:solidFill>
              <a:srgbClr val="1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5886304" y="2279661"/>
            <a:ext cx="670816" cy="63603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5926056" y="2344259"/>
            <a:ext cx="591312" cy="1490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錫量不穩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5926056" y="2518174"/>
            <a:ext cx="591312" cy="27329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SPI分佈變異</a:t>
            </a:r>
          </a:p>
        </p:txBody>
      </p:sp>
      <p:sp xmlns:a="http://schemas.openxmlformats.org/drawingml/2006/main">
        <p:nvSpPr>
          <p:cNvPr id="7193" name="Chevron 7192"/>
          <p:cNvSpPr/>
          <p:nvPr/>
        </p:nvSpPr>
        <p:spPr>
          <a:xfrm>
            <a:off x="6591904" y="2473453"/>
            <a:ext cx="198760" cy="188822"/>
          </a:xfrm>
          <a:prstGeom prst="chevron">
            <a:avLst/>
          </a:prstGeom>
          <a:solidFill>
            <a:srgbClr val="1A9A9A"/>
          </a:solidFill>
          <a:ln>
            <a:solidFill>
              <a:srgbClr val="1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Rounded Rectangle 7193"/>
          <p:cNvSpPr/>
          <p:nvPr/>
        </p:nvSpPr>
        <p:spPr>
          <a:xfrm>
            <a:off x="6691284" y="2279661"/>
            <a:ext cx="670816" cy="636033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6731036" y="2344259"/>
            <a:ext cx="591312" cy="1490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四週吸附</a:t>
            </a:r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6731036" y="2518174"/>
            <a:ext cx="591312" cy="27329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增加板邊穩定</a:t>
            </a:r>
          </a:p>
        </p:txBody>
      </p:sp>
      <p:sp xmlns:a="http://schemas.openxmlformats.org/drawingml/2006/main">
        <p:nvSpPr>
          <p:cNvPr id="7197" name="Chevron 7196"/>
          <p:cNvSpPr/>
          <p:nvPr/>
        </p:nvSpPr>
        <p:spPr>
          <a:xfrm>
            <a:off x="7396884" y="2473453"/>
            <a:ext cx="198760" cy="188822"/>
          </a:xfrm>
          <a:prstGeom prst="chevron">
            <a:avLst/>
          </a:prstGeom>
          <a:solidFill>
            <a:srgbClr val="1A9A9A"/>
          </a:solidFill>
          <a:ln>
            <a:solidFill>
              <a:srgbClr val="1A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Rounded Rectangle 7197"/>
          <p:cNvSpPr/>
          <p:nvPr/>
        </p:nvSpPr>
        <p:spPr>
          <a:xfrm>
            <a:off x="7496264" y="2279661"/>
            <a:ext cx="670816" cy="636033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7536016" y="2344259"/>
            <a:ext cx="591312" cy="1490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A+良率</a:t>
            </a:r>
          </a:p>
        </p:txBody>
      </p:sp>
      <p:sp xmlns:a="http://schemas.openxmlformats.org/drawingml/2006/main">
        <p:nvSpPr>
          <p:cNvPr id="7200" name="TextBox 7199"/>
          <p:cNvSpPr txBox="1"/>
          <p:nvPr/>
        </p:nvSpPr>
        <p:spPr>
          <a:xfrm>
            <a:off x="7536016" y="2518174"/>
            <a:ext cx="591312" cy="27329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30" b="0">
                <a:solidFill>
                  <a:srgbClr val="1F2937"/>
                </a:solidFill>
                <a:latin typeface="Noto Sans TC"/>
              </a:rPr>
              <a:t>92.5→96.33%</a:t>
            </a:r>
          </a:p>
        </p:txBody>
      </p:sp>
      <p:sp xmlns:a="http://schemas.openxmlformats.org/drawingml/2006/main">
        <p:nvSpPr>
          <p:cNvPr id="7201" name="Rounded Rectangle 7200"/>
          <p:cNvSpPr/>
          <p:nvPr/>
        </p:nvSpPr>
        <p:spPr>
          <a:xfrm>
            <a:off x="5155859" y="3223774"/>
            <a:ext cx="993802" cy="571435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2" name="TextBox 7201"/>
          <p:cNvSpPr txBox="1"/>
          <p:nvPr/>
        </p:nvSpPr>
        <p:spPr>
          <a:xfrm>
            <a:off x="5215487" y="3283402"/>
            <a:ext cx="874546" cy="1639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改善後Cpk</a:t>
            </a:r>
          </a:p>
        </p:txBody>
      </p:sp>
      <p:sp xmlns:a="http://schemas.openxmlformats.org/drawingml/2006/main">
        <p:nvSpPr>
          <p:cNvPr id="7203" name="TextBox 7202"/>
          <p:cNvSpPr txBox="1"/>
          <p:nvPr/>
        </p:nvSpPr>
        <p:spPr>
          <a:xfrm>
            <a:off x="5215487" y="3462287"/>
            <a:ext cx="874546" cy="28820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A9A9A"/>
                </a:solidFill>
                <a:latin typeface="Noto Sans TC"/>
              </a:rPr>
              <a:t>1.9–2.6</a:t>
            </a:r>
          </a:p>
        </p:txBody>
      </p:sp>
      <p:sp xmlns:a="http://schemas.openxmlformats.org/drawingml/2006/main">
        <p:nvSpPr>
          <p:cNvPr id="7204" name="TextBox 7203"/>
          <p:cNvSpPr txBox="1"/>
          <p:nvPr/>
        </p:nvSpPr>
        <p:spPr>
          <a:xfrm>
            <a:off x="5215487" y="3760428"/>
            <a:ext cx="874546" cy="149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Dummy驗證</a:t>
            </a:r>
          </a:p>
        </p:txBody>
      </p:sp>
      <p:sp xmlns:a="http://schemas.openxmlformats.org/drawingml/2006/main">
        <p:nvSpPr>
          <p:cNvPr id="7205" name="Rounded Rectangle 7204"/>
          <p:cNvSpPr/>
          <p:nvPr/>
        </p:nvSpPr>
        <p:spPr>
          <a:xfrm>
            <a:off x="6323577" y="3223774"/>
            <a:ext cx="993802" cy="57143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6" name="TextBox 7205"/>
          <p:cNvSpPr txBox="1"/>
          <p:nvPr/>
        </p:nvSpPr>
        <p:spPr>
          <a:xfrm>
            <a:off x="6383205" y="3283402"/>
            <a:ext cx="874546" cy="1639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SPI2 A+</a:t>
            </a:r>
          </a:p>
        </p:txBody>
      </p:sp>
      <p:sp xmlns:a="http://schemas.openxmlformats.org/drawingml/2006/main">
        <p:nvSpPr>
          <p:cNvPr id="7207" name="TextBox 7206"/>
          <p:cNvSpPr txBox="1"/>
          <p:nvPr/>
        </p:nvSpPr>
        <p:spPr>
          <a:xfrm>
            <a:off x="6383205" y="3462287"/>
            <a:ext cx="874546" cy="28820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E5B9F"/>
                </a:solidFill>
                <a:latin typeface="Noto Sans TC"/>
              </a:rPr>
              <a:t>96.33%</a:t>
            </a:r>
          </a:p>
        </p:txBody>
      </p:sp>
      <p:sp xmlns:a="http://schemas.openxmlformats.org/drawingml/2006/main">
        <p:nvSpPr>
          <p:cNvPr id="7208" name="TextBox 7207"/>
          <p:cNvSpPr txBox="1"/>
          <p:nvPr/>
        </p:nvSpPr>
        <p:spPr>
          <a:xfrm>
            <a:off x="6383205" y="3760428"/>
            <a:ext cx="874546" cy="149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Jun</a:t>
            </a:r>
          </a:p>
        </p:txBody>
      </p:sp>
      <p:sp xmlns:a="http://schemas.openxmlformats.org/drawingml/2006/main">
        <p:nvSpPr>
          <p:cNvPr id="7209" name="Rounded Rectangle 7208"/>
          <p:cNvSpPr/>
          <p:nvPr/>
        </p:nvSpPr>
        <p:spPr>
          <a:xfrm>
            <a:off x="7491295" y="3223774"/>
            <a:ext cx="944112" cy="571435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10" name="TextBox 7209"/>
          <p:cNvSpPr txBox="1"/>
          <p:nvPr/>
        </p:nvSpPr>
        <p:spPr>
          <a:xfrm>
            <a:off x="7550923" y="3283402"/>
            <a:ext cx="824856" cy="1639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提升</a:t>
            </a:r>
          </a:p>
        </p:txBody>
      </p:sp>
      <p:sp xmlns:a="http://schemas.openxmlformats.org/drawingml/2006/main">
        <p:nvSpPr>
          <p:cNvPr id="7211" name="TextBox 7210"/>
          <p:cNvSpPr txBox="1"/>
          <p:nvPr/>
        </p:nvSpPr>
        <p:spPr>
          <a:xfrm>
            <a:off x="7550923" y="3462287"/>
            <a:ext cx="824856" cy="28820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A9A9A"/>
                </a:solidFill>
                <a:latin typeface="Noto Sans TC"/>
              </a:rPr>
              <a:t>+3.83pp</a:t>
            </a:r>
          </a:p>
        </p:txBody>
      </p:sp>
      <p:sp xmlns:a="http://schemas.openxmlformats.org/drawingml/2006/main">
        <p:nvSpPr>
          <p:cNvPr id="7212" name="TextBox 7211"/>
          <p:cNvSpPr txBox="1"/>
          <p:nvPr/>
        </p:nvSpPr>
        <p:spPr>
          <a:xfrm>
            <a:off x="7550923" y="3760428"/>
            <a:ext cx="824856" cy="149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Apr→Jun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937"/>
                </a:solidFill>
                <a:latin typeface="Noto Sans TC"/>
              </a:rPr>
              <a:t>A. 背景說明及問題描述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 sz="900">
                <a:solidFill>
                  <a:srgbClr val="1F2937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162000" y="749880"/>
            <a:ext cx="2520000" cy="176398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300" b="1">
                <a:solidFill>
                  <a:srgbClr val="113A6B"/>
                </a:solidFill>
                <a:latin typeface="Noto Sans TC"/>
              </a:rPr>
              <a:t>板材翹曲影響鋼板貼合</a:t>
            </a:r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162000" y="966600"/>
            <a:ext cx="2671200" cy="9072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Noto Sans TC"/>
              </a:rPr>
              <a:t>PCB板材翹曲造成鋼板與PCB貼合性不足，刷錫時PAD位置的錫量容易出現局部偏少或分佈不均。</a:t>
            </a:r>
          </a:p>
          <a:p>
            <a:pPr algn="l"/>
          </a:p>
          <a:p>
            <a:pPr algn="l"/>
            <a:r>
              <a:rPr sz="1019" b="0">
                <a:solidFill>
                  <a:srgbClr val="1F2937"/>
                </a:solidFill>
                <a:latin typeface="Noto Sans TC"/>
              </a:rPr>
              <a:t>現行治具只針對中央區域吸附，板邊翹曲仍可能存在，對四周落錫穩定性影響更明顯。</a:t>
            </a:r>
          </a:p>
        </p:txBody>
      </p:sp>
      <p:sp xmlns:a="http://schemas.openxmlformats.org/drawingml/2006/main">
        <p:nvSpPr>
          <p:cNvPr id="7175" name="Rounded Rectangle 7174"/>
          <p:cNvSpPr/>
          <p:nvPr/>
        </p:nvSpPr>
        <p:spPr>
          <a:xfrm>
            <a:off x="187200" y="2125800"/>
            <a:ext cx="831600" cy="68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247680" y="2186280"/>
            <a:ext cx="710640" cy="1663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目前吸附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247680" y="2367720"/>
            <a:ext cx="710640" cy="2923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E5B9F"/>
                </a:solidFill>
                <a:latin typeface="Noto Sans TC"/>
              </a:rPr>
              <a:t>中央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247680" y="2670120"/>
            <a:ext cx="710640" cy="11591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區域</a:t>
            </a:r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1119600" y="2125800"/>
            <a:ext cx="831600" cy="68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1180080" y="2186280"/>
            <a:ext cx="710640" cy="1663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主要影響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1180080" y="2367720"/>
            <a:ext cx="710640" cy="2923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D97A00"/>
                </a:solidFill>
                <a:latin typeface="Noto Sans TC"/>
              </a:rPr>
              <a:t>板邊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1180080" y="2670120"/>
            <a:ext cx="710640" cy="11591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貼合性</a:t>
            </a:r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2051999" y="2125800"/>
            <a:ext cx="831600" cy="68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2112480" y="2186280"/>
            <a:ext cx="710640" cy="1663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結果</a:t>
            </a:r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2112480" y="2367720"/>
            <a:ext cx="710640" cy="2923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D97A00"/>
                </a:solidFill>
                <a:latin typeface="Noto Sans TC"/>
              </a:rPr>
              <a:t>SPI</a:t>
            </a:r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2112480" y="2670120"/>
            <a:ext cx="710640" cy="115919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錫量NG</a:t>
            </a:r>
          </a:p>
        </p:txBody>
      </p:sp>
      <p:sp xmlns:a="http://schemas.openxmlformats.org/drawingml/2006/main">
        <p:nvSpPr>
          <p:cNvPr id="7187" name="Rounded Rectangle 7186"/>
          <p:cNvSpPr/>
          <p:nvPr/>
        </p:nvSpPr>
        <p:spPr>
          <a:xfrm>
            <a:off x="3085200" y="739800"/>
            <a:ext cx="5896800" cy="294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3236400" y="865800"/>
            <a:ext cx="5594400" cy="16128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As-Is 現況與錫量分佈不穩定案例</a:t>
            </a:r>
          </a:p>
        </p:txBody>
      </p:sp>
      <p:pic xmlns:a="http://schemas.openxmlformats.org/drawingml/2006/main" xmlns:r="http://schemas.openxmlformats.org/officeDocument/2006/relationships">
        <p:nvPicPr>
          <p:cNvPr id="7189" name="Picture 7188" descr="before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200" y="1117800"/>
            <a:ext cx="5392798" cy="2419200"/>
          </a:xfrm>
          <a:prstGeom prst="rect">
            <a:avLst/>
          </a:prstGeom>
        </p:spPr>
      </p:pic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162000" y="3033000"/>
            <a:ext cx="2721600" cy="105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313200" y="3169080"/>
            <a:ext cx="2419200" cy="1663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200" b="1">
                <a:solidFill>
                  <a:srgbClr val="113A6B"/>
                </a:solidFill>
                <a:latin typeface="Noto Sans TC"/>
              </a:rPr>
              <a:t>改善前風險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313200" y="3370680"/>
            <a:ext cx="2394000" cy="4284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鋼板與PCB局部貼合不佳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錫膏落在PAD上的型態不穩定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後續可能引發晶片傾斜、缺件、推力等異常</a:t>
            </a:r>
          </a:p>
        </p:txBody>
      </p:sp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3085200" y="3789000"/>
            <a:ext cx="5896800" cy="403200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3236400" y="3894840"/>
            <a:ext cx="5594400" cy="14112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40" b="0">
                <a:solidFill>
                  <a:srgbClr val="1F2937"/>
                </a:solidFill>
                <a:latin typeface="Noto Sans TC"/>
              </a:rPr>
              <a:t>改善方向：將吸附能力由中央區域擴展至四周板邊，提升整片PCB與鋼板貼合穩定性。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937"/>
                </a:solidFill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 sz="900">
                <a:solidFill>
                  <a:srgbClr val="1F2937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198000" y="522000"/>
            <a:ext cx="2813684" cy="17905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300" b="1">
                <a:solidFill>
                  <a:srgbClr val="113A6B"/>
                </a:solidFill>
                <a:latin typeface="Noto Sans TC"/>
              </a:rPr>
              <a:t>治具吸附範圍改善</a:t>
            </a:r>
          </a:p>
        </p:txBody>
      </p:sp>
      <p:sp xmlns:a="http://schemas.openxmlformats.org/drawingml/2006/main">
        <p:nvSpPr>
          <p:cNvPr id="7174" name="Rounded Rectangle 7173"/>
          <p:cNvSpPr/>
          <p:nvPr/>
        </p:nvSpPr>
        <p:spPr>
          <a:xfrm>
            <a:off x="198000" y="777789"/>
            <a:ext cx="4297263" cy="29671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51474" y="895452"/>
            <a:ext cx="3990315" cy="1637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Before｜中央區域真空吸附</a:t>
            </a:r>
          </a:p>
        </p:txBody>
      </p:sp>
      <p:pic xmlns:a="http://schemas.openxmlformats.org/drawingml/2006/main" xmlns:r="http://schemas.openxmlformats.org/officeDocument/2006/relationships">
        <p:nvPicPr>
          <p:cNvPr id="7176" name="Picture 7175" descr="before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25" y="1135894"/>
            <a:ext cx="3760105" cy="2404421"/>
          </a:xfrm>
          <a:prstGeom prst="rect">
            <a:avLst/>
          </a:prstGeom>
        </p:spPr>
      </p:pic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4648736" y="777789"/>
            <a:ext cx="4297263" cy="29671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4802211" y="895452"/>
            <a:ext cx="3990315" cy="1637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A9A9A"/>
                </a:solidFill>
                <a:latin typeface="Noto Sans TC"/>
              </a:rPr>
              <a:t>After｜增加四週真空流道</a:t>
            </a:r>
          </a:p>
        </p:txBody>
      </p:sp>
      <p:pic xmlns:a="http://schemas.openxmlformats.org/drawingml/2006/main" xmlns:r="http://schemas.openxmlformats.org/officeDocument/2006/relationships">
        <p:nvPicPr>
          <p:cNvPr id="7179" name="Picture 7178" descr="after_fi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790" y="1135894"/>
            <a:ext cx="3760105" cy="2404421"/>
          </a:xfrm>
          <a:prstGeom prst="rect">
            <a:avLst/>
          </a:prstGeom>
        </p:spPr>
      </p:pic>
      <p:sp xmlns:a="http://schemas.openxmlformats.org/drawingml/2006/main">
        <p:nvSpPr>
          <p:cNvPr id="7180" name="Rounded Rectangle 7179"/>
          <p:cNvSpPr/>
          <p:nvPr/>
        </p:nvSpPr>
        <p:spPr>
          <a:xfrm>
            <a:off x="198000" y="3898421"/>
            <a:ext cx="2685789" cy="51157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325895" y="3964926"/>
            <a:ext cx="2430000" cy="12789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1">
                <a:solidFill>
                  <a:srgbClr val="113A6B"/>
                </a:solidFill>
                <a:latin typeface="Noto Sans TC"/>
              </a:rPr>
              <a:t>改善焦點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325895" y="4128630"/>
            <a:ext cx="2430000" cy="17905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840" b="0">
                <a:solidFill>
                  <a:srgbClr val="1F2937"/>
                </a:solidFill>
                <a:latin typeface="Noto Sans TC"/>
              </a:rPr>
              <a:t>新增四週真空流道，強化板邊吸附力。</a:t>
            </a:r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3139579" y="3898421"/>
            <a:ext cx="2685789" cy="511578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3267474" y="3964926"/>
            <a:ext cx="2430000" cy="12789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1">
                <a:solidFill>
                  <a:srgbClr val="1A9A9A"/>
                </a:solidFill>
                <a:latin typeface="Noto Sans TC"/>
              </a:rPr>
              <a:t>機構特徵</a:t>
            </a:r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3267474" y="4128630"/>
            <a:ext cx="2430000" cy="17905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840" b="0">
                <a:solidFill>
                  <a:srgbClr val="1F2937"/>
                </a:solidFill>
                <a:latin typeface="Noto Sans TC"/>
              </a:rPr>
              <a:t>以治具真空孔與流道配置改善PCB貼合。</a:t>
            </a:r>
          </a:p>
        </p:txBody>
      </p:sp>
      <p:sp xmlns:a="http://schemas.openxmlformats.org/drawingml/2006/main">
        <p:nvSpPr>
          <p:cNvPr id="7186" name="Rounded Rectangle 7185"/>
          <p:cNvSpPr/>
          <p:nvPr/>
        </p:nvSpPr>
        <p:spPr>
          <a:xfrm>
            <a:off x="6081158" y="3898421"/>
            <a:ext cx="2685789" cy="51157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6209053" y="3964926"/>
            <a:ext cx="2430000" cy="12789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50" b="1">
                <a:solidFill>
                  <a:srgbClr val="113A6B"/>
                </a:solidFill>
                <a:latin typeface="Noto Sans TC"/>
              </a:rPr>
              <a:t>製程效果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6209053" y="4128630"/>
            <a:ext cx="2430000" cy="17905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840" b="0">
                <a:solidFill>
                  <a:srgbClr val="1F2937"/>
                </a:solidFill>
                <a:latin typeface="Noto Sans TC"/>
              </a:rPr>
              <a:t>降低錫少與分佈不均造成的SPI NG。</a:t>
            </a: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937"/>
                </a:solidFill>
                <a:latin typeface="Noto Sans TC"/>
              </a:rPr>
              <a:t>C. 效益說明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 sz="900">
                <a:solidFill>
                  <a:srgbClr val="1F2937"/>
                </a:solidFill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162000" y="742551"/>
            <a:ext cx="4764827" cy="29146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14068" y="859137"/>
            <a:ext cx="4460689" cy="17741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000" b="1">
                <a:solidFill>
                  <a:srgbClr val="113A6B"/>
                </a:solidFill>
                <a:latin typeface="Noto Sans TC"/>
              </a:rPr>
              <a:t>SPI2 A+ 良率趨勢（改善後Jun達 96.33%）</a:t>
            </a:r>
          </a:p>
        </p:txBody>
      </p:sp>
      <p:graphicFrame xmlns:a="http://schemas.openxmlformats.org/drawingml/2006/main">
        <p:nvGraphicFramePr>
          <p:cNvPr id="7175" name="Chart 7174"/>
          <p:cNvGraphicFramePr>
            <a:graphicFrameLocks noGrp="1"/>
          </p:cNvGraphicFramePr>
          <p:nvPr/>
        </p:nvGraphicFramePr>
        <p:xfrm>
          <a:off x="364757" y="1122724"/>
          <a:ext cx="4359310" cy="1976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39413" y="3226344"/>
            <a:ext cx="4460689" cy="2281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Noto Sans TC"/>
              </a:rPr>
              <a:t>註：Apr 92.54% → Jun 96.33%，提升 3.79 percentage points；此為實績月度資料。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5129586" y="793241"/>
            <a:ext cx="1216551" cy="735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5190413" y="854068"/>
            <a:ext cx="1094896" cy="16727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SPI2 A+ Apr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5190413" y="1036551"/>
            <a:ext cx="1094896" cy="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D97A00"/>
                </a:solidFill>
                <a:latin typeface="Noto Sans TC"/>
              </a:rPr>
              <a:t>92.5%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5190413" y="1340689"/>
            <a:ext cx="1094896" cy="1672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改善前基準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6498206" y="793241"/>
            <a:ext cx="1216551" cy="735000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6559034" y="854068"/>
            <a:ext cx="1094896" cy="16727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SPI2 A+ Jun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6559034" y="1036551"/>
            <a:ext cx="1094896" cy="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A9A9A"/>
                </a:solidFill>
                <a:latin typeface="Noto Sans TC"/>
              </a:rPr>
              <a:t>96.33%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6559034" y="1340689"/>
            <a:ext cx="1094896" cy="1672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改善後實績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7866827" y="793241"/>
            <a:ext cx="1115172" cy="735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7927655" y="854068"/>
            <a:ext cx="993517" cy="16727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提升幅度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7927655" y="1036551"/>
            <a:ext cx="993517" cy="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E5B9F"/>
                </a:solidFill>
                <a:latin typeface="Noto Sans TC"/>
              </a:rPr>
              <a:t>+3.79pp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7927655" y="1340689"/>
            <a:ext cx="993517" cy="1672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約 +4.1% 相對提升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5129586" y="1654965"/>
            <a:ext cx="1216551" cy="735000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5190413" y="1715793"/>
            <a:ext cx="1094896" cy="16727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Dummy Cpk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5190413" y="1898274"/>
            <a:ext cx="1094896" cy="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A9A9A"/>
                </a:solidFill>
                <a:latin typeface="Noto Sans TC"/>
              </a:rPr>
              <a:t>1.9–2.6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5190413" y="2202413"/>
            <a:ext cx="1094896" cy="1672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改善後驗證</a:t>
            </a:r>
          </a:p>
        </p:txBody>
      </p:sp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6498206" y="1654965"/>
            <a:ext cx="1216551" cy="735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6559034" y="1715793"/>
            <a:ext cx="1094896" cy="16727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錫量分佈</a:t>
            </a:r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6559034" y="1898274"/>
            <a:ext cx="1094896" cy="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1E5B9F"/>
                </a:solidFill>
                <a:latin typeface="Noto Sans TC"/>
              </a:rPr>
              <a:t>穩定</a:t>
            </a:r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6559034" y="2202413"/>
            <a:ext cx="1094896" cy="1672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面積/高度</a:t>
            </a:r>
          </a:p>
        </p:txBody>
      </p:sp>
      <p:sp xmlns:a="http://schemas.openxmlformats.org/drawingml/2006/main">
        <p:nvSpPr>
          <p:cNvPr id="7197" name="Rounded Rectangle 7196"/>
          <p:cNvSpPr/>
          <p:nvPr/>
        </p:nvSpPr>
        <p:spPr>
          <a:xfrm>
            <a:off x="7866827" y="1654965"/>
            <a:ext cx="1115172" cy="735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7927655" y="1715793"/>
            <a:ext cx="993517" cy="16727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50" b="1">
                <a:solidFill>
                  <a:srgbClr val="113A6B"/>
                </a:solidFill>
                <a:latin typeface="Noto Sans TC"/>
              </a:rPr>
              <a:t>目的</a:t>
            </a:r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7927655" y="1898274"/>
            <a:ext cx="993517" cy="294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500" b="1">
                <a:solidFill>
                  <a:srgbClr val="D97A00"/>
                </a:solidFill>
                <a:latin typeface="Noto Sans TC"/>
              </a:rPr>
              <a:t>降低SPI NG</a:t>
            </a:r>
          </a:p>
        </p:txBody>
      </p:sp>
      <p:sp xmlns:a="http://schemas.openxmlformats.org/drawingml/2006/main">
        <p:nvSpPr>
          <p:cNvPr id="7200" name="TextBox 7199"/>
          <p:cNvSpPr txBox="1"/>
          <p:nvPr/>
        </p:nvSpPr>
        <p:spPr>
          <a:xfrm>
            <a:off x="7927655" y="2202413"/>
            <a:ext cx="993517" cy="16727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750" b="0">
                <a:solidFill>
                  <a:srgbClr val="6B7280"/>
                </a:solidFill>
                <a:latin typeface="Noto Sans TC"/>
              </a:rPr>
              <a:t>錫少風險</a:t>
            </a:r>
          </a:p>
        </p:txBody>
      </p:sp>
      <p:sp xmlns:a="http://schemas.openxmlformats.org/drawingml/2006/main">
        <p:nvSpPr>
          <p:cNvPr id="7201" name="Rounded Rectangle 7200"/>
          <p:cNvSpPr/>
          <p:nvPr/>
        </p:nvSpPr>
        <p:spPr>
          <a:xfrm>
            <a:off x="5129586" y="2567377"/>
            <a:ext cx="3852413" cy="1368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2" name="TextBox 7201"/>
          <p:cNvSpPr txBox="1"/>
          <p:nvPr/>
        </p:nvSpPr>
        <p:spPr>
          <a:xfrm>
            <a:off x="5281655" y="2668758"/>
            <a:ext cx="3548275" cy="152068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50" b="1">
                <a:solidFill>
                  <a:srgbClr val="113A6B"/>
                </a:solidFill>
                <a:latin typeface="Noto Sans TC"/>
              </a:rPr>
              <a:t>Dummy 板材驗證與Cpk結果</a:t>
            </a:r>
          </a:p>
        </p:txBody>
      </p:sp>
      <p:pic xmlns:a="http://schemas.openxmlformats.org/drawingml/2006/main" xmlns:r="http://schemas.openxmlformats.org/officeDocument/2006/relationships">
        <p:nvPicPr>
          <p:cNvPr id="7203" name="Picture 7202" descr="after_cpk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655" y="2846172"/>
            <a:ext cx="3548275" cy="963103"/>
          </a:xfrm>
          <a:prstGeom prst="rect">
            <a:avLst/>
          </a:prstGeom>
        </p:spPr>
      </p:pic>
      <p:sp xmlns:a="http://schemas.openxmlformats.org/drawingml/2006/main">
        <p:nvSpPr>
          <p:cNvPr id="7204" name="Rounded Rectangle 7203"/>
          <p:cNvSpPr/>
          <p:nvPr/>
        </p:nvSpPr>
        <p:spPr>
          <a:xfrm>
            <a:off x="162000" y="3783931"/>
            <a:ext cx="4764827" cy="405517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5" name="TextBox 7204"/>
          <p:cNvSpPr txBox="1"/>
          <p:nvPr/>
        </p:nvSpPr>
        <p:spPr>
          <a:xfrm>
            <a:off x="314068" y="3890379"/>
            <a:ext cx="4460689" cy="14193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Noto Sans TC"/>
              </a:rPr>
              <a:t>結論：四週真空吸附改善板邊貼合，SPI2當站A+良率由 92.5% 提升至 96.33%。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937"/>
                </a:solidFill>
                <a:latin typeface="Noto Sans TC"/>
              </a:rPr>
              <a:t>D. 以營業秘密保護之考量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8252494" y="4300786"/>
            <a:ext cx="436853" cy="109213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r"/>
            <a:r>
              <a:rPr sz="800" b="0">
                <a:solidFill>
                  <a:srgbClr val="1F2937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ed Rectangle 3"/>
          <p:cNvSpPr/>
          <p:nvPr/>
        </p:nvSpPr>
        <p:spPr>
          <a:xfrm>
            <a:off x="454651" y="521999"/>
            <a:ext cx="2402696" cy="28177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585707" y="674898"/>
            <a:ext cx="2096898" cy="14416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200" b="1">
                <a:solidFill>
                  <a:srgbClr val="113A6B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85707" y="893325"/>
            <a:ext cx="2096898" cy="214058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真空治具流道與真空孔配置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PCB板邊吸附策略與貼合改善方法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板翹對SPI錫量分佈之判定邏輯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Dummy板驗證條件與Cpk判定結果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SPI2 A+良率改善數據與改善節點</a:t>
            </a:r>
          </a:p>
        </p:txBody>
      </p:sp>
      <p:sp xmlns:a="http://schemas.openxmlformats.org/drawingml/2006/main">
        <p:nvSpPr>
          <p:cNvPr id="7" name="Rounded Rectangle 6"/>
          <p:cNvSpPr/>
          <p:nvPr/>
        </p:nvSpPr>
        <p:spPr>
          <a:xfrm>
            <a:off x="3075775" y="521999"/>
            <a:ext cx="2402696" cy="28177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3206831" y="674898"/>
            <a:ext cx="2096898" cy="14416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200" b="1">
                <a:solidFill>
                  <a:srgbClr val="113A6B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3206831" y="893325"/>
            <a:ext cx="2096898" cy="214058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本案整合PCB翹曲、鋼板貼合、真空吸附與SPI錫量分佈的製程經驗。</a:t>
            </a:r>
          </a:p>
          <a:p>
            <a:pPr algn="l"/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外部若取得治具配置與驗證方法，可快速複製同類產品的刷錫穩定化方案，降低其試誤成本。</a:t>
            </a:r>
          </a:p>
        </p:txBody>
      </p:sp>
      <p:sp xmlns:a="http://schemas.openxmlformats.org/drawingml/2006/main">
        <p:nvSpPr>
          <p:cNvPr id="10" name="Rounded Rectangle 9"/>
          <p:cNvSpPr/>
          <p:nvPr/>
        </p:nvSpPr>
        <p:spPr>
          <a:xfrm>
            <a:off x="5696898" y="521999"/>
            <a:ext cx="2402696" cy="28177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827955" y="674898"/>
            <a:ext cx="2096898" cy="144161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200" b="1">
                <a:solidFill>
                  <a:srgbClr val="113A6B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827955" y="893325"/>
            <a:ext cx="2096898" cy="2140584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治具圖面、驗證報告與簡報標示Confidential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限定製程、設備、NPI與品保人員存取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改善前後數據、參數與圖面納入版本管制</a:t>
            </a:r>
          </a:p>
          <a:p>
            <a:pPr algn="l"/>
            <a:r>
              <a:rPr sz="919" b="0">
                <a:solidFill>
                  <a:srgbClr val="1F2937"/>
                </a:solidFill>
                <a:latin typeface="Noto Sans TC"/>
              </a:rPr>
              <a:t>• 對外不揭露真空孔配置、流道尺寸與驗證條件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54651" y="3492606"/>
            <a:ext cx="7644943" cy="32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563865" y="3579977"/>
            <a:ext cx="7426516" cy="109213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880" b="0">
                <a:solidFill>
                  <a:srgbClr val="1F2937"/>
                </a:solidFill>
                <a:latin typeface="Noto Sans TC"/>
              </a:rPr>
              <a:t>建議對外說法：透過真空治具改善提升刷錫穩定性與良率；不揭露治具流道、真空孔配置、尺寸與驗證條件。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 sz="900">
                <a:solidFill>
                  <a:srgbClr val="1F2937"/>
                </a:solidFill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162000" y="847301"/>
            <a:ext cx="1962832" cy="2243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885952" y="1035936"/>
            <a:ext cx="484335" cy="433352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289456" y="1596746"/>
            <a:ext cx="1707919" cy="16824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150" b="1">
                <a:solidFill>
                  <a:srgbClr val="113A6B"/>
                </a:solidFill>
                <a:latin typeface="Noto Sans TC"/>
              </a:rPr>
              <a:t>問題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14948" y="1815971"/>
            <a:ext cx="1656936" cy="8667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PCB板材翹曲造成鋼板貼合不足，導致SPI錫量分佈不穩定。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2430728" y="847301"/>
            <a:ext cx="1962832" cy="2243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3154682" y="1035936"/>
            <a:ext cx="484335" cy="433352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558185" y="1596746"/>
            <a:ext cx="1707919" cy="16824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150" b="1">
                <a:solidFill>
                  <a:srgbClr val="113A6B"/>
                </a:solidFill>
                <a:latin typeface="Noto Sans TC"/>
              </a:rPr>
              <a:t>方案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583676" y="1815971"/>
            <a:ext cx="1656936" cy="8667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增加四週真空流道，強化板邊吸附並改善整片貼合。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4699457" y="847301"/>
            <a:ext cx="1962832" cy="2243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Oval 7181"/>
          <p:cNvSpPr/>
          <p:nvPr/>
        </p:nvSpPr>
        <p:spPr>
          <a:xfrm>
            <a:off x="5423411" y="1035936"/>
            <a:ext cx="484335" cy="433352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4826914" y="1596746"/>
            <a:ext cx="1707919" cy="16824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150" b="1">
                <a:solidFill>
                  <a:srgbClr val="113A6B"/>
                </a:solidFill>
                <a:latin typeface="Noto Sans TC"/>
              </a:rPr>
              <a:t>驗證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852405" y="1815971"/>
            <a:ext cx="1656936" cy="8667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Dummy板材改善後 Cpk 1.9–2.6，面積與高度能力達A+。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6968186" y="847301"/>
            <a:ext cx="1962832" cy="2243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Oval 7185"/>
          <p:cNvSpPr/>
          <p:nvPr/>
        </p:nvSpPr>
        <p:spPr>
          <a:xfrm>
            <a:off x="7692139" y="1035936"/>
            <a:ext cx="484335" cy="433352"/>
          </a:xfrm>
          <a:prstGeom prst="ellipse">
            <a:avLst/>
          </a:prstGeom>
          <a:solidFill>
            <a:srgbClr val="1E5B9F"/>
          </a:solidFill>
          <a:ln>
            <a:solidFill>
              <a:srgbClr val="1E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7095642" y="1596746"/>
            <a:ext cx="1707919" cy="168242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ctr"/>
            <a:r>
              <a:rPr sz="1150" b="1">
                <a:solidFill>
                  <a:srgbClr val="113A6B"/>
                </a:solidFill>
                <a:latin typeface="Noto Sans TC"/>
              </a:rPr>
              <a:t>價值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7121134" y="1815971"/>
            <a:ext cx="1656936" cy="866705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SPI2 A+良率由92.5%提升至96.33%，降低錫少NG風險。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162000" y="3370943"/>
            <a:ext cx="4282544" cy="71375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289456" y="3493301"/>
            <a:ext cx="4027630" cy="152948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1">
                <a:solidFill>
                  <a:srgbClr val="113A6B"/>
                </a:solidFill>
                <a:latin typeface="Noto Sans TC"/>
              </a:rPr>
              <a:t>建議導入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289456" y="3702330"/>
            <a:ext cx="4027630" cy="178437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完成量產治具版本確認、開線點檢與首月SPI2良率追蹤。</a:t>
            </a:r>
          </a:p>
        </p:txBody>
      </p:sp>
      <p:sp xmlns:a="http://schemas.openxmlformats.org/drawingml/2006/main">
        <p:nvSpPr>
          <p:cNvPr id="7192" name="Rounded Rectangle 7191"/>
          <p:cNvSpPr/>
          <p:nvPr/>
        </p:nvSpPr>
        <p:spPr>
          <a:xfrm>
            <a:off x="4699455" y="3370943"/>
            <a:ext cx="4282544" cy="713755"/>
          </a:xfrm>
          <a:prstGeom prst="roundRect">
            <a:avLst/>
          </a:prstGeom>
          <a:solidFill>
            <a:srgbClr val="E9F7F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4826912" y="3493301"/>
            <a:ext cx="4027630" cy="152948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1100" b="1">
                <a:solidFill>
                  <a:srgbClr val="113A6B"/>
                </a:solidFill>
                <a:latin typeface="Noto Sans TC"/>
              </a:rPr>
              <a:t>驗收 KPI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4826912" y="3702330"/>
            <a:ext cx="4027630" cy="178437"/>
          </a:xfrm>
          <a:prstGeom prst="rect">
            <a:avLst/>
          </a:prstGeom>
          <a:noFill/>
        </p:spPr>
        <p:txBody>
          <a:bodyPr wrap="square" anchor="t" lIns="21600" rIns="21600" tIns="21600" bIns="216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Noto Sans TC"/>
              </a:rPr>
              <a:t>SPI2 A+良率、SPI錫少NG率、面積/高度Cpk、板邊吸附穩定性。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