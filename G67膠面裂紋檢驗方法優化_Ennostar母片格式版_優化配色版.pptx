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不良率(%)</c:v>
                </c:pt>
              </c:strCache>
            </c:strRef>
          </c:tx>
          <c:spPr>
            <a:solidFill>
              <a:srgbClr val="2F80C1"/>
            </a:solidFill>
            <a:ln>
              <a:solidFill/>
            </a:ln>
          </c:spPr>
          <c:dPt>
            <c:idx val="0"/>
            <c:spPr>
              <a:solidFill>
                <a:srgbClr val="D97706"/>
              </a:solidFill>
            </c:spPr>
          </c:dPt>
          <c:dPt>
            <c:idx val="1"/>
            <c:spPr>
              <a:solidFill>
                <a:srgbClr val="0F766E"/>
              </a:solidFill>
            </c:spPr>
          </c:dPt>
          <c:dLbls>
            <c:numFmt formatCode="0.00&quot;%&quot;" sourceLinked="0"/>
            <c:txPr>
              <a:bodyPr/>
              <a:lstStyle/>
              <a:p>
                <a:pPr>
                  <a:defRPr sz="900">
                    <a:latin typeface="Noto Sans TC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變更前</c:v>
                </c:pt>
                <c:pt idx="1">
                  <c:v>變更後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G67膠面裂紋檢驗方法優化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  <a:ln xmlns:a="http://schemas.openxmlformats.org/drawingml/2006/main">
            <a:solid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>
                <a:solidFill/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solidFill/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810000"/>
            <a:ext cx="6588000" cy="288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88000" y="871200"/>
            <a:ext cx="6372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TC"/>
              </a:rPr>
              <a:t>將檢驗顯微鏡工作距離由 8 mm 提升至 23 mm，避免鏡頭碰觸膠面造成刮傷報廢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360000" y="1494000"/>
            <a:ext cx="251999" cy="251999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720000" y="1526400"/>
            <a:ext cx="2340000" cy="14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7" name="Oval 7176"/>
          <p:cNvSpPr/>
          <p:nvPr/>
        </p:nvSpPr>
        <p:spPr>
          <a:xfrm>
            <a:off x="360000" y="1854000"/>
            <a:ext cx="251999" cy="251999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720000" y="1886400"/>
            <a:ext cx="2340000" cy="14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9" name="Oval 7178"/>
          <p:cNvSpPr/>
          <p:nvPr/>
        </p:nvSpPr>
        <p:spPr>
          <a:xfrm>
            <a:off x="360000" y="2214000"/>
            <a:ext cx="251999" cy="251999"/>
          </a:xfrm>
          <a:prstGeom prst="ellipse">
            <a:avLst/>
          </a:prstGeom>
          <a:solidFill>
            <a:srgbClr val="2F80C1"/>
          </a:solidFill>
          <a:ln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720000" y="2246400"/>
            <a:ext cx="2340000" cy="14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360000" y="2574000"/>
            <a:ext cx="251999" cy="251999"/>
          </a:xfrm>
          <a:prstGeom prst="ellipse">
            <a:avLst/>
          </a:prstGeom>
          <a:solidFill>
            <a:srgbClr val="5B5FC7"/>
          </a:solidFill>
          <a:ln>
            <a:solidFill>
              <a:srgbClr val="5B5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720000" y="2606400"/>
            <a:ext cx="2340000" cy="14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60000" y="2934000"/>
            <a:ext cx="2592000" cy="16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4" name="Round Same Side Corner Rectangle 7183"/>
          <p:cNvSpPr/>
          <p:nvPr/>
        </p:nvSpPr>
        <p:spPr>
          <a:xfrm>
            <a:off x="4068000" y="1296000"/>
            <a:ext cx="2520000" cy="187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4176000" y="1422000"/>
            <a:ext cx="2304000" cy="16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改善概念｜Overview</a:t>
            </a:r>
          </a:p>
        </p:txBody>
      </p:sp>
      <p:sp xmlns:a="http://schemas.openxmlformats.org/drawingml/2006/main">
        <p:nvSpPr>
          <p:cNvPr id="7186" name="Round Same Side Corner Rectangle 7185"/>
          <p:cNvSpPr/>
          <p:nvPr/>
        </p:nvSpPr>
        <p:spPr>
          <a:xfrm>
            <a:off x="4248000" y="1872000"/>
            <a:ext cx="432000" cy="432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4266000" y="1918800"/>
            <a:ext cx="396000" cy="9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  <a:latin typeface="Noto Sans TC"/>
              </a:rPr>
              <a:t>現況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4266000" y="2044800"/>
            <a:ext cx="396000" cy="19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鏡頭距離過近</a:t>
            </a:r>
          </a:p>
        </p:txBody>
      </p:sp>
      <p:sp xmlns:a="http://schemas.openxmlformats.org/drawingml/2006/main">
        <p:nvSpPr>
          <p:cNvPr id="7189" name="Chevron 7188"/>
          <p:cNvSpPr/>
          <p:nvPr/>
        </p:nvSpPr>
        <p:spPr>
          <a:xfrm>
            <a:off x="4698000" y="1998000"/>
            <a:ext cx="162000" cy="162000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Round Same Side Corner Rectangle 7189"/>
          <p:cNvSpPr/>
          <p:nvPr/>
        </p:nvSpPr>
        <p:spPr>
          <a:xfrm>
            <a:off x="4842000" y="1872000"/>
            <a:ext cx="432000" cy="432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4860000" y="1918800"/>
            <a:ext cx="396000" cy="9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  <a:latin typeface="Noto Sans TC"/>
              </a:rPr>
              <a:t>原因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860000" y="2044800"/>
            <a:ext cx="396000" cy="19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鏡頭碰觸膠面</a:t>
            </a:r>
          </a:p>
        </p:txBody>
      </p:sp>
      <p:sp xmlns:a="http://schemas.openxmlformats.org/drawingml/2006/main">
        <p:nvSpPr>
          <p:cNvPr id="7193" name="Chevron 7192"/>
          <p:cNvSpPr/>
          <p:nvPr/>
        </p:nvSpPr>
        <p:spPr>
          <a:xfrm>
            <a:off x="5292000" y="1998000"/>
            <a:ext cx="162000" cy="162000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Round Same Side Corner Rectangle 7193"/>
          <p:cNvSpPr/>
          <p:nvPr/>
        </p:nvSpPr>
        <p:spPr>
          <a:xfrm>
            <a:off x="5436000" y="1872000"/>
            <a:ext cx="432000" cy="432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454000" y="1918800"/>
            <a:ext cx="396000" cy="9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0F766E"/>
                </a:solidFill>
                <a:latin typeface="Noto Sans TC"/>
              </a:rPr>
              <a:t>改善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5454000" y="2044800"/>
            <a:ext cx="396000" cy="19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更換顯微鏡</a:t>
            </a:r>
          </a:p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距離23mm</a:t>
            </a:r>
          </a:p>
        </p:txBody>
      </p:sp>
      <p:sp xmlns:a="http://schemas.openxmlformats.org/drawingml/2006/main">
        <p:nvSpPr>
          <p:cNvPr id="7197" name="Chevron 7196"/>
          <p:cNvSpPr/>
          <p:nvPr/>
        </p:nvSpPr>
        <p:spPr>
          <a:xfrm>
            <a:off x="5886000" y="1998000"/>
            <a:ext cx="162000" cy="162000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Round Same Side Corner Rectangle 7197"/>
          <p:cNvSpPr/>
          <p:nvPr/>
        </p:nvSpPr>
        <p:spPr>
          <a:xfrm>
            <a:off x="6030000" y="1872000"/>
            <a:ext cx="432000" cy="432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6048000" y="1918800"/>
            <a:ext cx="396000" cy="9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2F80C1"/>
                </a:solidFill>
                <a:latin typeface="Noto Sans TC"/>
              </a:rPr>
              <a:t>結果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6048000" y="2044800"/>
            <a:ext cx="396000" cy="19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膠面裂紋不良</a:t>
            </a:r>
          </a:p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降為0%</a:t>
            </a:r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288000" y="3240000"/>
            <a:ext cx="342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由近距離高風險檢驗，轉為高距離低碰觸風險之標準化檢驗方法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solidFill/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288000" y="810000"/>
            <a:ext cx="1728000" cy="14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膠面裂紋不良發生背景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16000" y="1026000"/>
            <a:ext cx="1764000" cy="64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G67產品於AVI／顯微鏡外觀檢驗時，因檢驗顯微鏡物鏡與待測膠面距離過近，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在人工上／下料或微調對焦過程中，物鏡前端可能接觸膠面，造成刮傷或裂紋，進而導致產品報廢。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現行最短工作距離僅約 8 mm，對人工取放容錯不足。</a:t>
            </a:r>
          </a:p>
        </p:txBody>
      </p:sp>
      <p:pic xmlns:a="http://schemas.openxmlformats.org/drawingml/2006/main" xmlns:r="http://schemas.openxmlformats.org/officeDocument/2006/relationships">
        <p:nvPicPr>
          <p:cNvPr id="7175" name="Picture 717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99" y="774000"/>
            <a:ext cx="3276000" cy="1565999"/>
          </a:xfrm>
          <a:prstGeom prst="rect">
            <a:avLst/>
          </a:prstGeom>
          <a:ln>
            <a:solidFill/>
          </a:ln>
        </p:spPr>
      </p:pic>
      <p:sp xmlns:a="http://schemas.openxmlformats.org/drawingml/2006/main">
        <p:nvSpPr>
          <p:cNvPr id="7176" name="Round Same Side Corner Rectangle 7175"/>
          <p:cNvSpPr/>
          <p:nvPr/>
        </p:nvSpPr>
        <p:spPr>
          <a:xfrm>
            <a:off x="2088000" y="882000"/>
            <a:ext cx="666000" cy="684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2142000" y="936000"/>
            <a:ext cx="558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2142000" y="1116000"/>
            <a:ext cx="558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142000" y="1404000"/>
            <a:ext cx="558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0" name="Round Same Side Corner Rectangle 7179"/>
          <p:cNvSpPr/>
          <p:nvPr/>
        </p:nvSpPr>
        <p:spPr>
          <a:xfrm>
            <a:off x="2808000" y="882000"/>
            <a:ext cx="432000" cy="684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2862000" y="936000"/>
            <a:ext cx="323999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2F80C1"/>
                </a:solidFill>
                <a:latin typeface="Noto Sans TC"/>
              </a:rPr>
              <a:t>距離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2862000" y="1116000"/>
            <a:ext cx="323999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8 mm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2862000" y="1404000"/>
            <a:ext cx="323999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目前作法</a:t>
            </a:r>
          </a:p>
        </p:txBody>
      </p:sp>
      <p:sp xmlns:a="http://schemas.openxmlformats.org/drawingml/2006/main">
        <p:nvSpPr>
          <p:cNvPr id="7184" name="Round Same Side Corner Rectangle 7183"/>
          <p:cNvSpPr/>
          <p:nvPr/>
        </p:nvSpPr>
        <p:spPr>
          <a:xfrm>
            <a:off x="216000" y="2466000"/>
            <a:ext cx="3024000" cy="756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324000" y="2548800"/>
            <a:ext cx="90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Noto Sans TC"/>
              </a:rPr>
              <a:t>問題描述</a:t>
            </a:r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342000" y="2718000"/>
            <a:ext cx="2826000" cy="34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附件Before顯示多筆膠面刮傷案例，刮傷位置與顯微鏡接觸軌跡一致；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魚骨圖分析亦指出「Plasma OM operation method」與鏡頭／治具接觸風險為主要關鍵因子。</a:t>
            </a:r>
          </a:p>
        </p:txBody>
      </p:sp>
      <p:sp xmlns:a="http://schemas.openxmlformats.org/drawingml/2006/main">
        <p:nvSpPr>
          <p:cNvPr id="7187" name="Round Same Side Corner Rectangle 7186"/>
          <p:cNvSpPr/>
          <p:nvPr/>
        </p:nvSpPr>
        <p:spPr>
          <a:xfrm>
            <a:off x="3311999" y="2466000"/>
            <a:ext cx="3276000" cy="75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3420000" y="2548800"/>
            <a:ext cx="90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Noto Sans TC"/>
              </a:rPr>
              <a:t>主要風險</a:t>
            </a:r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3438000" y="2700000"/>
            <a:ext cx="3006000" cy="37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人工上／下料時碰觸物鏡前端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微調對焦時膠面安全間隙不足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一旦接觸即形成外觀不良，造成報廢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solidFill/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792000"/>
            <a:ext cx="3420000" cy="219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88000" y="846000"/>
            <a:ext cx="3168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改善前後比較（附件 After）</a:t>
            </a:r>
          </a:p>
        </p:txBody>
      </p:sp>
      <p:pic xmlns:a="http://schemas.openxmlformats.org/drawingml/2006/main" xmlns:r="http://schemas.openxmlformats.org/officeDocument/2006/relationships">
        <p:nvPicPr>
          <p:cNvPr id="7175" name="Picture 717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007999"/>
            <a:ext cx="3240000" cy="1728000"/>
          </a:xfrm>
          <a:prstGeom prst="rect">
            <a:avLst/>
          </a:prstGeom>
          <a:ln>
            <a:solidFill/>
          </a:ln>
        </p:spPr>
      </p:pic>
      <p:sp xmlns:a="http://schemas.openxmlformats.org/drawingml/2006/main">
        <p:nvSpPr>
          <p:cNvPr id="7176" name="Round Same Side Corner Rectangle 7175"/>
          <p:cNvSpPr/>
          <p:nvPr/>
        </p:nvSpPr>
        <p:spPr>
          <a:xfrm>
            <a:off x="3671999" y="827999"/>
            <a:ext cx="2951999" cy="827999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798000" y="917999"/>
            <a:ext cx="108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TC"/>
              </a:rPr>
              <a:t>創新方案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798000" y="1080000"/>
            <a:ext cx="2700000" cy="43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更換檢驗顯微鏡，將物鏡與待測物最短距離由 8 mm 提升至 23 mm。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增加操作容錯，降低人工取放時碰觸膠面的機率。</a:t>
            </a:r>
          </a:p>
        </p:txBody>
      </p:sp>
      <p:sp xmlns:a="http://schemas.openxmlformats.org/drawingml/2006/main">
        <p:nvSpPr>
          <p:cNvPr id="7179" name="Round Same Side Corner Rectangle 7178"/>
          <p:cNvSpPr/>
          <p:nvPr/>
        </p:nvSpPr>
        <p:spPr>
          <a:xfrm>
            <a:off x="3671999" y="1782000"/>
            <a:ext cx="2951999" cy="1206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3798000" y="1872000"/>
            <a:ext cx="108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TC"/>
              </a:rPr>
              <a:t>標準化內容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3798000" y="2034000"/>
            <a:ext cx="2700000" cy="46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規範PCB放置方式，須以「水平滑入」方式送入檢驗位置。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檢查膠面外觀時同步微調焦距，確保異常發生時可穩定檢出。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搭配新顯微鏡與作業手法，兼顧安全距離與檢出能力。</a:t>
            </a:r>
          </a:p>
        </p:txBody>
      </p:sp>
      <p:sp xmlns:a="http://schemas.openxmlformats.org/drawingml/2006/main">
        <p:nvSpPr>
          <p:cNvPr id="7182" name="Round Same Side Corner Rectangle 7181"/>
          <p:cNvSpPr/>
          <p:nvPr/>
        </p:nvSpPr>
        <p:spPr>
          <a:xfrm>
            <a:off x="216000" y="3078000"/>
            <a:ext cx="6408000" cy="360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24000" y="3186000"/>
            <a:ext cx="414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0F766E"/>
                </a:solidFill>
                <a:latin typeface="Noto Sans TC"/>
              </a:rPr>
              <a:t>設計核心：以設備選型 + 作業標準化同步改善，從源頭消除「鏡頭碰觸膠面」風險。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solidFill/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216000" y="827999"/>
            <a:ext cx="3204000" cy="1908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42000" y="917999"/>
            <a:ext cx="2916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膠面裂紋不良率改善（圖示以前值區間中值 0.75% 呈現）</a:t>
            </a:r>
          </a:p>
        </p:txBody>
      </p:sp>
      <p:graphicFrame xmlns:a="http://schemas.openxmlformats.org/drawingml/2006/main">
        <p:nvGraphicFramePr>
          <p:cNvPr id="7175" name="Chart 7174"/>
          <p:cNvGraphicFramePr>
            <a:graphicFrameLocks noGrp="1"/>
          </p:cNvGraphicFramePr>
          <p:nvPr/>
        </p:nvGraphicFramePr>
        <p:xfrm>
          <a:off x="378000" y="1080000"/>
          <a:ext cx="2844000" cy="12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42000" y="2430000"/>
            <a:ext cx="2880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Noto Sans TC"/>
              </a:rPr>
              <a:t>註：變更前實績區間為 0.5–1.0%；圖表採中值 0.75% 作視覺化示意，實際良率改善幅度為 0.5–1.0%。</a:t>
            </a:r>
          </a:p>
        </p:txBody>
      </p:sp>
      <p:sp xmlns:a="http://schemas.openxmlformats.org/drawingml/2006/main">
        <p:nvSpPr>
          <p:cNvPr id="7177" name="Round Same Side Corner Rectangle 7176"/>
          <p:cNvSpPr/>
          <p:nvPr/>
        </p:nvSpPr>
        <p:spPr>
          <a:xfrm>
            <a:off x="3636000" y="846000"/>
            <a:ext cx="864000" cy="612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690000" y="900000"/>
            <a:ext cx="75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690000" y="1080000"/>
            <a:ext cx="756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3690000" y="1368000"/>
            <a:ext cx="75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1" name="Round Same Side Corner Rectangle 7180"/>
          <p:cNvSpPr/>
          <p:nvPr/>
        </p:nvSpPr>
        <p:spPr>
          <a:xfrm>
            <a:off x="4608000" y="846000"/>
            <a:ext cx="756000" cy="612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4662000" y="900000"/>
            <a:ext cx="648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Noto Sans TC"/>
              </a:rPr>
              <a:t>變更後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4662000" y="1080000"/>
            <a:ext cx="648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0%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662000" y="1368000"/>
            <a:ext cx="648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5" name="Round Same Side Corner Rectangle 7184"/>
          <p:cNvSpPr/>
          <p:nvPr/>
        </p:nvSpPr>
        <p:spPr>
          <a:xfrm>
            <a:off x="5472000" y="846000"/>
            <a:ext cx="1080000" cy="612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5526000" y="900000"/>
            <a:ext cx="972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2F80C1"/>
                </a:solidFill>
                <a:latin typeface="Noto Sans TC"/>
              </a:rPr>
              <a:t>工作距離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526000" y="1080000"/>
            <a:ext cx="972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8 → 23 mm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526000" y="1368000"/>
            <a:ext cx="972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+15 mm</a:t>
            </a:r>
          </a:p>
        </p:txBody>
      </p:sp>
      <p:sp xmlns:a="http://schemas.openxmlformats.org/drawingml/2006/main">
        <p:nvSpPr>
          <p:cNvPr id="7189" name="Round Same Side Corner Rectangle 7188"/>
          <p:cNvSpPr/>
          <p:nvPr/>
        </p:nvSpPr>
        <p:spPr>
          <a:xfrm>
            <a:off x="3636000" y="1602000"/>
            <a:ext cx="1404000" cy="648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3690000" y="1656000"/>
            <a:ext cx="129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Noto Sans TC"/>
              </a:rPr>
              <a:t>G67整體良率提升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690000" y="1836000"/>
            <a:ext cx="1296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3690000" y="2124000"/>
            <a:ext cx="129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依實績推估</a:t>
            </a:r>
          </a:p>
        </p:txBody>
      </p:sp>
      <p:sp xmlns:a="http://schemas.openxmlformats.org/drawingml/2006/main">
        <p:nvSpPr>
          <p:cNvPr id="7193" name="Round Same Side Corner Rectangle 7192"/>
          <p:cNvSpPr/>
          <p:nvPr/>
        </p:nvSpPr>
        <p:spPr>
          <a:xfrm>
            <a:off x="5148000" y="1602000"/>
            <a:ext cx="1404000" cy="648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5202000" y="1656000"/>
            <a:ext cx="129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Noto Sans TC"/>
              </a:rPr>
              <a:t>報廢風險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202000" y="1836000"/>
            <a:ext cx="1296000" cy="306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顯著降低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5202000" y="2124000"/>
            <a:ext cx="1296000" cy="180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膠面刮傷歸零</a:t>
            </a:r>
          </a:p>
        </p:txBody>
      </p:sp>
      <p:sp xmlns:a="http://schemas.openxmlformats.org/drawingml/2006/main">
        <p:nvSpPr>
          <p:cNvPr id="7197" name="Round Same Side Corner Rectangle 7196"/>
          <p:cNvSpPr/>
          <p:nvPr/>
        </p:nvSpPr>
        <p:spPr>
          <a:xfrm>
            <a:off x="3636000" y="2412000"/>
            <a:ext cx="2916000" cy="720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3761999" y="2502000"/>
            <a:ext cx="90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TC"/>
              </a:rPr>
              <a:t>其他效益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3761999" y="2664000"/>
            <a:ext cx="2682000" cy="34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降低人為接觸造成之外觀報廢。</a:t>
            </a:r>
          </a:p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提升檢驗作業安全間隙與操作穩定性。</a:t>
            </a:r>
          </a:p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有助於降低作業員訓練與換線風險。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7092000" y="4698000"/>
            <a:ext cx="324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 Same Side Corner Rectangle 3"/>
          <p:cNvSpPr/>
          <p:nvPr/>
        </p:nvSpPr>
        <p:spPr>
          <a:xfrm>
            <a:off x="108000" y="846000"/>
            <a:ext cx="2124000" cy="2376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ound Same Side Corner Rectangle 4"/>
          <p:cNvSpPr/>
          <p:nvPr/>
        </p:nvSpPr>
        <p:spPr>
          <a:xfrm>
            <a:off x="2448000" y="846000"/>
            <a:ext cx="2124000" cy="2376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ound Same Side Corner Rectangle 5"/>
          <p:cNvSpPr/>
          <p:nvPr/>
        </p:nvSpPr>
        <p:spPr>
          <a:xfrm>
            <a:off x="4788000" y="846000"/>
            <a:ext cx="2124000" cy="2376000"/>
          </a:xfrm>
          <a:prstGeom prst="round2SameRect">
            <a:avLst/>
          </a:prstGeom>
          <a:solidFill>
            <a:srgbClr val="F5F3FF"/>
          </a:solidFill>
          <a:ln w="12700">
            <a:solidFill>
              <a:srgbClr val="5B5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234000" y="954000"/>
            <a:ext cx="90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234000" y="1134000"/>
            <a:ext cx="1872000" cy="176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顯微鏡選型規格與工作距離設定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檢驗治具搭配與安全間隙設計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上／下料與水平滑入之作業手法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焦距調整與異常判定標準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改善前後影像案例與內部驗證結果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2574000" y="954000"/>
            <a:ext cx="90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2574000" y="1134000"/>
            <a:ext cx="1890000" cy="176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本案並非單純更換設備，而是結合工作距離、治具空間、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人工取放路徑與判定方法所形成的檢驗Know-how。</a:t>
            </a:r>
          </a:p>
          <a:p>
            <a:pPr algn="l"/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若外部取得，即可快速複製同類產品的低接觸風險檢驗方式，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縮短試誤時間並降低報廢損失。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4914000" y="954000"/>
            <a:ext cx="1080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5B5FC7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4914000" y="1134000"/>
            <a:ext cx="1872000" cy="1764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簡報、影像與驗證資料標示為 Confidential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限制製程、NPI、設備與品保人員存取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改善參數、驗證結果與作業文件納入版本管制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對外不揭露設備規格細節與操作條件</a:t>
            </a:r>
          </a:p>
        </p:txBody>
      </p:sp>
      <p:sp xmlns:a="http://schemas.openxmlformats.org/drawingml/2006/main">
        <p:nvSpPr>
          <p:cNvPr id="13" name="Round Same Side Corner Rectangle 12"/>
          <p:cNvSpPr/>
          <p:nvPr/>
        </p:nvSpPr>
        <p:spPr>
          <a:xfrm>
            <a:off x="108000" y="3311999"/>
            <a:ext cx="6768000" cy="306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98000" y="3394800"/>
            <a:ext cx="6552000" cy="10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建議對外說法：透過檢驗設備與作業方法優化，降低膠面刮傷風險並提升G67檢驗穩定性；不揭露設備規格、距離條件與操作細節。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ln xmlns:a="http://schemas.openxmlformats.org/drawingml/2006/main">
            <a:solid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/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solidFill/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864000"/>
            <a:ext cx="1530000" cy="1602000"/>
          </a:xfrm>
          <a:prstGeom prst="round2Same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737999" y="1007999"/>
            <a:ext cx="413999" cy="36000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96000" y="1440000"/>
            <a:ext cx="1116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06000" y="1638000"/>
            <a:ext cx="1278000" cy="61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顯微鏡工作距離過近，人工取放時可能碰觸膠面，造成刮傷報廢。</a:t>
            </a:r>
          </a:p>
        </p:txBody>
      </p:sp>
      <p:sp xmlns:a="http://schemas.openxmlformats.org/drawingml/2006/main">
        <p:nvSpPr>
          <p:cNvPr id="7177" name="Round Same Side Corner Rectangle 7176"/>
          <p:cNvSpPr/>
          <p:nvPr/>
        </p:nvSpPr>
        <p:spPr>
          <a:xfrm>
            <a:off x="1872000" y="864000"/>
            <a:ext cx="1530000" cy="1602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2430000" y="1007999"/>
            <a:ext cx="413999" cy="360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088000" y="1440000"/>
            <a:ext cx="1116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1998000" y="1638000"/>
            <a:ext cx="1278000" cy="61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更換檢驗顯微鏡，將工作距離由 8 mm 提升至 23 mm，並標準化水平滑入作業。</a:t>
            </a:r>
          </a:p>
        </p:txBody>
      </p:sp>
      <p:sp xmlns:a="http://schemas.openxmlformats.org/drawingml/2006/main">
        <p:nvSpPr>
          <p:cNvPr id="7181" name="Round Same Side Corner Rectangle 7180"/>
          <p:cNvSpPr/>
          <p:nvPr/>
        </p:nvSpPr>
        <p:spPr>
          <a:xfrm>
            <a:off x="3564000" y="864000"/>
            <a:ext cx="1530000" cy="1602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4122000" y="1007999"/>
            <a:ext cx="413999" cy="360000"/>
          </a:xfrm>
          <a:prstGeom prst="ellipse">
            <a:avLst/>
          </a:prstGeom>
          <a:solidFill>
            <a:srgbClr val="2F80C1"/>
          </a:solidFill>
          <a:ln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780000" y="1440000"/>
            <a:ext cx="1116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2F80C1"/>
                </a:solidFill>
                <a:latin typeface="Noto Sans TC"/>
              </a:rPr>
              <a:t>效益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3690000" y="1638000"/>
            <a:ext cx="1278000" cy="61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膠面裂紋不良由 0.5–1% 降至 0%，G67整體良率提升 0.5–1%。</a:t>
            </a:r>
          </a:p>
        </p:txBody>
      </p:sp>
      <p:sp xmlns:a="http://schemas.openxmlformats.org/drawingml/2006/main">
        <p:nvSpPr>
          <p:cNvPr id="7185" name="Round Same Side Corner Rectangle 7184"/>
          <p:cNvSpPr/>
          <p:nvPr/>
        </p:nvSpPr>
        <p:spPr>
          <a:xfrm>
            <a:off x="5256000" y="864000"/>
            <a:ext cx="1530000" cy="1602000"/>
          </a:xfrm>
          <a:prstGeom prst="round2SameRect">
            <a:avLst/>
          </a:prstGeom>
          <a:solidFill>
            <a:srgbClr val="F5F3FF"/>
          </a:solidFill>
          <a:ln w="12700">
            <a:solidFill>
              <a:srgbClr val="5B5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5813999" y="1007999"/>
            <a:ext cx="413999" cy="360000"/>
          </a:xfrm>
          <a:prstGeom prst="ellipse">
            <a:avLst/>
          </a:prstGeom>
          <a:solidFill>
            <a:srgbClr val="5B5FC7"/>
          </a:solidFill>
          <a:ln>
            <a:solidFill>
              <a:srgbClr val="5B5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472000" y="1440000"/>
            <a:ext cx="1116000" cy="125999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5B5FC7"/>
                </a:solidFill>
                <a:latin typeface="Noto Sans TC"/>
              </a:rPr>
              <a:t>保護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382000" y="1638000"/>
            <a:ext cx="1278000" cy="61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設備選型、距離條件與作業手法屬內部檢驗Know-how，應納入權限與版本管制。</a:t>
            </a:r>
          </a:p>
        </p:txBody>
      </p:sp>
      <p:sp xmlns:a="http://schemas.openxmlformats.org/drawingml/2006/main">
        <p:nvSpPr>
          <p:cNvPr id="7189" name="Round Same Side Corner Rectangle 7188"/>
          <p:cNvSpPr/>
          <p:nvPr/>
        </p:nvSpPr>
        <p:spPr>
          <a:xfrm>
            <a:off x="180000" y="2646000"/>
            <a:ext cx="3168000" cy="558000"/>
          </a:xfrm>
          <a:prstGeom prst="round2Same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306000" y="2743200"/>
            <a:ext cx="720000" cy="10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06000" y="2887200"/>
            <a:ext cx="2880000" cy="16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於G67檢驗站全面導入新顯微鏡與作業標準，並完成教育訓練與首月追蹤。</a:t>
            </a:r>
          </a:p>
        </p:txBody>
      </p:sp>
      <p:sp xmlns:a="http://schemas.openxmlformats.org/drawingml/2006/main">
        <p:nvSpPr>
          <p:cNvPr id="7192" name="Round Same Side Corner Rectangle 7191"/>
          <p:cNvSpPr/>
          <p:nvPr/>
        </p:nvSpPr>
        <p:spPr>
          <a:xfrm>
            <a:off x="3528000" y="2646000"/>
            <a:ext cx="3096000" cy="558000"/>
          </a:xfrm>
          <a:prstGeom prst="round2SameRect">
            <a:avLst/>
          </a:prstGeom>
          <a:solidFill>
            <a:srgbClr val="EFF6FF"/>
          </a:solidFill>
          <a:ln w="12700">
            <a:solidFill>
              <a:srgbClr val="2F8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3654000" y="2743200"/>
            <a:ext cx="720000" cy="108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2F80C1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654000" y="2887200"/>
            <a:ext cx="2826000" cy="162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膠面裂紋不良率、G67整體良率、作業遵守率、異常再發率。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