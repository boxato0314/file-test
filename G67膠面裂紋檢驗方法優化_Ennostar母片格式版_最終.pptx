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media/image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de4a4a8a8649f3" Type="http://schemas.openxmlformats.org/package/2006/relationships/metadata/core-properties" Target="docProps/core.xml"/><Relationship Id="R3c3dbadf44f441b5" Type="http://schemas.openxmlformats.org/officeDocument/2006/relationships/officeDocument" Target="ppt/presentation.xml"/><Relationship Id="R9744d7edbe94428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e6db5ae0474778"/>
  </p:sldMasterIdLst>
  <p:notesMasterIdLst>
    <p:notesMasterId xmlns:r="http://schemas.openxmlformats.org/officeDocument/2006/relationships" r:id="Rbf68ef057a2c4852"/>
  </p:notesMasterIdLst>
  <p:sldIdLst>
    <p:sldId xmlns:r="http://schemas.openxmlformats.org/officeDocument/2006/relationships" id="256" r:id="R4ef526af56cf41e9"/>
    <p:sldId xmlns:r="http://schemas.openxmlformats.org/officeDocument/2006/relationships" id="257" r:id="R205cf061131b4155"/>
    <p:sldId xmlns:r="http://schemas.openxmlformats.org/officeDocument/2006/relationships" id="258" r:id="R044298f454e3456f"/>
    <p:sldId xmlns:r="http://schemas.openxmlformats.org/officeDocument/2006/relationships" id="259" r:id="R8ffd1f2112894a20"/>
    <p:sldId xmlns:r="http://schemas.openxmlformats.org/officeDocument/2006/relationships" id="260" r:id="R01342e450004429f"/>
    <p:sldId xmlns:r="http://schemas.openxmlformats.org/officeDocument/2006/relationships" id="261" r:id="R8e3ea5af091b4834"/>
    <p:sldId xmlns:r="http://schemas.openxmlformats.org/officeDocument/2006/relationships" id="262" r:id="R166fe0d31b4641ad"/>
    <p:sldId xmlns:r="http://schemas.openxmlformats.org/officeDocument/2006/relationships" id="263" r:id="R28b60a4f8b2b45e7"/>
  </p:sldIdLst>
  <p:sldSz cx="9144000" cy="5143500"/>
  <p:notesSz cx="6858000" cy="9144000"/>
  <p:embeddedFontLst>
    <p:embeddedFont>
      <p:font typeface="MS PGothic"/>
      <p:regular xmlns:r="http://schemas.openxmlformats.org/officeDocument/2006/relationships" r:id="R251ac83e6bbd4fc3"/>
    </p:embeddedFont>
    <p:embeddedFont>
      <p:font typeface="Roboto Light"/>
      <p:regular xmlns:r="http://schemas.openxmlformats.org/officeDocument/2006/relationships" r:id="R14159ea19b114910"/>
      <p:italic xmlns:r="http://schemas.openxmlformats.org/officeDocument/2006/relationships" r:id="R19b84bb5512145c3"/>
    </p:embeddedFont>
    <p:embeddedFont>
      <p:font typeface="微軟正黑體"/>
      <p:regular xmlns:r="http://schemas.openxmlformats.org/officeDocument/2006/relationships" r:id="R14bdb507b8e048fa"/>
      <p:bold xmlns:r="http://schemas.openxmlformats.org/officeDocument/2006/relationships" r:id="R8ca19a12c513459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342e450004429f" Type="http://schemas.openxmlformats.org/officeDocument/2006/relationships/slide" Target="slides/slide5.xml"/><Relationship Id="R044298f454e3456f" Type="http://schemas.openxmlformats.org/officeDocument/2006/relationships/slide" Target="slides/slide3.xml"/><Relationship Id="R14159ea19b114910" Type="http://schemas.openxmlformats.org/officeDocument/2006/relationships/font" Target="fonts/font2.dat"/><Relationship Id="R14bdb507b8e048fa" Type="http://schemas.openxmlformats.org/officeDocument/2006/relationships/font" Target="fonts/font4.dat"/><Relationship Id="R166fe0d31b4641ad" Type="http://schemas.openxmlformats.org/officeDocument/2006/relationships/slide" Target="slides/slide7.xml"/><Relationship Id="R19b84bb5512145c3" Type="http://schemas.openxmlformats.org/officeDocument/2006/relationships/font" Target="fonts/font3.dat"/><Relationship Id="R1dd7d65d9fd54c7e" Type="http://schemas.openxmlformats.org/officeDocument/2006/relationships/presProps" Target="presProps.xml"/><Relationship Id="R205cf061131b4155" Type="http://schemas.openxmlformats.org/officeDocument/2006/relationships/slide" Target="slides/slide2.xml"/><Relationship Id="R20e6db5ae0474778" Type="http://schemas.openxmlformats.org/officeDocument/2006/relationships/slideMaster" Target="slideMasters/slideMaster1.xml"/><Relationship Id="R251ac83e6bbd4fc3" Type="http://schemas.openxmlformats.org/officeDocument/2006/relationships/font" Target="fonts/font.dat"/><Relationship Id="R28b60a4f8b2b45e7" Type="http://schemas.openxmlformats.org/officeDocument/2006/relationships/slide" Target="slides/slide8.xml"/><Relationship Id="R4ef526af56cf41e9" Type="http://schemas.openxmlformats.org/officeDocument/2006/relationships/slide" Target="slides/slide1.xml"/><Relationship Id="R8ca19a12c513459f" Type="http://schemas.openxmlformats.org/officeDocument/2006/relationships/font" Target="fonts/font5.dat"/><Relationship Id="R8e3ea5af091b4834" Type="http://schemas.openxmlformats.org/officeDocument/2006/relationships/slide" Target="slides/slide6.xml"/><Relationship Id="R8ffd1f2112894a20" Type="http://schemas.openxmlformats.org/officeDocument/2006/relationships/slide" Target="slides/slide4.xml"/><Relationship Id="R9692e07bb3914bf7" Type="http://schemas.openxmlformats.org/officeDocument/2006/relationships/theme" Target="theme/theme1.xml"/><Relationship Id="Rbf68ef057a2c4852" Type="http://schemas.openxmlformats.org/officeDocument/2006/relationships/notesMaster" Target="notesMasters/notesMaster1.xml"/><Relationship Id="Rd181acebd8844e4a" Type="http://schemas.openxmlformats.org/officeDocument/2006/relationships/tableStyles" Target="tableStyles.xml"/><Relationship Id="Red4a4c52e8784cfa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不良率(%)</c:v>
                </c:pt>
              </c:strCache>
            </c:strRef>
          </c:tx>
          <c:spPr>
            <a:solidFill>
              <a:srgbClr val="4F81BD"/>
            </a:solidFill>
          </c:spPr>
          <c:dLbls>
            <c:numFmt formatCode="0.00&quot;%&quot;" sourceLinked="0"/>
            <c:txPr>
              <a:bodyPr/>
              <a:lstStyle/>
              <a:p>
                <a:pPr>
                  <a:defRPr sz="900">
                    <a:latin typeface="Noto Sans TC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變更前</c:v>
                </c:pt>
                <c:pt idx="1">
                  <c:v>變更後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</c:v>
                </c:pt>
                <c:pt idx="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T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Noto Sans T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06f733eac54a4f8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002f08c14d94aeb" Type="http://schemas.openxmlformats.org/officeDocument/2006/relationships/slide" Target="../slides/slide1.xml"/><Relationship Id="Rc3503eb72bc74a8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272092ab7f14dcf" Type="http://schemas.openxmlformats.org/officeDocument/2006/relationships/notesMaster" Target="../notesMasters/notesMaster1.xml"/><Relationship Id="Rbe455cd047524dd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d72439a7bec4a20" Type="http://schemas.openxmlformats.org/officeDocument/2006/relationships/slide" Target="../slides/slide3.xml"/><Relationship Id="Rdca2b472903d437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f01f7aa7d694ae7" Type="http://schemas.openxmlformats.org/officeDocument/2006/relationships/notesMaster" Target="../notesMasters/notesMaster1.xml"/><Relationship Id="Rca9cb98bb9b649f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e0ae237ae884899" Type="http://schemas.openxmlformats.org/officeDocument/2006/relationships/notesMaster" Target="../notesMasters/notesMaster1.xml"/><Relationship Id="Rf9301a45fd524c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13c9d5f405406c" Type="http://schemas.openxmlformats.org/officeDocument/2006/relationships/slide" Target="../slides/slide6.xml"/><Relationship Id="Rc429832d74a04e2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0b221f457d14e2e" Type="http://schemas.openxmlformats.org/officeDocument/2006/relationships/slide" Target="../slides/slide7.xml"/><Relationship Id="R88bf2ba6535a410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05e86605c747fb" Type="http://schemas.openxmlformats.org/officeDocument/2006/relationships/notesMaster" Target="../notesMasters/notesMaster1.xml"/><Relationship Id="Rdac5eb3d519b465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2a06a21ff9488e" Type="http://schemas.openxmlformats.org/officeDocument/2006/relationships/image" Target="../media/image.svg"/><Relationship Id="Rd2afb519233c417a" Type="http://schemas.openxmlformats.org/officeDocument/2006/relationships/image" Target="../media/image.jpeg"/><Relationship Id="Rdc7f0447c55f415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2d69c27b977459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186553e468a45d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bd5a521783436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3f69b0fdabb74c2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272658e58cf4e9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3540509664d4f16" Type="http://schemas.openxmlformats.org/officeDocument/2006/relationships/image" Target="../media/image2.jpeg"/><Relationship Id="Rf6106bb34ad2405c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2b01c415b124746" Type="http://schemas.openxmlformats.org/officeDocument/2006/relationships/image" Target="../media/image3.jpeg"/><Relationship Id="R760dc01ee17d4cbf" Type="http://schemas.openxmlformats.org/officeDocument/2006/relationships/slideMaster" Target="../slideMasters/slideMaster1.xml"/><Relationship Id="Rc9fa4ce8ebed47cd" Type="http://schemas.openxmlformats.org/officeDocument/2006/relationships/image" Target="../media/image.jpeg"/><Relationship Id="Rfe4bfaa73df84319" Type="http://schemas.openxmlformats.org/officeDocument/2006/relationships/image" Target="../media/image.svg"/></Relationships>
</file>

<file path=ppt/slideLayouts/_rels/slideLayout9.xml.rels><?xml version='1.0' encoding='UTF-8' standalone='yes'?>
<Relationships xmlns="http://schemas.openxmlformats.org/package/2006/relationships"><Relationship Id="R0ed85a975206417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userDrawn="1">
  <p:cSld name="NO">
    <p:bg>
      <p:bgPr>
        <a:blipFill xmlns:a="http://schemas.openxmlformats.org/drawingml/2006/main" rotWithShape="1">
          <a:blip xmlns:r="http://schemas.openxmlformats.org/officeDocument/2006/relationships" r:embed="Rd2afb519233c41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b519233c417a">
            <a:extLst>
              <a:ext uri="{96DAC541-7B7A-43D3-8B79-37D633B846F1}">
                <asvg:svgBlip xmlns:asvg="http://schemas.microsoft.com/office/drawing/2016/SVG/main" r:embed="Rb32a06a21ff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959" y="509888"/>
            <a:ext cx="1620000" cy="281912"/>
          </a:xfrm>
          <a:prstGeom xmlns:a="http://schemas.openxmlformats.org/drawingml/2006/main" prst="rect">
            <a:avLst/>
          </a:prstGeom>
        </p:spPr>
      </p:pic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620" y="1433376"/>
            <a:ext cx="657528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50000"/>
              </a:lnSpc>
              <a:buNone/>
              <a:defRPr sz="2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9">
            <a:extLst xmlns:a="http://schemas.openxmlformats.org/drawingml/2006/main"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723659"/>
            <a:ext cx="4137025" cy="106424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D067D35E-DB98-1A2F-C350-F063DC9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手繪多邊形: 圖案 5">
            <a:extLst xmlns:a="http://schemas.openxmlformats.org/drawingml/2006/main">
              <a:ext uri="{FF2B5EF4-FFF2-40B4-BE49-F238E27FC236}">
                <a16:creationId xmlns:a16="http://schemas.microsoft.com/office/drawing/2014/main" id="{F941FA01-169A-9CC1-113E-9C690B0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B73E5D6-1E65-09C2-5DE6-598D1FE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791F0FA-3D2A-6EA8-A678-73A95BD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手繪多邊形: 圖案 8">
            <a:extLst xmlns:a="http://schemas.openxmlformats.org/drawingml/2006/main">
              <a:ext uri="{FF2B5EF4-FFF2-40B4-BE49-F238E27FC236}">
                <a16:creationId xmlns:a16="http://schemas.microsoft.com/office/drawing/2014/main" id="{313CAB3E-8E49-4B1B-A765-96826F5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EDFAB0CA-9A16-3303-A4B4-AD1E294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98341F7-9E6A-49B1-3196-693228D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4934BB63-0AB7-C7AE-5731-CF2E91C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844D30BA-A527-81A0-485F-BE1328B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77362FD-2310-314B-027B-D8E03B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A613C8A-8C2A-1523-0AA8-BB26255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34D52C2B-D04A-6EDC-7FCF-F840968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F6F2E4C-820F-45C4-A8C6-03517E8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F5AC4AA7-15D8-FC84-5990-22D59FB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618E767-40E2-EC3A-1269-ABED0AC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0EBB9939-68A9-C97F-4E74-CBE7A34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408996C7-F996-9B38-9D3E-AEDDD06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6219661E-F9AC-3DB2-0914-2B1C26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D2540B6-74D7-BF17-62DE-D36FA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5A9F677-E62A-B977-1184-CB2F778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375208F-13E0-B71C-05BC-B8A01DD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D7BD8DE-6415-6154-D316-F7B3D1D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BBAC877-E8AC-2BAF-B501-625F36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D7AA028-4714-8A19-2B73-F1807B2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17EDB9B5-1719-92EE-65AC-E839279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04D236-863F-AE5D-A8E6-C221661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6DF2A49-A57E-7B39-9AF1-1A9E6D5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2CF9680-BF7B-412A-CE95-C87DAF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F3EBAF98-77AE-494D-FCA9-F54E34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A557B764-00A0-46B9-4028-596AFBF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3394AF1E-F464-9D64-F738-F1D4A9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2AAEA814-7EBB-6340-75B9-979BE53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0D72D94-1389-9377-5290-4C58495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1D088CB-CC88-1FE0-3AC1-3F51943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3AD385E-3EFE-FBA2-F94C-546C898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A11B2028-5E73-6B1D-1670-38F1E8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1005EDF-9BB2-B00C-46FB-31BED78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076D30F-9855-7D60-D9B2-6D8F467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2BDE920-FA5F-9880-2F43-4C8D8D9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436E3EAC-A630-BF9B-787C-FC168B4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NO">
    <p:bg>
      <p:bgPr>
        <a:blipFill xmlns:a="http://schemas.openxmlformats.org/drawingml/2006/main" rotWithShape="1">
          <a:blip xmlns:r="http://schemas.openxmlformats.org/officeDocument/2006/relationships" r:embed="R03540509664d4f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 1">
            <a:extLst xmlns:a="http://schemas.openxmlformats.org/drawingml/2006/main"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1050" y="1676400"/>
            <a:ext cx="567925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0EA36068-B592-77AC-CDCC-1EBDC6E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D33458A-8375-FDE9-E878-C1BE270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19ACBC42-2343-9B9C-6958-3194471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BB0C189-8222-5238-A819-23E7137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55C0A18D-1096-2010-A9D2-F338B92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B01F9FB-8A74-B0FB-E978-BBCF05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502A36-44D7-4F93-00A2-A8235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74521D93-7C67-F49E-4B23-769237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6_Ending Page">
    <p:bg>
      <p:bgPr>
        <a:blipFill xmlns:a="http://schemas.openxmlformats.org/drawingml/2006/main" rotWithShape="1">
          <a:blip xmlns:r="http://schemas.openxmlformats.org/officeDocument/2006/relationships" r:embed="R02b01c415b12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a4ce8ebed47cd">
            <a:extLst>
              <a:ext uri="{96DAC541-7B7A-43D3-8B79-37D633B846F1}">
                <asvg:svgBlip xmlns:asvg="http://schemas.microsoft.com/office/drawing/2016/SVG/main" r:embed="Rfe4bfaa73df8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532" y="1661914"/>
            <a:ext cx="1962130" cy="341448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491" y="2345384"/>
            <a:ext cx="497128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Bright Innovation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．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Sustainable Future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86CB-829C-41C0-A295-1F2DEAF4754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200" y="742951"/>
            <a:ext cx="8229600" cy="3600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28EC4B-568E-4184-BC32-A5A23179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5C85EC-CD80-4230-AB30-639BA3D456A3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7B409B-8358-4DFC-99EB-A8FD880AEB92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0f65f5342b4969" Type="http://schemas.openxmlformats.org/officeDocument/2006/relationships/slideLayout" Target="../slideLayouts/slideLayout6.xml"/><Relationship Id="R17886187e55f452d" Type="http://schemas.openxmlformats.org/officeDocument/2006/relationships/slideLayout" Target="../slideLayouts/slideLayout5.xml"/><Relationship Id="R5ab9cb7196b94ba8" Type="http://schemas.openxmlformats.org/officeDocument/2006/relationships/slideLayout" Target="../slideLayouts/slideLayout8.xml"/><Relationship Id="R71c41d335c564363" Type="http://schemas.openxmlformats.org/officeDocument/2006/relationships/slideLayout" Target="../slideLayouts/slideLayout3.xml"/><Relationship Id="R91f19dd47453421c" Type="http://schemas.openxmlformats.org/officeDocument/2006/relationships/slideLayout" Target="../slideLayouts/slideLayout2.xml"/><Relationship Id="R940dbd83033942a3" Type="http://schemas.openxmlformats.org/officeDocument/2006/relationships/slideLayout" Target="../slideLayouts/slideLayout1.xml"/><Relationship Id="Rca10b00f6cc4469f" Type="http://schemas.openxmlformats.org/officeDocument/2006/relationships/slideLayout" Target="../slideLayouts/slideLayout4.xml"/><Relationship Id="Rd63f815dee9c40b9" Type="http://schemas.openxmlformats.org/officeDocument/2006/relationships/theme" Target="theme/theme2.xml"/><Relationship Id="Re66d75c5b4004dc0" Type="http://schemas.openxmlformats.org/officeDocument/2006/relationships/slideLayout" Target="../slideLayouts/slideLayout7.xml"/><Relationship Id="Rfe0ad06f96cd423f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B8D49BD-F53A-4CD7-9E09-57EB6794E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564F88-2685-475F-92CF-4C1907BC1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47413D-AA86-413D-92EC-DC29DF4F3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D04105CA-BFC3-4BCD-B806-E151D69215F4}" type="datetimeFigureOut">
              <a:t>2026/7/22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9DB3CE-A747-4908-9CB2-1D7D9D44DC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BB4CB-26DC-4982-B2E3-44340A594D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72E5D2EC-D9FC-4367-9291-770F97719C8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bd83033942a3"/>
    <p:sldLayoutId xmlns:r="http://schemas.openxmlformats.org/officeDocument/2006/relationships" id="2147483650" r:id="R91f19dd47453421c"/>
    <p:sldLayoutId xmlns:r="http://schemas.openxmlformats.org/officeDocument/2006/relationships" id="2147483651" r:id="R71c41d335c564363"/>
    <p:sldLayoutId xmlns:r="http://schemas.openxmlformats.org/officeDocument/2006/relationships" id="2147483652" r:id="Rca10b00f6cc4469f"/>
    <p:sldLayoutId xmlns:r="http://schemas.openxmlformats.org/officeDocument/2006/relationships" id="2147483653" r:id="R17886187e55f452d"/>
    <p:sldLayoutId xmlns:r="http://schemas.openxmlformats.org/officeDocument/2006/relationships" id="2147483654" r:id="R0a0f65f5342b4969"/>
    <p:sldLayoutId xmlns:r="http://schemas.openxmlformats.org/officeDocument/2006/relationships" id="2147483655" r:id="Re66d75c5b4004dc0"/>
    <p:sldLayoutId xmlns:r="http://schemas.openxmlformats.org/officeDocument/2006/relationships" id="2147483656" r:id="R5ab9cb7196b94ba8"/>
    <p:sldLayoutId xmlns:r="http://schemas.openxmlformats.org/officeDocument/2006/relationships" id="2147483657" r:id="Rfe0ad06f96cd423f"/>
  </p:sldLayoutIdLst>
  <p:txStyles>
    <p:titleStyle>
      <a:lvl1pPr xmlns:a="http://schemas.openxmlformats.org/drawingml/2006/main" algn="l">
        <a:lnSpc>
          <a:spcPct val="90000"/>
        </a:lnSpc>
        <a:buNone/>
        <a:defRPr sz="2400" b="1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16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2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1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a29333211c04175" Type="http://schemas.openxmlformats.org/officeDocument/2006/relationships/slideLayout" Target="../slideLayouts/slideLayout1.xml"/><Relationship Id="Rccefae7ba3f040e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03c5b26404a4400" Type="http://schemas.openxmlformats.org/officeDocument/2006/relationships/slideLayout" Target="../slideLayouts/slideLayout2.xml"/><Relationship Id="Re9cb44296135433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0a9438727f479b" Type="http://schemas.openxmlformats.org/officeDocument/2006/relationships/notesSlide" Target="../notesSlides/notesSlide3.xml"/><Relationship Id="R594a008d88d94c3e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54b5e182ff0b488a" Type="http://schemas.openxmlformats.org/officeDocument/2006/relationships/slideLayout" Target="../slideLayouts/slideLayout2.xml"/><Relationship Id="Rf6b54dc4e2024b9f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74d7d7c122c140e4" Type="http://schemas.openxmlformats.org/officeDocument/2006/relationships/notesSlide" Target="../notesSlides/notesSlide5.xml"/><Relationship Id="R871dfec4e3b54e74" Type="http://schemas.openxmlformats.org/officeDocument/2006/relationships/slideLayout" Target="../slideLayouts/slideLayout2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873b044c0fdd458d" Type="http://schemas.openxmlformats.org/officeDocument/2006/relationships/slideLayout" Target="../slideLayouts/slideLayout2.xml"/><Relationship Id="Rd2668e6afd9340e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ed115b8efdf4a7e" Type="http://schemas.openxmlformats.org/officeDocument/2006/relationships/notesSlide" Target="../notesSlides/notesSlide7.xml"/><Relationship Id="R89c79faf2de64ee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27af9ef8ccb548f5" Type="http://schemas.openxmlformats.org/officeDocument/2006/relationships/slideLayout" Target="../slideLayouts/slideLayout8.xml"/><Relationship Id="R60d999dab0f841ed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G67膠面裂紋檢驗方法優化</a:t>
            </a:r>
          </a:p>
        </p:txBody>
      </p:sp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487578"/>
            <a:ext cx="4137025" cy="1064241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Presented by（新產品工程）</a:t>
            </a:r>
          </a:p>
          <a:p xmlns:a="http://schemas.openxmlformats.org/drawingml/2006/main">
            <a:r>
              <a:rPr>
                <a:latin typeface="Noto Sans TC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4D10127-80C4-4369-A721-EDE5BA4FA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Agenda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D2CB2A-E887-4B54-BB65-2DAD1E7182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3" name="Round Same Side Corner Rectangle 7172"/>
          <p:cNvSpPr/>
          <p:nvPr/>
        </p:nvSpPr>
        <p:spPr>
          <a:xfrm>
            <a:off x="180000" y="810000"/>
            <a:ext cx="6588000" cy="288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288000" y="871200"/>
            <a:ext cx="6372000" cy="125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TC"/>
              </a:rPr>
              <a:t>將檢驗顯微鏡工作距離由 8 mm 提升至 23 mm，避免鏡頭碰觸膠面造成刮傷報廢</a:t>
            </a:r>
          </a:p>
        </p:txBody>
      </p:sp>
      <p:sp xmlns:a="http://schemas.openxmlformats.org/drawingml/2006/main">
        <p:nvSpPr>
          <p:cNvPr id="7175" name="Oval 7174"/>
          <p:cNvSpPr/>
          <p:nvPr/>
        </p:nvSpPr>
        <p:spPr>
          <a:xfrm>
            <a:off x="360000" y="1494000"/>
            <a:ext cx="251999" cy="251999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A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720000" y="1526400"/>
            <a:ext cx="2340000" cy="14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背景說明及問題描述</a:t>
            </a:r>
          </a:p>
        </p:txBody>
      </p:sp>
      <p:sp xmlns:a="http://schemas.openxmlformats.org/drawingml/2006/main">
        <p:nvSpPr>
          <p:cNvPr id="7177" name="Oval 7176"/>
          <p:cNvSpPr/>
          <p:nvPr/>
        </p:nvSpPr>
        <p:spPr>
          <a:xfrm>
            <a:off x="360000" y="1854000"/>
            <a:ext cx="251999" cy="251999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B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720000" y="1886400"/>
            <a:ext cx="2340000" cy="14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創新特徵及內容描述</a:t>
            </a:r>
          </a:p>
        </p:txBody>
      </p:sp>
      <p:sp xmlns:a="http://schemas.openxmlformats.org/drawingml/2006/main">
        <p:nvSpPr>
          <p:cNvPr id="7179" name="Oval 7178"/>
          <p:cNvSpPr/>
          <p:nvPr/>
        </p:nvSpPr>
        <p:spPr>
          <a:xfrm>
            <a:off x="360000" y="2214000"/>
            <a:ext cx="251999" cy="251999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C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720000" y="2246400"/>
            <a:ext cx="2340000" cy="14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效益說明</a:t>
            </a:r>
          </a:p>
        </p:txBody>
      </p:sp>
      <p:sp xmlns:a="http://schemas.openxmlformats.org/drawingml/2006/main">
        <p:nvSpPr>
          <p:cNvPr id="7181" name="Oval 7180"/>
          <p:cNvSpPr/>
          <p:nvPr/>
        </p:nvSpPr>
        <p:spPr>
          <a:xfrm>
            <a:off x="360000" y="2574000"/>
            <a:ext cx="251999" cy="251999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D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720000" y="2606400"/>
            <a:ext cx="2340000" cy="14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以營業秘密保護之考量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60000" y="2934000"/>
            <a:ext cx="2592000" cy="16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 xmlns:a="http://schemas.openxmlformats.org/drawingml/2006/main">
        <p:nvSpPr>
          <p:cNvPr id="7184" name="Round Same Side Corner Rectangle 7183"/>
          <p:cNvSpPr/>
          <p:nvPr/>
        </p:nvSpPr>
        <p:spPr>
          <a:xfrm>
            <a:off x="4068000" y="1296000"/>
            <a:ext cx="2520000" cy="1872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4176000" y="1422000"/>
            <a:ext cx="2304000" cy="16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改善概念｜Overview</a:t>
            </a:r>
          </a:p>
        </p:txBody>
      </p:sp>
      <p:sp xmlns:a="http://schemas.openxmlformats.org/drawingml/2006/main">
        <p:nvSpPr>
          <p:cNvPr id="7186" name="Round Same Side Corner Rectangle 7185"/>
          <p:cNvSpPr/>
          <p:nvPr/>
        </p:nvSpPr>
        <p:spPr>
          <a:xfrm>
            <a:off x="4248000" y="1872000"/>
            <a:ext cx="432000" cy="432000"/>
          </a:xfrm>
          <a:prstGeom prst="round2SameRect">
            <a:avLst/>
          </a:prstGeom>
          <a:solidFill>
            <a:srgbClr val="E5EC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4266000" y="1918800"/>
            <a:ext cx="396000" cy="9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現況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4266000" y="2044800"/>
            <a:ext cx="396000" cy="19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鏡頭距離過近</a:t>
            </a:r>
          </a:p>
        </p:txBody>
      </p:sp>
      <p:sp xmlns:a="http://schemas.openxmlformats.org/drawingml/2006/main">
        <p:nvSpPr>
          <p:cNvPr id="7189" name="Chevron 7188"/>
          <p:cNvSpPr/>
          <p:nvPr/>
        </p:nvSpPr>
        <p:spPr>
          <a:xfrm>
            <a:off x="4698000" y="1998000"/>
            <a:ext cx="162000" cy="162000"/>
          </a:xfrm>
          <a:prstGeom prst="chevron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Round Same Side Corner Rectangle 7189"/>
          <p:cNvSpPr/>
          <p:nvPr/>
        </p:nvSpPr>
        <p:spPr>
          <a:xfrm>
            <a:off x="4842000" y="1872000"/>
            <a:ext cx="432000" cy="432000"/>
          </a:xfrm>
          <a:prstGeom prst="round2SameRect">
            <a:avLst/>
          </a:prstGeom>
          <a:solidFill>
            <a:srgbClr val="E5EC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4860000" y="1918800"/>
            <a:ext cx="396000" cy="9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原因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4860000" y="2044800"/>
            <a:ext cx="396000" cy="19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鏡頭碰觸膠面</a:t>
            </a:r>
          </a:p>
        </p:txBody>
      </p:sp>
      <p:sp xmlns:a="http://schemas.openxmlformats.org/drawingml/2006/main">
        <p:nvSpPr>
          <p:cNvPr id="7193" name="Chevron 7192"/>
          <p:cNvSpPr/>
          <p:nvPr/>
        </p:nvSpPr>
        <p:spPr>
          <a:xfrm>
            <a:off x="5292000" y="1998000"/>
            <a:ext cx="162000" cy="162000"/>
          </a:xfrm>
          <a:prstGeom prst="chevron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Round Same Side Corner Rectangle 7193"/>
          <p:cNvSpPr/>
          <p:nvPr/>
        </p:nvSpPr>
        <p:spPr>
          <a:xfrm>
            <a:off x="5436000" y="1872000"/>
            <a:ext cx="432000" cy="432000"/>
          </a:xfrm>
          <a:prstGeom prst="round2SameRect">
            <a:avLst/>
          </a:prstGeom>
          <a:solidFill>
            <a:srgbClr val="E5EC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5454000" y="1918800"/>
            <a:ext cx="396000" cy="9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改善</a:t>
            </a:r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5454000" y="2044800"/>
            <a:ext cx="396000" cy="19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更換顯微鏡</a:t>
            </a:r>
          </a:p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距離23mm</a:t>
            </a:r>
          </a:p>
        </p:txBody>
      </p:sp>
      <p:sp xmlns:a="http://schemas.openxmlformats.org/drawingml/2006/main">
        <p:nvSpPr>
          <p:cNvPr id="7197" name="Chevron 7196"/>
          <p:cNvSpPr/>
          <p:nvPr/>
        </p:nvSpPr>
        <p:spPr>
          <a:xfrm>
            <a:off x="5886000" y="1998000"/>
            <a:ext cx="162000" cy="162000"/>
          </a:xfrm>
          <a:prstGeom prst="chevron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8" name="Round Same Side Corner Rectangle 7197"/>
          <p:cNvSpPr/>
          <p:nvPr/>
        </p:nvSpPr>
        <p:spPr>
          <a:xfrm>
            <a:off x="6030000" y="1872000"/>
            <a:ext cx="432000" cy="432000"/>
          </a:xfrm>
          <a:prstGeom prst="round2SameRect">
            <a:avLst/>
          </a:prstGeom>
          <a:solidFill>
            <a:srgbClr val="E5EC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9" name="TextBox 7198"/>
          <p:cNvSpPr txBox="1"/>
          <p:nvPr/>
        </p:nvSpPr>
        <p:spPr>
          <a:xfrm>
            <a:off x="6048000" y="1918800"/>
            <a:ext cx="396000" cy="9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1">
                <a:solidFill>
                  <a:srgbClr val="113A6B"/>
                </a:solidFill>
                <a:latin typeface="Noto Sans TC"/>
              </a:rPr>
              <a:t>結果</a:t>
            </a:r>
          </a:p>
        </p:txBody>
      </p:sp>
      <p:sp xmlns:a="http://schemas.openxmlformats.org/drawingml/2006/main">
        <p:nvSpPr>
          <p:cNvPr id="7200" name="TextBox 7199"/>
          <p:cNvSpPr txBox="1"/>
          <p:nvPr/>
        </p:nvSpPr>
        <p:spPr>
          <a:xfrm>
            <a:off x="6048000" y="2044800"/>
            <a:ext cx="396000" cy="19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膠面裂紋不良</a:t>
            </a:r>
          </a:p>
          <a:p>
            <a:pPr algn="ctr"/>
            <a:r>
              <a:rPr sz="750" b="0">
                <a:solidFill>
                  <a:srgbClr val="1F2937"/>
                </a:solidFill>
                <a:latin typeface="Noto Sans TC"/>
              </a:rPr>
              <a:t>降為0%</a:t>
            </a:r>
          </a:p>
        </p:txBody>
      </p:sp>
      <p:sp xmlns:a="http://schemas.openxmlformats.org/drawingml/2006/main">
        <p:nvSpPr>
          <p:cNvPr id="7201" name="TextBox 7200"/>
          <p:cNvSpPr txBox="1"/>
          <p:nvPr/>
        </p:nvSpPr>
        <p:spPr>
          <a:xfrm>
            <a:off x="288000" y="3240000"/>
            <a:ext cx="3420000" cy="125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由近距離高風險檢驗，轉為高距離低碰觸風險之標準化檢驗方法</a:t>
            </a:r>
          </a:p>
        </p:txBody>
      </p:sp>
    </p:spTree>
    <p:extLst>
      <p:ext uri="{BB962C8B-B14F-4D97-AF65-F5344CB8AC3E}">
        <p14:creationId xmlns:p14="http://schemas.microsoft.com/office/powerpoint/2010/main" val="1516479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F18BCBE-E779-45D8-A41A-EBF308B2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A. 背景說明及問題描述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07DAC-8B55-4DC9-A8FF-9E745AC8FE1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288000" y="810000"/>
            <a:ext cx="1728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13A6B"/>
                </a:solidFill>
                <a:latin typeface="Noto Sans TC"/>
              </a:rPr>
              <a:t>膠面裂紋不良發生背景</a:t>
            </a:r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216000" y="1026000"/>
            <a:ext cx="1764000" cy="64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Noto Sans TC"/>
              </a:rPr>
              <a:t>G67產品於AVI／顯微鏡外觀檢驗時，因檢驗顯微鏡物鏡與待測膠面距離過近，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Noto Sans TC"/>
              </a:rPr>
              <a:t>在人工上／下料或微調對焦過程中，物鏡前端可能接觸膠面，造成刮傷或裂紋，進而導致產品報廢。</a:t>
            </a:r>
          </a:p>
          <a:p>
            <a:pPr algn="l"/>
            <a:r>
              <a:rPr sz="1050" b="0">
                <a:solidFill>
                  <a:srgbClr val="1F2937"/>
                </a:solidFill>
                <a:latin typeface="Noto Sans TC"/>
              </a:rPr>
              <a:t>現行最短工作距離僅約 8 mm，對人工取放容錯不足。</a:t>
            </a:r>
          </a:p>
        </p:txBody>
      </p:sp>
      <p:pic xmlns:a="http://schemas.openxmlformats.org/drawingml/2006/main" xmlns:r="http://schemas.openxmlformats.org/officeDocument/2006/relationships">
        <p:nvPicPr>
          <p:cNvPr id="7175" name="Picture 717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999" y="774000"/>
            <a:ext cx="3276000" cy="1565999"/>
          </a:xfrm>
          <a:prstGeom prst="rect">
            <a:avLst/>
          </a:prstGeom>
        </p:spPr>
      </p:pic>
      <p:sp xmlns:a="http://schemas.openxmlformats.org/drawingml/2006/main">
        <p:nvSpPr>
          <p:cNvPr id="7176" name="Round Same Side Corner Rectangle 7175"/>
          <p:cNvSpPr/>
          <p:nvPr/>
        </p:nvSpPr>
        <p:spPr>
          <a:xfrm>
            <a:off x="2088000" y="882000"/>
            <a:ext cx="666000" cy="684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2142000" y="936000"/>
            <a:ext cx="558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113A6B"/>
                </a:solidFill>
                <a:latin typeface="Noto Sans TC"/>
              </a:rPr>
              <a:t>變更前不良率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2142000" y="1116000"/>
            <a:ext cx="558000" cy="30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0.5–1%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2142000" y="1404000"/>
            <a:ext cx="558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實績</a:t>
            </a:r>
          </a:p>
        </p:txBody>
      </p:sp>
      <p:sp xmlns:a="http://schemas.openxmlformats.org/drawingml/2006/main">
        <p:nvSpPr>
          <p:cNvPr id="7180" name="Round Same Side Corner Rectangle 7179"/>
          <p:cNvSpPr/>
          <p:nvPr/>
        </p:nvSpPr>
        <p:spPr>
          <a:xfrm>
            <a:off x="2808000" y="882000"/>
            <a:ext cx="432000" cy="684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2862000" y="936000"/>
            <a:ext cx="323999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113A6B"/>
                </a:solidFill>
                <a:latin typeface="Noto Sans TC"/>
              </a:rPr>
              <a:t>距離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2862000" y="1116000"/>
            <a:ext cx="323999" cy="30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8 mm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2862000" y="1404000"/>
            <a:ext cx="323999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目前作法</a:t>
            </a:r>
          </a:p>
        </p:txBody>
      </p:sp>
      <p:sp xmlns:a="http://schemas.openxmlformats.org/drawingml/2006/main">
        <p:nvSpPr>
          <p:cNvPr id="7184" name="Round Same Side Corner Rectangle 7183"/>
          <p:cNvSpPr/>
          <p:nvPr/>
        </p:nvSpPr>
        <p:spPr>
          <a:xfrm>
            <a:off x="216000" y="2466000"/>
            <a:ext cx="3024000" cy="756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324000" y="2548800"/>
            <a:ext cx="900000" cy="125999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13A6B"/>
                </a:solidFill>
                <a:latin typeface="Noto Sans TC"/>
              </a:rPr>
              <a:t>問題描述</a:t>
            </a:r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342000" y="2718000"/>
            <a:ext cx="2826000" cy="34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附件Before顯示多筆膠面刮傷案例，刮傷位置與顯微鏡接觸軌跡一致；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魚骨圖分析亦指出「Plasma OM operation method」與鏡頭／治具接觸風險為主要關鍵因子。</a:t>
            </a:r>
          </a:p>
        </p:txBody>
      </p:sp>
      <p:sp xmlns:a="http://schemas.openxmlformats.org/drawingml/2006/main">
        <p:nvSpPr>
          <p:cNvPr id="7187" name="Round Same Side Corner Rectangle 7186"/>
          <p:cNvSpPr/>
          <p:nvPr/>
        </p:nvSpPr>
        <p:spPr>
          <a:xfrm>
            <a:off x="3311999" y="2466000"/>
            <a:ext cx="3276000" cy="756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3420000" y="2548800"/>
            <a:ext cx="900000" cy="125999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13A6B"/>
                </a:solidFill>
                <a:latin typeface="Noto Sans TC"/>
              </a:rPr>
              <a:t>主要風險</a:t>
            </a:r>
          </a:p>
        </p:txBody>
      </p:sp>
      <p:sp xmlns:a="http://schemas.openxmlformats.org/drawingml/2006/main">
        <p:nvSpPr>
          <p:cNvPr id="7189" name="TextBox 7188"/>
          <p:cNvSpPr txBox="1"/>
          <p:nvPr/>
        </p:nvSpPr>
        <p:spPr>
          <a:xfrm>
            <a:off x="3438000" y="2700000"/>
            <a:ext cx="3006000" cy="37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人工上／下料時碰觸物鏡前端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微調對焦時膠面安全間隙不足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一旦接觸即形成外觀不良，造成報廢</a:t>
            </a: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99C4ED8E-3EB1-44E2-B720-E2C0A964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B. 創新特徵及內容描述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F223F4-DD29-4D9A-B519-E01C1ABD10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73" name="Round Same Side Corner Rectangle 7172"/>
          <p:cNvSpPr/>
          <p:nvPr/>
        </p:nvSpPr>
        <p:spPr>
          <a:xfrm>
            <a:off x="180000" y="792000"/>
            <a:ext cx="3420000" cy="2196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288000" y="846000"/>
            <a:ext cx="3168000" cy="125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改善前後比較（附件 After）</a:t>
            </a:r>
          </a:p>
        </p:txBody>
      </p:sp>
      <p:pic xmlns:a="http://schemas.openxmlformats.org/drawingml/2006/main" xmlns:r="http://schemas.openxmlformats.org/officeDocument/2006/relationships">
        <p:nvPicPr>
          <p:cNvPr id="7175" name="Picture 7174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00" y="1007999"/>
            <a:ext cx="3240000" cy="1728000"/>
          </a:xfrm>
          <a:prstGeom prst="rect">
            <a:avLst/>
          </a:prstGeom>
        </p:spPr>
      </p:pic>
      <p:sp xmlns:a="http://schemas.openxmlformats.org/drawingml/2006/main">
        <p:nvSpPr>
          <p:cNvPr id="7176" name="Round Same Side Corner Rectangle 7175"/>
          <p:cNvSpPr/>
          <p:nvPr/>
        </p:nvSpPr>
        <p:spPr>
          <a:xfrm>
            <a:off x="3671999" y="827999"/>
            <a:ext cx="2951999" cy="827999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3798000" y="917999"/>
            <a:ext cx="1080000" cy="125999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Noto Sans TC"/>
              </a:rPr>
              <a:t>創新方案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798000" y="1080000"/>
            <a:ext cx="2700000" cy="43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更換檢驗顯微鏡，將物鏡與待測物最短距離由 8 mm 提升至 23 mm。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增加操作容錯，降低人工取放時碰觸膠面的機率。</a:t>
            </a:r>
          </a:p>
        </p:txBody>
      </p:sp>
      <p:sp xmlns:a="http://schemas.openxmlformats.org/drawingml/2006/main">
        <p:nvSpPr>
          <p:cNvPr id="7179" name="Round Same Side Corner Rectangle 7178"/>
          <p:cNvSpPr/>
          <p:nvPr/>
        </p:nvSpPr>
        <p:spPr>
          <a:xfrm>
            <a:off x="3671999" y="1782000"/>
            <a:ext cx="2951999" cy="1206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3798000" y="1872000"/>
            <a:ext cx="1080000" cy="125999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Noto Sans TC"/>
              </a:rPr>
              <a:t>標準化內容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3798000" y="2034000"/>
            <a:ext cx="2700000" cy="46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規範PCB放置方式，須以「水平滑入」方式送入檢驗位置。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檢查膠面外觀時同步微調焦距，確保異常發生時可穩定檢出。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搭配新顯微鏡與作業手法，兼顧安全距離與檢出能力。</a:t>
            </a:r>
          </a:p>
        </p:txBody>
      </p:sp>
      <p:sp xmlns:a="http://schemas.openxmlformats.org/drawingml/2006/main">
        <p:nvSpPr>
          <p:cNvPr id="7182" name="Round Same Side Corner Rectangle 7181"/>
          <p:cNvSpPr/>
          <p:nvPr/>
        </p:nvSpPr>
        <p:spPr>
          <a:xfrm>
            <a:off x="216000" y="3078000"/>
            <a:ext cx="6408000" cy="360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24000" y="3186000"/>
            <a:ext cx="4140000" cy="125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設計核心：以設備選型 + 作業標準化同步改善，從源頭消除「鏡頭碰觸膠面」風險。</a:t>
            </a:r>
          </a:p>
        </p:txBody>
      </p:sp>
    </p:spTree>
    <p:extLst>
      <p:ext uri="{BB962C8B-B14F-4D97-AF65-F5344CB8AC3E}">
        <p14:creationId xmlns:p14="http://schemas.microsoft.com/office/powerpoint/2010/main" val="18019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A08E7A72-C75F-4CA6-95C8-50416C107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C. 效益說明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47360-C7A7-4B9E-8801-5991B5016A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73" name="Round Same Side Corner Rectangle 7172"/>
          <p:cNvSpPr/>
          <p:nvPr/>
        </p:nvSpPr>
        <p:spPr>
          <a:xfrm>
            <a:off x="216000" y="827999"/>
            <a:ext cx="3204000" cy="1908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42000" y="917999"/>
            <a:ext cx="2916000" cy="125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膠面裂紋不良率改善（圖示以前值區間中值 0.75% 呈現）</a:t>
            </a:r>
          </a:p>
        </p:txBody>
      </p:sp>
      <p:graphicFrame xmlns:a="http://schemas.openxmlformats.org/drawingml/2006/main">
        <p:nvGraphicFramePr>
          <p:cNvPr id="7175" name="Chart 7174"/>
          <p:cNvGraphicFramePr>
            <a:graphicFrameLocks noGrp="1"/>
          </p:cNvGraphicFramePr>
          <p:nvPr/>
        </p:nvGraphicFramePr>
        <p:xfrm>
          <a:off x="378000" y="1080000"/>
          <a:ext cx="2844000" cy="12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342000" y="2430000"/>
            <a:ext cx="2880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Noto Sans TC"/>
              </a:rPr>
              <a:t>註：變更前實績區間為 0.5–1.0%；圖表採中值 0.75% 作視覺化示意，實際良率改善幅度為 0.5–1.0%。</a:t>
            </a:r>
          </a:p>
        </p:txBody>
      </p:sp>
      <p:sp xmlns:a="http://schemas.openxmlformats.org/drawingml/2006/main">
        <p:nvSpPr>
          <p:cNvPr id="7177" name="Round Same Side Corner Rectangle 7176"/>
          <p:cNvSpPr/>
          <p:nvPr/>
        </p:nvSpPr>
        <p:spPr>
          <a:xfrm>
            <a:off x="3636000" y="846000"/>
            <a:ext cx="864000" cy="612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690000" y="900000"/>
            <a:ext cx="756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113A6B"/>
                </a:solidFill>
                <a:latin typeface="Noto Sans TC"/>
              </a:rPr>
              <a:t>變更前不良率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3690000" y="1080000"/>
            <a:ext cx="756000" cy="30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0.5–1%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3690000" y="1368000"/>
            <a:ext cx="756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實績</a:t>
            </a:r>
          </a:p>
        </p:txBody>
      </p:sp>
      <p:sp xmlns:a="http://schemas.openxmlformats.org/drawingml/2006/main">
        <p:nvSpPr>
          <p:cNvPr id="7181" name="Round Same Side Corner Rectangle 7180"/>
          <p:cNvSpPr/>
          <p:nvPr/>
        </p:nvSpPr>
        <p:spPr>
          <a:xfrm>
            <a:off x="4608000" y="846000"/>
            <a:ext cx="756000" cy="612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4662000" y="900000"/>
            <a:ext cx="648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113A6B"/>
                </a:solidFill>
                <a:latin typeface="Noto Sans TC"/>
              </a:rPr>
              <a:t>變更後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4662000" y="1080000"/>
            <a:ext cx="648000" cy="30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0%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662000" y="1368000"/>
            <a:ext cx="648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實績</a:t>
            </a:r>
          </a:p>
        </p:txBody>
      </p:sp>
      <p:sp xmlns:a="http://schemas.openxmlformats.org/drawingml/2006/main">
        <p:nvSpPr>
          <p:cNvPr id="7185" name="Round Same Side Corner Rectangle 7184"/>
          <p:cNvSpPr/>
          <p:nvPr/>
        </p:nvSpPr>
        <p:spPr>
          <a:xfrm>
            <a:off x="5472000" y="846000"/>
            <a:ext cx="1080000" cy="612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5526000" y="900000"/>
            <a:ext cx="972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113A6B"/>
                </a:solidFill>
                <a:latin typeface="Noto Sans TC"/>
              </a:rPr>
              <a:t>工作距離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5526000" y="1080000"/>
            <a:ext cx="972000" cy="30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8 → 23 mm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5526000" y="1368000"/>
            <a:ext cx="972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+15 mm</a:t>
            </a:r>
          </a:p>
        </p:txBody>
      </p:sp>
      <p:sp xmlns:a="http://schemas.openxmlformats.org/drawingml/2006/main">
        <p:nvSpPr>
          <p:cNvPr id="7189" name="Round Same Side Corner Rectangle 7188"/>
          <p:cNvSpPr/>
          <p:nvPr/>
        </p:nvSpPr>
        <p:spPr>
          <a:xfrm>
            <a:off x="3636000" y="1602000"/>
            <a:ext cx="1404000" cy="648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3690000" y="1656000"/>
            <a:ext cx="1296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113A6B"/>
                </a:solidFill>
                <a:latin typeface="Noto Sans TC"/>
              </a:rPr>
              <a:t>G67整體良率提升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3690000" y="1836000"/>
            <a:ext cx="1296000" cy="30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0.5–1%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3690000" y="2124000"/>
            <a:ext cx="1296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依實績推估</a:t>
            </a:r>
          </a:p>
        </p:txBody>
      </p:sp>
      <p:sp xmlns:a="http://schemas.openxmlformats.org/drawingml/2006/main">
        <p:nvSpPr>
          <p:cNvPr id="7193" name="Round Same Side Corner Rectangle 7192"/>
          <p:cNvSpPr/>
          <p:nvPr/>
        </p:nvSpPr>
        <p:spPr>
          <a:xfrm>
            <a:off x="5148000" y="1602000"/>
            <a:ext cx="1404000" cy="648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5202000" y="1656000"/>
            <a:ext cx="1296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00" b="1">
                <a:solidFill>
                  <a:srgbClr val="113A6B"/>
                </a:solidFill>
                <a:latin typeface="Noto Sans TC"/>
              </a:rPr>
              <a:t>報廢風險</a:t>
            </a:r>
          </a:p>
        </p:txBody>
      </p:sp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5202000" y="1836000"/>
            <a:ext cx="1296000" cy="30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Noto Sans TC"/>
              </a:rPr>
              <a:t>顯著降低</a:t>
            </a:r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5202000" y="2124000"/>
            <a:ext cx="1296000" cy="18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00" b="0">
                <a:solidFill>
                  <a:srgbClr val="1F2937"/>
                </a:solidFill>
                <a:latin typeface="Noto Sans TC"/>
              </a:rPr>
              <a:t>膠面刮傷歸零</a:t>
            </a:r>
          </a:p>
        </p:txBody>
      </p:sp>
      <p:sp xmlns:a="http://schemas.openxmlformats.org/drawingml/2006/main">
        <p:nvSpPr>
          <p:cNvPr id="7197" name="Round Same Side Corner Rectangle 7196"/>
          <p:cNvSpPr/>
          <p:nvPr/>
        </p:nvSpPr>
        <p:spPr>
          <a:xfrm>
            <a:off x="3636000" y="2412000"/>
            <a:ext cx="2916000" cy="720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8" name="TextBox 7197"/>
          <p:cNvSpPr txBox="1"/>
          <p:nvPr/>
        </p:nvSpPr>
        <p:spPr>
          <a:xfrm>
            <a:off x="3761999" y="2502000"/>
            <a:ext cx="900000" cy="125999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13A6B"/>
                </a:solidFill>
                <a:latin typeface="Noto Sans TC"/>
              </a:rPr>
              <a:t>其他效益</a:t>
            </a:r>
          </a:p>
        </p:txBody>
      </p:sp>
      <p:sp xmlns:a="http://schemas.openxmlformats.org/drawingml/2006/main">
        <p:nvSpPr>
          <p:cNvPr id="7199" name="TextBox 7198"/>
          <p:cNvSpPr txBox="1"/>
          <p:nvPr/>
        </p:nvSpPr>
        <p:spPr>
          <a:xfrm>
            <a:off x="3761999" y="2664000"/>
            <a:ext cx="2682000" cy="34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• 降低人為接觸造成之外觀報廢。</a:t>
            </a:r>
          </a:p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• 提升檢驗作業安全間隙與操作穩定性。</a:t>
            </a:r>
          </a:p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• 有助於降低作業員訓練與換線風險。</a:t>
            </a: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D. 以營業秘密保護之考量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7092000" y="4698000"/>
            <a:ext cx="324000" cy="12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1F2937"/>
                </a:solidFill>
                <a:latin typeface="Noto Sans TC"/>
              </a:rPr>
              <a:t>6</a:t>
            </a:r>
          </a:p>
        </p:txBody>
      </p:sp>
      <p:sp xmlns:a="http://schemas.openxmlformats.org/drawingml/2006/main">
        <p:nvSpPr>
          <p:cNvPr id="4" name="Round Same Side Corner Rectangle 3"/>
          <p:cNvSpPr/>
          <p:nvPr/>
        </p:nvSpPr>
        <p:spPr>
          <a:xfrm>
            <a:off x="108000" y="846000"/>
            <a:ext cx="2124000" cy="2376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ound Same Side Corner Rectangle 4"/>
          <p:cNvSpPr/>
          <p:nvPr/>
        </p:nvSpPr>
        <p:spPr>
          <a:xfrm>
            <a:off x="2448000" y="846000"/>
            <a:ext cx="2124000" cy="2376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Round Same Side Corner Rectangle 5"/>
          <p:cNvSpPr/>
          <p:nvPr/>
        </p:nvSpPr>
        <p:spPr>
          <a:xfrm>
            <a:off x="4788000" y="846000"/>
            <a:ext cx="2124000" cy="2376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234000" y="954000"/>
            <a:ext cx="900000" cy="125999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13A6B"/>
                </a:solidFill>
                <a:latin typeface="Noto Sans TC"/>
              </a:rPr>
              <a:t>保護標的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234000" y="1134000"/>
            <a:ext cx="1872000" cy="176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顯微鏡選型規格與工作距離設定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檢驗治具搭配與安全間隙設計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上／下料與水平滑入之作業手法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焦距調整與異常判定標準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改善前後影像案例與內部驗證結果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2574000" y="954000"/>
            <a:ext cx="900000" cy="125999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13A6B"/>
                </a:solidFill>
                <a:latin typeface="Noto Sans TC"/>
              </a:rPr>
              <a:t>保密價值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2574000" y="1134000"/>
            <a:ext cx="1890000" cy="176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本案並非單純更換設備，而是結合工作距離、治具空間、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人工取放路徑與判定方法所形成的檢驗Know-how。</a:t>
            </a:r>
          </a:p>
          <a:p>
            <a:pPr algn="l"/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若外部取得，即可快速複製同類產品的低接觸風險檢驗方式，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縮短試誤時間並降低報廢損失。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4914000" y="954000"/>
            <a:ext cx="1080000" cy="125999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400" b="1">
                <a:solidFill>
                  <a:srgbClr val="113A6B"/>
                </a:solidFill>
                <a:latin typeface="Noto Sans TC"/>
              </a:rPr>
              <a:t>建議管理方式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4914000" y="1134000"/>
            <a:ext cx="1872000" cy="176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簡報、影像與驗證資料標示為 Confidential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限制製程、NPI、設備與品保人員存取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改善參數、驗證結果與作業文件納入版本管制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• 對外不揭露設備規格細節與操作條件</a:t>
            </a:r>
          </a:p>
        </p:txBody>
      </p:sp>
      <p:sp xmlns:a="http://schemas.openxmlformats.org/drawingml/2006/main">
        <p:nvSpPr>
          <p:cNvPr id="13" name="Round Same Side Corner Rectangle 12"/>
          <p:cNvSpPr/>
          <p:nvPr/>
        </p:nvSpPr>
        <p:spPr>
          <a:xfrm>
            <a:off x="108000" y="3311999"/>
            <a:ext cx="6768000" cy="306000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198000" y="3394800"/>
            <a:ext cx="6552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建議對外說法：透過檢驗設備與作業方法優化，降低膠面刮傷風險並提升G67檢驗穩定性；不揭露設備規格、距離條件與操作細節。</a:t>
            </a:r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F013D6EF-A44E-4B8D-829F-CF8E73084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Summary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A000B3-1E2A-4B09-BF65-14D3A1745B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7</a:t>
            </a:r>
          </a:p>
        </p:txBody>
      </p:sp>
      <p:sp xmlns:a="http://schemas.openxmlformats.org/drawingml/2006/main">
        <p:nvSpPr>
          <p:cNvPr id="7173" name="Round Same Side Corner Rectangle 7172"/>
          <p:cNvSpPr/>
          <p:nvPr/>
        </p:nvSpPr>
        <p:spPr>
          <a:xfrm>
            <a:off x="180000" y="864000"/>
            <a:ext cx="1530000" cy="1602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Oval 7173"/>
          <p:cNvSpPr/>
          <p:nvPr/>
        </p:nvSpPr>
        <p:spPr>
          <a:xfrm>
            <a:off x="737999" y="1007999"/>
            <a:ext cx="413999" cy="360000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396000" y="1440000"/>
            <a:ext cx="1116000" cy="125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Noto Sans TC"/>
              </a:rPr>
              <a:t>問題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306000" y="1638000"/>
            <a:ext cx="1278000" cy="61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顯微鏡工作距離過近，人工取放時可能碰觸膠面，造成刮傷報廢。</a:t>
            </a:r>
          </a:p>
        </p:txBody>
      </p:sp>
      <p:sp xmlns:a="http://schemas.openxmlformats.org/drawingml/2006/main">
        <p:nvSpPr>
          <p:cNvPr id="7177" name="Round Same Side Corner Rectangle 7176"/>
          <p:cNvSpPr/>
          <p:nvPr/>
        </p:nvSpPr>
        <p:spPr>
          <a:xfrm>
            <a:off x="1872000" y="864000"/>
            <a:ext cx="1530000" cy="1602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Oval 7177"/>
          <p:cNvSpPr/>
          <p:nvPr/>
        </p:nvSpPr>
        <p:spPr>
          <a:xfrm>
            <a:off x="2430000" y="1007999"/>
            <a:ext cx="413999" cy="360000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2088000" y="1440000"/>
            <a:ext cx="1116000" cy="125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Noto Sans TC"/>
              </a:rPr>
              <a:t>方案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1998000" y="1638000"/>
            <a:ext cx="1278000" cy="61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更換檢驗顯微鏡，將工作距離由 8 mm 提升至 23 mm，並標準化水平滑入作業。</a:t>
            </a:r>
          </a:p>
        </p:txBody>
      </p:sp>
      <p:sp xmlns:a="http://schemas.openxmlformats.org/drawingml/2006/main">
        <p:nvSpPr>
          <p:cNvPr id="7181" name="Round Same Side Corner Rectangle 7180"/>
          <p:cNvSpPr/>
          <p:nvPr/>
        </p:nvSpPr>
        <p:spPr>
          <a:xfrm>
            <a:off x="3564000" y="864000"/>
            <a:ext cx="1530000" cy="1602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Oval 7181"/>
          <p:cNvSpPr/>
          <p:nvPr/>
        </p:nvSpPr>
        <p:spPr>
          <a:xfrm>
            <a:off x="4122000" y="1007999"/>
            <a:ext cx="413999" cy="360000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780000" y="1440000"/>
            <a:ext cx="1116000" cy="125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Noto Sans TC"/>
              </a:rPr>
              <a:t>效益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3690000" y="1638000"/>
            <a:ext cx="1278000" cy="61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膠面裂紋不良由 0.5–1% 降至 0%，G67整體良率提升 0.5–1%。</a:t>
            </a:r>
          </a:p>
        </p:txBody>
      </p:sp>
      <p:sp xmlns:a="http://schemas.openxmlformats.org/drawingml/2006/main">
        <p:nvSpPr>
          <p:cNvPr id="7185" name="Round Same Side Corner Rectangle 7184"/>
          <p:cNvSpPr/>
          <p:nvPr/>
        </p:nvSpPr>
        <p:spPr>
          <a:xfrm>
            <a:off x="5256000" y="864000"/>
            <a:ext cx="1530000" cy="1602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Oval 7185"/>
          <p:cNvSpPr/>
          <p:nvPr/>
        </p:nvSpPr>
        <p:spPr>
          <a:xfrm>
            <a:off x="5813999" y="1007999"/>
            <a:ext cx="413999" cy="360000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5472000" y="1440000"/>
            <a:ext cx="1116000" cy="125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Noto Sans TC"/>
              </a:rPr>
              <a:t>保護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5382000" y="1638000"/>
            <a:ext cx="1278000" cy="61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設備選型、距離條件與作業手法屬內部檢驗Know-how，應納入權限與版本管制。</a:t>
            </a:r>
          </a:p>
        </p:txBody>
      </p:sp>
      <p:sp xmlns:a="http://schemas.openxmlformats.org/drawingml/2006/main">
        <p:nvSpPr>
          <p:cNvPr id="7189" name="Round Same Side Corner Rectangle 7188"/>
          <p:cNvSpPr/>
          <p:nvPr/>
        </p:nvSpPr>
        <p:spPr>
          <a:xfrm>
            <a:off x="180000" y="2646000"/>
            <a:ext cx="3168000" cy="558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306000" y="2743200"/>
            <a:ext cx="720000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113A6B"/>
                </a:solidFill>
                <a:latin typeface="Noto Sans TC"/>
              </a:rPr>
              <a:t>建議導入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306000" y="2887200"/>
            <a:ext cx="2880000" cy="16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於G67檢驗站全面導入新顯微鏡與作業標準，並完成教育訓練與首月追蹤。</a:t>
            </a:r>
          </a:p>
        </p:txBody>
      </p:sp>
      <p:sp xmlns:a="http://schemas.openxmlformats.org/drawingml/2006/main">
        <p:nvSpPr>
          <p:cNvPr id="7192" name="Round Same Side Corner Rectangle 7191"/>
          <p:cNvSpPr/>
          <p:nvPr/>
        </p:nvSpPr>
        <p:spPr>
          <a:xfrm>
            <a:off x="3528000" y="2646000"/>
            <a:ext cx="3096000" cy="55800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3654000" y="2743200"/>
            <a:ext cx="720000" cy="10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/>
            <a:r>
              <a:rPr sz="1300" b="1">
                <a:solidFill>
                  <a:srgbClr val="113A6B"/>
                </a:solidFill>
                <a:latin typeface="Noto Sans TC"/>
              </a:rPr>
              <a:t>驗收 KPI</a:t>
            </a:r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3654000" y="2887200"/>
            <a:ext cx="2826000" cy="162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Noto Sans TC"/>
              </a:rPr>
              <a:t>膠面裂紋不良率、G67整體良率、作業遵守率、異常再發率。</a:t>
            </a: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9650954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2026-07-22T11:55:34.0640000Z</dcterms:created>
  <dcterms:modified xsi:type="dcterms:W3CDTF">2026-07-22T11:55:34.0650000Z</dcterms:modified>
</coreProperties>
</file>