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fonts/font.dat" ContentType="application/x-fontdata"/>
  <Override PartName="/ppt/fonts/font2.dat" ContentType="application/x-fontdata"/>
  <Override PartName="/ppt/fonts/font3.dat" ContentType="application/x-fontdata"/>
  <Override PartName="/ppt/fonts/font4.dat" ContentType="application/x-fontdata"/>
  <Override PartName="/ppt/fonts/font5.dat" ContentType="application/x-fontdata"/>
  <Override PartName="/ppt/media/image.svg" ContentType="image/svg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25de4a4a8a8649f3" Type="http://schemas.openxmlformats.org/package/2006/relationships/metadata/core-properties" Target="docProps/core.xml"/><Relationship Id="R3c3dbadf44f441b5" Type="http://schemas.openxmlformats.org/officeDocument/2006/relationships/officeDocument" Target="ppt/presentation.xml"/><Relationship Id="R9744d7edbe944286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20e6db5ae0474778"/>
  </p:sldMasterIdLst>
  <p:notesMasterIdLst>
    <p:notesMasterId xmlns:r="http://schemas.openxmlformats.org/officeDocument/2006/relationships" r:id="Rbf68ef057a2c4852"/>
  </p:notesMasterIdLst>
  <p:sldIdLst>
    <p:sldId xmlns:r="http://schemas.openxmlformats.org/officeDocument/2006/relationships" id="256" r:id="R4ef526af56cf41e9"/>
    <p:sldId xmlns:r="http://schemas.openxmlformats.org/officeDocument/2006/relationships" id="257" r:id="R205cf061131b4155"/>
    <p:sldId xmlns:r="http://schemas.openxmlformats.org/officeDocument/2006/relationships" id="258" r:id="R044298f454e3456f"/>
    <p:sldId xmlns:r="http://schemas.openxmlformats.org/officeDocument/2006/relationships" id="259" r:id="R8ffd1f2112894a20"/>
    <p:sldId xmlns:r="http://schemas.openxmlformats.org/officeDocument/2006/relationships" id="260" r:id="R01342e450004429f"/>
    <p:sldId xmlns:r="http://schemas.openxmlformats.org/officeDocument/2006/relationships" id="261" r:id="R8e3ea5af091b4834"/>
    <p:sldId xmlns:r="http://schemas.openxmlformats.org/officeDocument/2006/relationships" id="262" r:id="R166fe0d31b4641ad"/>
    <p:sldId xmlns:r="http://schemas.openxmlformats.org/officeDocument/2006/relationships" id="263" r:id="R28b60a4f8b2b45e7"/>
  </p:sldIdLst>
  <p:sldSz cx="9144000" cy="5143500"/>
  <p:notesSz cx="6858000" cy="9144000"/>
  <p:embeddedFontLst>
    <p:embeddedFont>
      <p:font typeface="MS PGothic"/>
      <p:regular xmlns:r="http://schemas.openxmlformats.org/officeDocument/2006/relationships" r:id="R251ac83e6bbd4fc3"/>
    </p:embeddedFont>
    <p:embeddedFont>
      <p:font typeface="Roboto Light"/>
      <p:regular xmlns:r="http://schemas.openxmlformats.org/officeDocument/2006/relationships" r:id="R14159ea19b114910"/>
      <p:italic xmlns:r="http://schemas.openxmlformats.org/officeDocument/2006/relationships" r:id="R19b84bb5512145c3"/>
    </p:embeddedFont>
    <p:embeddedFont>
      <p:font typeface="微軟正黑體"/>
      <p:regular xmlns:r="http://schemas.openxmlformats.org/officeDocument/2006/relationships" r:id="R14bdb507b8e048fa"/>
      <p:bold xmlns:r="http://schemas.openxmlformats.org/officeDocument/2006/relationships" r:id="R8ca19a12c513459f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1342e450004429f" Type="http://schemas.openxmlformats.org/officeDocument/2006/relationships/slide" Target="slides/slide5.xml"/><Relationship Id="R044298f454e3456f" Type="http://schemas.openxmlformats.org/officeDocument/2006/relationships/slide" Target="slides/slide3.xml"/><Relationship Id="R14159ea19b114910" Type="http://schemas.openxmlformats.org/officeDocument/2006/relationships/font" Target="fonts/font2.dat"/><Relationship Id="R14bdb507b8e048fa" Type="http://schemas.openxmlformats.org/officeDocument/2006/relationships/font" Target="fonts/font4.dat"/><Relationship Id="R166fe0d31b4641ad" Type="http://schemas.openxmlformats.org/officeDocument/2006/relationships/slide" Target="slides/slide7.xml"/><Relationship Id="R19b84bb5512145c3" Type="http://schemas.openxmlformats.org/officeDocument/2006/relationships/font" Target="fonts/font3.dat"/><Relationship Id="R1dd7d65d9fd54c7e" Type="http://schemas.openxmlformats.org/officeDocument/2006/relationships/presProps" Target="presProps.xml"/><Relationship Id="R205cf061131b4155" Type="http://schemas.openxmlformats.org/officeDocument/2006/relationships/slide" Target="slides/slide2.xml"/><Relationship Id="R20e6db5ae0474778" Type="http://schemas.openxmlformats.org/officeDocument/2006/relationships/slideMaster" Target="slideMasters/slideMaster1.xml"/><Relationship Id="R251ac83e6bbd4fc3" Type="http://schemas.openxmlformats.org/officeDocument/2006/relationships/font" Target="fonts/font.dat"/><Relationship Id="R28b60a4f8b2b45e7" Type="http://schemas.openxmlformats.org/officeDocument/2006/relationships/slide" Target="slides/slide8.xml"/><Relationship Id="R4ef526af56cf41e9" Type="http://schemas.openxmlformats.org/officeDocument/2006/relationships/slide" Target="slides/slide1.xml"/><Relationship Id="R8ca19a12c513459f" Type="http://schemas.openxmlformats.org/officeDocument/2006/relationships/font" Target="fonts/font5.dat"/><Relationship Id="R8e3ea5af091b4834" Type="http://schemas.openxmlformats.org/officeDocument/2006/relationships/slide" Target="slides/slide6.xml"/><Relationship Id="R8ffd1f2112894a20" Type="http://schemas.openxmlformats.org/officeDocument/2006/relationships/slide" Target="slides/slide4.xml"/><Relationship Id="R9692e07bb3914bf7" Type="http://schemas.openxmlformats.org/officeDocument/2006/relationships/theme" Target="theme/theme1.xml"/><Relationship Id="Rbf68ef057a2c4852" Type="http://schemas.openxmlformats.org/officeDocument/2006/relationships/notesMaster" Target="notesMasters/notesMaster1.xml"/><Relationship Id="Rd181acebd8844e4a" Type="http://schemas.openxmlformats.org/officeDocument/2006/relationships/tableStyles" Target="tableStyles.xml"/><Relationship Id="Red4a4c52e8784cfa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06f733eac54a4f86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佈景主題">
  <a:themeElements>
    <a:clrScheme name="Ennostar-Color">
      <a:dk1>
        <a:srgbClr val="4C4948"/>
      </a:dk1>
      <a:lt1>
        <a:srgbClr val="FFFFFF"/>
      </a:lt1>
      <a:dk2>
        <a:srgbClr val="262424"/>
      </a:dk2>
      <a:lt2>
        <a:srgbClr val="F2F2F2"/>
      </a:lt2>
      <a:accent1>
        <a:srgbClr val="004B9F"/>
      </a:accent1>
      <a:accent2>
        <a:srgbClr val="4C6FFF"/>
      </a:accent2>
      <a:accent3>
        <a:srgbClr val="00C49E"/>
      </a:accent3>
      <a:accent4>
        <a:srgbClr val="FFA300"/>
      </a:accent4>
      <a:accent5>
        <a:srgbClr val="D146E0"/>
      </a:accent5>
      <a:accent6>
        <a:srgbClr val="BFD300"/>
      </a:accent6>
      <a:hlink>
        <a:srgbClr val="0000FF"/>
      </a:hlink>
      <a:folHlink>
        <a:srgbClr val="800080"/>
      </a:folHlink>
    </a:clrScheme>
    <a:fontScheme name="Ennostar">
      <a:majorFont>
        <a:latin typeface="Roboto"/>
        <a:ea typeface="微軟正黑體"/>
        <a:cs typeface=""/>
      </a:majorFont>
      <a:minorFont>
        <a:latin typeface="Roboto"/>
        <a:ea typeface="微軟正黑體"/>
        <a:cs typeface=""/>
      </a:minorFont>
    </a:fontScheme>
    <a:fmtScheme name="Ennostar-Colo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b002f08c14d94aeb" Type="http://schemas.openxmlformats.org/officeDocument/2006/relationships/slide" Target="../slides/slide1.xml"/><Relationship Id="Rc3503eb72bc74a84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a272092ab7f14dcf" Type="http://schemas.openxmlformats.org/officeDocument/2006/relationships/notesMaster" Target="../notesMasters/notesMaster1.xml"/><Relationship Id="Rbe455cd047524dd8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ad72439a7bec4a20" Type="http://schemas.openxmlformats.org/officeDocument/2006/relationships/slide" Target="../slides/slide3.xml"/><Relationship Id="Rdca2b472903d437c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3f01f7aa7d694ae7" Type="http://schemas.openxmlformats.org/officeDocument/2006/relationships/notesMaster" Target="../notesMasters/notesMaster1.xml"/><Relationship Id="Rca9cb98bb9b649f3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be0ae237ae884899" Type="http://schemas.openxmlformats.org/officeDocument/2006/relationships/notesMaster" Target="../notesMasters/notesMaster1.xml"/><Relationship Id="Rf9301a45fd524ce1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7913c9d5f405406c" Type="http://schemas.openxmlformats.org/officeDocument/2006/relationships/slide" Target="../slides/slide6.xml"/><Relationship Id="Rc429832d74a04e28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00b221f457d14e2e" Type="http://schemas.openxmlformats.org/officeDocument/2006/relationships/slide" Target="../slides/slide7.xml"/><Relationship Id="R88bf2ba6535a4100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4e05e86605c747fb" Type="http://schemas.openxmlformats.org/officeDocument/2006/relationships/notesMaster" Target="../notesMasters/notesMaster1.xml"/><Relationship Id="Rdac5eb3d519b4652" Type="http://schemas.openxmlformats.org/officeDocument/2006/relationships/slide" Target="../slides/slide8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b32a06a21ff9488e" Type="http://schemas.openxmlformats.org/officeDocument/2006/relationships/image" Target="../media/image.svg"/><Relationship Id="Rd2afb519233c417a" Type="http://schemas.openxmlformats.org/officeDocument/2006/relationships/image" Target="../media/image.jpeg"/><Relationship Id="Rdc7f0447c55f415f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42d69c27b9774599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8186553e468a45d8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20bd5a5217834367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3f69b0fdabb74c2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5272658e58cf4e90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03540509664d4f16" Type="http://schemas.openxmlformats.org/officeDocument/2006/relationships/image" Target="../media/image2.jpeg"/><Relationship Id="Rf6106bb34ad2405c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02b01c415b124746" Type="http://schemas.openxmlformats.org/officeDocument/2006/relationships/image" Target="../media/image3.jpeg"/><Relationship Id="R760dc01ee17d4cbf" Type="http://schemas.openxmlformats.org/officeDocument/2006/relationships/slideMaster" Target="../slideMasters/slideMaster1.xml"/><Relationship Id="Rc9fa4ce8ebed47cd" Type="http://schemas.openxmlformats.org/officeDocument/2006/relationships/image" Target="../media/image.jpeg"/><Relationship Id="Rfe4bfaa73df84319" Type="http://schemas.openxmlformats.org/officeDocument/2006/relationships/image" Target="../media/image.svg"/></Relationships>
</file>

<file path=ppt/slideLayouts/_rels/slideLayout9.xml.rels><?xml version='1.0' encoding='UTF-8' standalone='yes'?>
<Relationships xmlns="http://schemas.openxmlformats.org/package/2006/relationships"><Relationship Id="R0ed85a975206417c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userDrawn="1">
  <p:cSld name="NO">
    <p:bg>
      <p:bgPr>
        <a:blipFill xmlns:a="http://schemas.openxmlformats.org/drawingml/2006/main" rotWithShape="1">
          <a:blip xmlns:r="http://schemas.openxmlformats.org/officeDocument/2006/relationships" r:embed="Rd2afb519233c417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圖形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fb519233c417a">
            <a:extLst>
              <a:ext uri="{96DAC541-7B7A-43D3-8B79-37D633B846F1}">
                <asvg:svgBlip xmlns:asvg="http://schemas.microsoft.com/office/drawing/2016/SVG/main" r:embed="Rb32a06a21ff9488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959" y="509888"/>
            <a:ext cx="1620000" cy="281912"/>
          </a:xfrm>
          <a:prstGeom xmlns:a="http://schemas.openxmlformats.org/drawingml/2006/main" prst="rect">
            <a:avLst/>
          </a:prstGeom>
        </p:spPr>
      </p:pic>
      <p:sp>
        <p:nvSpPr>
          <p:cNvPr id="5" name="標題 1">
            <a:extLst xmlns:a="http://schemas.openxmlformats.org/drawingml/2006/main">
              <a:ext uri="{FF2B5EF4-FFF2-40B4-BE49-F238E27FC236}">
                <a16:creationId xmlns:a16="http://schemas.microsoft.com/office/drawing/2014/main" id="{F30EA4B6-1EA5-CAD2-7D92-D816D026C90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09620" y="1433376"/>
            <a:ext cx="6575285" cy="17907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lnSpc>
                <a:spcPct val="150000"/>
              </a:lnSpc>
              <a:buNone/>
              <a:defRPr sz="28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6" name="文字版面配置區 9">
            <a:extLst xmlns:a="http://schemas.openxmlformats.org/drawingml/2006/main">
              <a:ext uri="{FF2B5EF4-FFF2-40B4-BE49-F238E27FC236}">
                <a16:creationId xmlns:a16="http://schemas.microsoft.com/office/drawing/2014/main" id="{5AB66D1F-A2DD-022A-5025-4D3881B08E7B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421361" y="3723659"/>
            <a:ext cx="4137025" cy="106424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6_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A4F3AE4-856A-5163-E627-6D01F6F5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1560" y="224043"/>
            <a:ext cx="7876108" cy="480600"/>
          </a:xfrm>
        </p:spPr>
        <p:txBody>
          <a:bodyPr xmlns:a="http://schemas.openxmlformats.org/drawingml/2006/main" lIns="0">
            <a:normAutofit/>
          </a:bodyPr>
          <a:lstStyle xmlns:a="http://schemas.openxmlformats.org/drawingml/2006/main">
            <a:lvl1pPr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-2926"/>
            <a:ext cx="90776" cy="2734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D067D35E-DB98-1A2F-C350-F063DC9D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6" name="手繪多邊形: 圖案 5">
            <a:extLst xmlns:a="http://schemas.openxmlformats.org/drawingml/2006/main">
              <a:ext uri="{FF2B5EF4-FFF2-40B4-BE49-F238E27FC236}">
                <a16:creationId xmlns:a16="http://schemas.microsoft.com/office/drawing/2014/main" id="{F941FA01-169A-9CC1-113E-9C690B04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3B73E5D6-1E65-09C2-5DE6-598D1FE8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F791F0FA-3D2A-6EA8-A678-73A95BDE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9" name="手繪多邊形: 圖案 8">
            <a:extLst xmlns:a="http://schemas.openxmlformats.org/drawingml/2006/main">
              <a:ext uri="{FF2B5EF4-FFF2-40B4-BE49-F238E27FC236}">
                <a16:creationId xmlns:a16="http://schemas.microsoft.com/office/drawing/2014/main" id="{313CAB3E-8E49-4B1B-A765-96826F5F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EDFAB0CA-9A16-3303-A4B4-AD1E294A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F98341F7-9E6A-49B1-3196-693228DF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2" name="手繪多邊形: 圖案 11">
            <a:extLst xmlns:a="http://schemas.openxmlformats.org/drawingml/2006/main">
              <a:ext uri="{FF2B5EF4-FFF2-40B4-BE49-F238E27FC236}">
                <a16:creationId xmlns:a16="http://schemas.microsoft.com/office/drawing/2014/main" id="{4934BB63-0AB7-C7AE-5731-CF2E91CE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內容版面配置區 20">
            <a:extLst xmlns:a="http://schemas.openxmlformats.org/drawingml/2006/main"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92854" y="841773"/>
            <a:ext cx="8761837" cy="3963372"/>
          </a:xfrm>
        </p:spPr>
        <p:txBody>
          <a:bodyPr xmlns:a="http://schemas.openxmlformats.org/drawingml/2006/main" lIns="36000">
            <a:normAutofit/>
          </a:bodyPr>
          <a:lstStyle xmlns:a="http://schemas.openxmlformats.org/drawingml/2006/main">
            <a:lvl1pPr>
              <a:buNone/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215041"/>
            <a:ext cx="90774" cy="4896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D3855B8F-FD56-5493-53BA-9BEA4C8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B8C2DC5A-3AC4-DC00-EF78-B9920046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2_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A4F3AE4-856A-5163-E627-6D01F6F5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1560" y="224043"/>
            <a:ext cx="7876108" cy="480600"/>
          </a:xfrm>
        </p:spPr>
        <p:txBody>
          <a:bodyPr xmlns:a="http://schemas.openxmlformats.org/drawingml/2006/main" lIns="0">
            <a:normAutofit/>
          </a:bodyPr>
          <a:lstStyle xmlns:a="http://schemas.openxmlformats.org/drawingml/2006/main">
            <a:lvl1pPr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-2926"/>
            <a:ext cx="90776" cy="2734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內容版面配置區 20">
            <a:extLst xmlns:a="http://schemas.openxmlformats.org/drawingml/2006/main"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92854" y="841773"/>
            <a:ext cx="8761837" cy="3963372"/>
          </a:xfrm>
        </p:spPr>
        <p:txBody>
          <a:bodyPr xmlns:a="http://schemas.openxmlformats.org/drawingml/2006/main" lIns="36000">
            <a:normAutofit/>
          </a:bodyPr>
          <a:lstStyle xmlns:a="http://schemas.openxmlformats.org/drawingml/2006/main">
            <a:lvl1pPr>
              <a:buNone/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215041"/>
            <a:ext cx="90774" cy="4896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D3855B8F-FD56-5493-53BA-9BEA4C8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B2DE94A3-8D80-D68B-3D16-B4CD8701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844D30BA-A527-81A0-485F-BE1328BC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077362FD-2310-314B-027B-D8E03B47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7A613C8A-8C2A-1523-0AA8-BB262551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34D52C2B-D04A-6EDC-7FCF-F840968E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" name="手繪多邊形: 圖案 20">
            <a:extLst xmlns:a="http://schemas.openxmlformats.org/drawingml/2006/main">
              <a:ext uri="{FF2B5EF4-FFF2-40B4-BE49-F238E27FC236}">
                <a16:creationId xmlns:a16="http://schemas.microsoft.com/office/drawing/2014/main" id="{DF6F2E4C-820F-45C4-A8C6-03517E8D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F5AC4AA7-15D8-FC84-5990-22D59FB1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4618E767-40E2-EC3A-1269-ABED0AC2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4" name="手繪多邊形: 圖案 23">
            <a:extLst xmlns:a="http://schemas.openxmlformats.org/drawingml/2006/main">
              <a:ext uri="{FF2B5EF4-FFF2-40B4-BE49-F238E27FC236}">
                <a16:creationId xmlns:a16="http://schemas.microsoft.com/office/drawing/2014/main" id="{0EBB9939-68A9-C97F-4E74-CBE7A34E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3_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A4F3AE4-856A-5163-E627-6D01F6F5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1560" y="224043"/>
            <a:ext cx="7876108" cy="480600"/>
          </a:xfrm>
        </p:spPr>
        <p:txBody>
          <a:bodyPr xmlns:a="http://schemas.openxmlformats.org/drawingml/2006/main" lIns="0">
            <a:normAutofit/>
          </a:bodyPr>
          <a:lstStyle xmlns:a="http://schemas.openxmlformats.org/drawingml/2006/main">
            <a:lvl1pPr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-2926"/>
            <a:ext cx="90776" cy="2734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內容版面配置區 20">
            <a:extLst xmlns:a="http://schemas.openxmlformats.org/drawingml/2006/main"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92854" y="841773"/>
            <a:ext cx="8761837" cy="3963372"/>
          </a:xfrm>
        </p:spPr>
        <p:txBody>
          <a:bodyPr xmlns:a="http://schemas.openxmlformats.org/drawingml/2006/main" lIns="36000">
            <a:normAutofit/>
          </a:bodyPr>
          <a:lstStyle xmlns:a="http://schemas.openxmlformats.org/drawingml/2006/main">
            <a:lvl1pPr>
              <a:buNone/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215041"/>
            <a:ext cx="90774" cy="4896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D3855B8F-FD56-5493-53BA-9BEA4C8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607BEBEB-1EAC-DE58-02F4-E2F30FE7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408996C7-F996-9B38-9D3E-AEDDD060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6219661E-F9AC-3DB2-0914-2B1C26D0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6D2540B6-74D7-BF17-62DE-D36FA09A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95A9F677-E62A-B977-1184-CB2F7783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" name="手繪多邊形: 圖案 20">
            <a:extLst xmlns:a="http://schemas.openxmlformats.org/drawingml/2006/main">
              <a:ext uri="{FF2B5EF4-FFF2-40B4-BE49-F238E27FC236}">
                <a16:creationId xmlns:a16="http://schemas.microsoft.com/office/drawing/2014/main" id="{0375208F-13E0-B71C-05BC-B8A01DD4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ED7BD8DE-6415-6154-D316-F7B3D1DE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9BBAC877-E8AC-2BAF-B501-625F36FB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4" name="手繪多邊形: 圖案 23">
            <a:extLst xmlns:a="http://schemas.openxmlformats.org/drawingml/2006/main">
              <a:ext uri="{FF2B5EF4-FFF2-40B4-BE49-F238E27FC236}">
                <a16:creationId xmlns:a16="http://schemas.microsoft.com/office/drawing/2014/main" id="{6D7AA028-4714-8A19-2B73-F1807B2B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4_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A4F3AE4-856A-5163-E627-6D01F6F5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1560" y="224043"/>
            <a:ext cx="7876108" cy="480600"/>
          </a:xfrm>
        </p:spPr>
        <p:txBody>
          <a:bodyPr xmlns:a="http://schemas.openxmlformats.org/drawingml/2006/main" lIns="0">
            <a:normAutofit/>
          </a:bodyPr>
          <a:lstStyle xmlns:a="http://schemas.openxmlformats.org/drawingml/2006/main">
            <a:lvl1pPr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-2926"/>
            <a:ext cx="90776" cy="2734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內容版面配置區 20">
            <a:extLst xmlns:a="http://schemas.openxmlformats.org/drawingml/2006/main"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92854" y="841773"/>
            <a:ext cx="8761837" cy="3963372"/>
          </a:xfrm>
        </p:spPr>
        <p:txBody>
          <a:bodyPr xmlns:a="http://schemas.openxmlformats.org/drawingml/2006/main" lIns="36000">
            <a:normAutofit/>
          </a:bodyPr>
          <a:lstStyle xmlns:a="http://schemas.openxmlformats.org/drawingml/2006/main">
            <a:lvl1pPr>
              <a:buNone/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215041"/>
            <a:ext cx="90774" cy="4896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D3855B8F-FD56-5493-53BA-9BEA4C8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CD0B506F-F4E5-B87B-AF77-E5337916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17EDB9B5-1719-92EE-65AC-E8392798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B204D236-863F-AE5D-A8E6-C2216617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C6DF2A49-A57E-7B39-9AF1-1A9E6D57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62CF9680-BF7B-412A-CE95-C87DAF4A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" name="手繪多邊形: 圖案 20">
            <a:extLst xmlns:a="http://schemas.openxmlformats.org/drawingml/2006/main">
              <a:ext uri="{FF2B5EF4-FFF2-40B4-BE49-F238E27FC236}">
                <a16:creationId xmlns:a16="http://schemas.microsoft.com/office/drawing/2014/main" id="{F3EBAF98-77AE-494D-FCA9-F54E34A6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A557B764-00A0-46B9-4028-596AFBFE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3394AF1E-F464-9D64-F738-F1D4A9E6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4" name="手繪多邊形: 圖案 23">
            <a:extLst xmlns:a="http://schemas.openxmlformats.org/drawingml/2006/main">
              <a:ext uri="{FF2B5EF4-FFF2-40B4-BE49-F238E27FC236}">
                <a16:creationId xmlns:a16="http://schemas.microsoft.com/office/drawing/2014/main" id="{2AAEA814-7EBB-6340-75B9-979BE531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5_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A4F3AE4-856A-5163-E627-6D01F6F5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1560" y="224043"/>
            <a:ext cx="7876108" cy="480600"/>
          </a:xfrm>
        </p:spPr>
        <p:txBody>
          <a:bodyPr xmlns:a="http://schemas.openxmlformats.org/drawingml/2006/main" lIns="0">
            <a:normAutofit/>
          </a:bodyPr>
          <a:lstStyle xmlns:a="http://schemas.openxmlformats.org/drawingml/2006/main">
            <a:lvl1pPr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-2926"/>
            <a:ext cx="90776" cy="2734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內容版面配置區 20">
            <a:extLst xmlns:a="http://schemas.openxmlformats.org/drawingml/2006/main"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92854" y="841773"/>
            <a:ext cx="8761837" cy="3963372"/>
          </a:xfrm>
        </p:spPr>
        <p:txBody>
          <a:bodyPr xmlns:a="http://schemas.openxmlformats.org/drawingml/2006/main" lIns="36000">
            <a:normAutofit/>
          </a:bodyPr>
          <a:lstStyle xmlns:a="http://schemas.openxmlformats.org/drawingml/2006/main">
            <a:lvl1pPr>
              <a:buNone/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215041"/>
            <a:ext cx="90774" cy="4896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D3855B8F-FD56-5493-53BA-9BEA4C8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1890509B-3FFF-67B9-2EFB-D202760A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D0D72D94-1389-9377-5290-4C58495F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01D088CB-CC88-1FE0-3AC1-3F519437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C3AD385E-3EFE-FBA2-F94C-546C8982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A11B2028-5E73-6B1D-1670-38F1E855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" name="手繪多邊形: 圖案 20">
            <a:extLst xmlns:a="http://schemas.openxmlformats.org/drawingml/2006/main">
              <a:ext uri="{FF2B5EF4-FFF2-40B4-BE49-F238E27FC236}">
                <a16:creationId xmlns:a16="http://schemas.microsoft.com/office/drawing/2014/main" id="{D1005EDF-9BB2-B00C-46FB-31BED787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D076D30F-9855-7D60-D9B2-6D8F4675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E2BDE920-FA5F-9880-2F43-4C8D8D90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4" name="手繪多邊形: 圖案 23">
            <a:extLst xmlns:a="http://schemas.openxmlformats.org/drawingml/2006/main">
              <a:ext uri="{FF2B5EF4-FFF2-40B4-BE49-F238E27FC236}">
                <a16:creationId xmlns:a16="http://schemas.microsoft.com/office/drawing/2014/main" id="{436E3EAC-A630-BF9B-787C-FC168B48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4_NO">
    <p:bg>
      <p:bgPr>
        <a:blipFill xmlns:a="http://schemas.openxmlformats.org/drawingml/2006/main" rotWithShape="1">
          <a:blip xmlns:r="http://schemas.openxmlformats.org/officeDocument/2006/relationships" r:embed="R03540509664d4f1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標題 1">
            <a:extLst xmlns:a="http://schemas.openxmlformats.org/drawingml/2006/main">
              <a:ext uri="{FF2B5EF4-FFF2-40B4-BE49-F238E27FC236}">
                <a16:creationId xmlns:a16="http://schemas.microsoft.com/office/drawing/2014/main" id="{6AEA8C3C-A036-4B77-B8CD-09625A8ED3E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21050" y="1676400"/>
            <a:ext cx="5679255" cy="17907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2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45E3C85-4891-1A25-EE4F-82200A8E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字方塊 26">
            <a:extLst xmlns:a="http://schemas.openxmlformats.org/drawingml/2006/main">
              <a:ext uri="{FF2B5EF4-FFF2-40B4-BE49-F238E27FC236}">
                <a16:creationId xmlns:a16="http://schemas.microsoft.com/office/drawing/2014/main" id="{4A47F723-4F80-88E0-2119-3C04C7EA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C0B6C38F-0A5C-0698-1F8D-56E44F2A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0EA36068-B592-77AC-CDCC-1EBDC6E4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5D33458A-8375-FDE9-E878-C1BE270A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19ACBC42-2343-9B9C-6958-31944714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5BB0C189-8222-5238-A819-23E7137A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2" name="手繪多邊形: 圖案 11">
            <a:extLst xmlns:a="http://schemas.openxmlformats.org/drawingml/2006/main">
              <a:ext uri="{FF2B5EF4-FFF2-40B4-BE49-F238E27FC236}">
                <a16:creationId xmlns:a16="http://schemas.microsoft.com/office/drawing/2014/main" id="{55C0A18D-1096-2010-A9D2-F338B92E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DB01F9FB-8A74-B0FB-E978-BBCF05E3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6E502A36-44D7-4F93-00A2-A823583D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74521D93-7C67-F49E-4B23-769237CA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6_Ending Page">
    <p:bg>
      <p:bgPr>
        <a:blipFill xmlns:a="http://schemas.openxmlformats.org/drawingml/2006/main" rotWithShape="1">
          <a:blip xmlns:r="http://schemas.openxmlformats.org/officeDocument/2006/relationships" r:embed="R02b01c415b12474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圖形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fa4ce8ebed47cd">
            <a:extLst>
              <a:ext uri="{96DAC541-7B7A-43D3-8B79-37D633B846F1}">
                <asvg:svgBlip xmlns:asvg="http://schemas.microsoft.com/office/drawing/2016/SVG/main" r:embed="Rfe4bfaa73df8431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76532" y="1661914"/>
            <a:ext cx="1962130" cy="341448"/>
          </a:xfrm>
          <a:prstGeom xmlns:a="http://schemas.openxmlformats.org/drawingml/2006/main" prst="rect">
            <a:avLst/>
          </a:prstGeom>
        </p:spPr>
      </p:pic>
      <p:sp>
        <p:nvSpPr>
          <p:cNvPr id="8" name="文字方塊 7">
            <a:extLst xmlns:a="http://schemas.openxmlformats.org/drawingml/2006/main">
              <a:ext uri="{FF2B5EF4-FFF2-40B4-BE49-F238E27FC236}">
                <a16:creationId xmlns:a16="http://schemas.microsoft.com/office/drawing/2014/main" id="{E2E4EF78-35FB-4A91-2CA8-A0E350C2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491" y="2345384"/>
            <a:ext cx="4971288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Bright Innovation</a:t>
            </a:r>
            <a:r>
              <a:rPr sz="200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．</a:t>
            </a:r>
            <a:r>
              <a:rPr sz="200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Sustainable Future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1C286CB-829C-41C0-A295-1F2DEAF47545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457200" y="742951"/>
            <a:ext cx="8229600" cy="36004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100"/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4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5428EC4B-568E-4184-BC32-A5A23179B7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05979"/>
            <a:ext cx="822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 b="1"/>
            </a:lvl1pPr>
          </a:lstStyle>
          <a:p xmlns:a="http://schemas.openxmlformats.org/drawingml/2006/main">
            <a:pPr>
              <a:buNone/>
            </a:pPr>
            <a:r>
              <a:t>Click to edit Master title style</a:t>
            </a:r>
          </a:p>
        </p:txBody>
      </p:sp>
      <p:sp>
        <p:nvSpPr>
          <p:cNvPr id="5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55C85EC-CD80-4230-AB30-639BA3D456A3}"/>
              </a:ext>
            </a:extLst>
          </p:cNvPr>
          <p:cNvSpPr>
            <a:spLocks xmlns:a="http://schemas.openxmlformats.org/drawingml/2006/main" noGrp="1"/>
          </p:cNvSpPr>
          <p:nvPr>
            <p:ph type="sldNum" idx="14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D67B409B-8358-4DFC-99EB-A8FD880AEB92}" type="slidenum">
              <a:t>‹#›</a:t>
            </a:fld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0a0f65f5342b4969" Type="http://schemas.openxmlformats.org/officeDocument/2006/relationships/slideLayout" Target="../slideLayouts/slideLayout6.xml"/><Relationship Id="R17886187e55f452d" Type="http://schemas.openxmlformats.org/officeDocument/2006/relationships/slideLayout" Target="../slideLayouts/slideLayout5.xml"/><Relationship Id="R5ab9cb7196b94ba8" Type="http://schemas.openxmlformats.org/officeDocument/2006/relationships/slideLayout" Target="../slideLayouts/slideLayout8.xml"/><Relationship Id="R71c41d335c564363" Type="http://schemas.openxmlformats.org/officeDocument/2006/relationships/slideLayout" Target="../slideLayouts/slideLayout3.xml"/><Relationship Id="R91f19dd47453421c" Type="http://schemas.openxmlformats.org/officeDocument/2006/relationships/slideLayout" Target="../slideLayouts/slideLayout2.xml"/><Relationship Id="R940dbd83033942a3" Type="http://schemas.openxmlformats.org/officeDocument/2006/relationships/slideLayout" Target="../slideLayouts/slideLayout1.xml"/><Relationship Id="Rca10b00f6cc4469f" Type="http://schemas.openxmlformats.org/officeDocument/2006/relationships/slideLayout" Target="../slideLayouts/slideLayout4.xml"/><Relationship Id="Rd63f815dee9c40b9" Type="http://schemas.openxmlformats.org/officeDocument/2006/relationships/theme" Target="theme/theme2.xml"/><Relationship Id="Re66d75c5b4004dc0" Type="http://schemas.openxmlformats.org/officeDocument/2006/relationships/slideLayout" Target="../slideLayouts/slideLayout7.xml"/><Relationship Id="Rfe0ad06f96cd423f" Type="http://schemas.openxmlformats.org/officeDocument/2006/relationships/slideLayout" Target="../slideLayouts/slideLayout9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B8D49BD-F53A-4CD7-9E09-57EB6794E0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1564F88-2685-475F-92CF-4C1907BC10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847413D-AA86-413D-92EC-DC29DF4F30C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6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fld id="{D04105CA-BFC3-4BCD-B806-E151D69215F4}" type="datetimeFigureOut">
              <a:t>2026/7/22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99DB3CE-A747-4908-9CB2-1D7D9D44DC8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6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82BB4CB-26DC-4982-B2E3-44340A594D9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6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fld id="{72E5D2EC-D9FC-4367-9291-770F97719C88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0dbd83033942a3"/>
    <p:sldLayoutId xmlns:r="http://schemas.openxmlformats.org/officeDocument/2006/relationships" id="2147483650" r:id="R91f19dd47453421c"/>
    <p:sldLayoutId xmlns:r="http://schemas.openxmlformats.org/officeDocument/2006/relationships" id="2147483651" r:id="R71c41d335c564363"/>
    <p:sldLayoutId xmlns:r="http://schemas.openxmlformats.org/officeDocument/2006/relationships" id="2147483652" r:id="Rca10b00f6cc4469f"/>
    <p:sldLayoutId xmlns:r="http://schemas.openxmlformats.org/officeDocument/2006/relationships" id="2147483653" r:id="R17886187e55f452d"/>
    <p:sldLayoutId xmlns:r="http://schemas.openxmlformats.org/officeDocument/2006/relationships" id="2147483654" r:id="R0a0f65f5342b4969"/>
    <p:sldLayoutId xmlns:r="http://schemas.openxmlformats.org/officeDocument/2006/relationships" id="2147483655" r:id="Re66d75c5b4004dc0"/>
    <p:sldLayoutId xmlns:r="http://schemas.openxmlformats.org/officeDocument/2006/relationships" id="2147483656" r:id="R5ab9cb7196b94ba8"/>
    <p:sldLayoutId xmlns:r="http://schemas.openxmlformats.org/officeDocument/2006/relationships" id="2147483657" r:id="Rfe0ad06f96cd423f"/>
  </p:sldLayoutIdLst>
  <p:txStyles>
    <p:titleStyle>
      <a:lvl1pPr xmlns:a="http://schemas.openxmlformats.org/drawingml/2006/main" algn="l">
        <a:lnSpc>
          <a:spcPct val="90000"/>
        </a:lnSpc>
        <a:buNone/>
        <a:defRPr sz="2400" b="1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171450" indent="-171450" algn="l">
        <a:lnSpc>
          <a:spcPct val="90000"/>
        </a:lnSpc>
        <a:spcBef>
          <a:spcPts val="750"/>
        </a:spcBef>
        <a:buChar char="•"/>
        <a:defRPr sz="160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1pPr>
      <a:lvl2pPr xmlns:a="http://schemas.openxmlformats.org/drawingml/2006/main" marL="514350" indent="-171450" algn="l">
        <a:lnSpc>
          <a:spcPct val="90000"/>
        </a:lnSpc>
        <a:spcBef>
          <a:spcPts val="375"/>
        </a:spcBef>
        <a:buChar char="•"/>
        <a:defRPr sz="120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2pPr>
      <a:lvl3pPr xmlns:a="http://schemas.openxmlformats.org/drawingml/2006/main" marL="857250" indent="-171450" algn="l">
        <a:lnSpc>
          <a:spcPct val="90000"/>
        </a:lnSpc>
        <a:spcBef>
          <a:spcPts val="375"/>
        </a:spcBef>
        <a:buChar char="•"/>
        <a:defRPr sz="110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3pPr>
      <a:lvl4pPr xmlns:a="http://schemas.openxmlformats.org/drawingml/2006/main" marL="1200150" indent="-171450" algn="l">
        <a:lnSpc>
          <a:spcPct val="90000"/>
        </a:lnSpc>
        <a:spcBef>
          <a:spcPts val="375"/>
        </a:spcBef>
        <a:buChar char="•"/>
        <a:defRPr sz="105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4pPr>
      <a:lvl5pPr xmlns:a="http://schemas.openxmlformats.org/drawingml/2006/main" marL="1543050" indent="-171450" algn="l">
        <a:lnSpc>
          <a:spcPct val="90000"/>
        </a:lnSpc>
        <a:spcBef>
          <a:spcPts val="375"/>
        </a:spcBef>
        <a:buChar char="•"/>
        <a:defRPr sz="105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5pPr>
      <a:lvl6pPr xmlns:a="http://schemas.openxmlformats.org/drawingml/2006/main" marL="18859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佈景主題">
  <a:themeElements>
    <a:clrScheme name="Ennostar-Color">
      <a:dk1>
        <a:srgbClr val="4C4948"/>
      </a:dk1>
      <a:lt1>
        <a:srgbClr val="FFFFFF"/>
      </a:lt1>
      <a:dk2>
        <a:srgbClr val="262424"/>
      </a:dk2>
      <a:lt2>
        <a:srgbClr val="F2F2F2"/>
      </a:lt2>
      <a:accent1>
        <a:srgbClr val="004B9F"/>
      </a:accent1>
      <a:accent2>
        <a:srgbClr val="4C6FFF"/>
      </a:accent2>
      <a:accent3>
        <a:srgbClr val="00C49E"/>
      </a:accent3>
      <a:accent4>
        <a:srgbClr val="FFA300"/>
      </a:accent4>
      <a:accent5>
        <a:srgbClr val="D146E0"/>
      </a:accent5>
      <a:accent6>
        <a:srgbClr val="BFD300"/>
      </a:accent6>
      <a:hlink>
        <a:srgbClr val="0000FF"/>
      </a:hlink>
      <a:folHlink>
        <a:srgbClr val="800080"/>
      </a:folHlink>
    </a:clrScheme>
    <a:fontScheme name="Ennostar">
      <a:majorFont>
        <a:latin typeface="Roboto"/>
        <a:ea typeface="微軟正黑體"/>
        <a:cs typeface=""/>
      </a:majorFont>
      <a:minorFont>
        <a:latin typeface="Roboto"/>
        <a:ea typeface="微軟正黑體"/>
        <a:cs typeface=""/>
      </a:minorFont>
    </a:fontScheme>
    <a:fmtScheme name="Ennostar-Colo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9a29333211c04175" Type="http://schemas.openxmlformats.org/officeDocument/2006/relationships/slideLayout" Target="../slideLayouts/slideLayout1.xml"/><Relationship Id="Rccefae7ba3f040e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103c5b26404a4400" Type="http://schemas.openxmlformats.org/officeDocument/2006/relationships/slideLayout" Target="../slideLayouts/slideLayout2.xml"/><Relationship Id="Re9cb44296135433f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140a9438727f479b" Type="http://schemas.openxmlformats.org/officeDocument/2006/relationships/notesSlide" Target="../notesSlides/notesSlide3.xml"/><Relationship Id="R594a008d88d94c3e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54b5e182ff0b488a" Type="http://schemas.openxmlformats.org/officeDocument/2006/relationships/slideLayout" Target="../slideLayouts/slideLayout2.xml"/><Relationship Id="Rf6b54dc4e2024b9f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74d7d7c122c140e4" Type="http://schemas.openxmlformats.org/officeDocument/2006/relationships/notesSlide" Target="../notesSlides/notesSlide5.xml"/><Relationship Id="R871dfec4e3b54e74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873b044c0fdd458d" Type="http://schemas.openxmlformats.org/officeDocument/2006/relationships/slideLayout" Target="../slideLayouts/slideLayout2.xml"/><Relationship Id="Rd2668e6afd9340eb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3ed115b8efdf4a7e" Type="http://schemas.openxmlformats.org/officeDocument/2006/relationships/notesSlide" Target="../notesSlides/notesSlide7.xml"/><Relationship Id="R89c79faf2de64ee6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27af9ef8ccb548f5" Type="http://schemas.openxmlformats.org/officeDocument/2006/relationships/slideLayout" Target="../slideLayouts/slideLayout8.xml"/><Relationship Id="R60d999dab0f841ed" Type="http://schemas.openxmlformats.org/officeDocument/2006/relationships/notesSlide" Target="../notesSlides/notesSlide8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標題 2">
            <a:extLst xmlns:a="http://schemas.openxmlformats.org/drawingml/2006/main">
              <a:ext uri="{FF2B5EF4-FFF2-40B4-BE49-F238E27FC236}">
                <a16:creationId xmlns:a16="http://schemas.microsoft.com/office/drawing/2014/main" id="{ECF983F6-1835-79B2-8CA5-D94A43F7637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2600" b="1">
                <a:solidFill>
                  <a:srgbClr val="FFFFFF"/>
                </a:solidFill>
                <a:latin typeface="Noto Sans TC"/>
              </a:rPr>
              <a:t>每日良率自動彙整與報告產生系統</a:t>
            </a:r>
          </a:p>
        </p:txBody>
      </p:sp>
      <p:sp>
        <p:nvSpPr>
          <p:cNvPr id="2" name="文字版面配置區 1">
            <a:extLst xmlns:a="http://schemas.openxmlformats.org/drawingml/2006/main">
              <a:ext uri="{FF2B5EF4-FFF2-40B4-BE49-F238E27FC236}">
                <a16:creationId xmlns:a16="http://schemas.microsoft.com/office/drawing/2014/main" id="{C4D41FB1-427B-88C3-8C8C-17D376270D58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421361" y="3487578"/>
            <a:ext cx="4137025" cy="1064241"/>
          </a:xfrm>
        </p:spPr>
        <p:txBody>
          <a:bodyPr xmlns:a="http://schemas.openxmlformats.org/drawingml/2006/main" anchor="ctr" wrap="square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000" b="0">
                <a:solidFill>
                  <a:srgbClr val="FFFFFF"/>
                </a:solidFill>
                <a:latin typeface="Noto Sans TC"/>
              </a:rPr>
              <a:t>Presented by（新產品工程）</a:t>
            </a:r>
          </a:p>
          <a:p xmlns:a="http://schemas.openxmlformats.org/drawingml/2006/main">
            <a:r>
              <a:rPr sz="1000" b="0">
                <a:solidFill>
                  <a:srgbClr val="FFFFFF"/>
                </a:solidFill>
                <a:latin typeface="Noto Sans TC"/>
              </a:rPr>
              <a:t>July 24, 2026</a:t>
            </a:r>
          </a:p>
        </p:txBody>
      </p:sp>
    </p:spTree>
    <p:extLst>
      <p:ext uri="{BB962C8B-B14F-4D97-AF65-F5344CB8AC3E}">
        <p14:creationId xmlns:p14="http://schemas.microsoft.com/office/powerpoint/2010/main" val="11099743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72" name="Title 6">
            <a:extLst xmlns:a="http://schemas.openxmlformats.org/drawingml/2006/main">
              <a:ext uri="{FF2B5EF4-FFF2-40B4-BE49-F238E27FC236}">
                <a16:creationId xmlns:a16="http://schemas.microsoft.com/office/drawing/2014/main" id="{B4D10127-80C4-4369-A721-EDE5BA4FA1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defRPr>
                <a:latin typeface="Noto Sans TC"/>
                <a:ea typeface="Noto Sans TC"/>
                <a:cs typeface="Noto Sans TC"/>
              </a:defRPr>
            </a:pPr>
            <a:r>
              <a:rPr sz="2800" b="1">
                <a:solidFill>
                  <a:srgbClr val="1F2937"/>
                </a:solidFill>
                <a:latin typeface="Noto Sans TC"/>
              </a:rPr>
              <a:t>Agenda</a:t>
            </a:r>
          </a:p>
        </p:txBody>
      </p:sp>
      <p:sp>
        <p:nvSpPr>
          <p:cNvPr id="717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6D2CB2A-E887-4B54-BB65-2DAD1E71825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>
            <a:solidFill>
              <a:srgbClr val="0B5CAD"/>
            </a:solidFill>
          </a:ln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557213" indent="-214313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8572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2001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5430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18859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2288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25717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29146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>
                <a:latin typeface="Noto Sans TC"/>
                <a:ea typeface="Noto Sans TC"/>
                <a:cs typeface="Noto Sans TC"/>
              </a:defRPr>
            </a:pPr>
            <a:r>
              <a:rPr sz="800" b="1">
                <a:solidFill>
                  <a:srgbClr val="FFFFFF"/>
                </a:solidFill>
                <a:latin typeface="Noto Sans TC"/>
              </a:rPr>
              <a:t>2</a:t>
            </a:r>
          </a:p>
        </p:txBody>
      </p:sp>
      <p:sp>
        <p:nvSpPr>
          <p:cNvPr id="23" name="Text 22">
            <a:extLst xmlns:a="http://schemas.openxmlformats.org/drawingml/2006/main">
              <a:ext uri="{FF2B5EF4-FFF2-40B4-BE49-F238E27FC236}">
                <a16:creationId xmlns:a16="http://schemas.microsoft.com/office/drawing/2014/main" id="{438F0493-121A-515A-A360-205CEC0A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537960"/>
            <a:ext cx="113385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800">
                <a:solidFill>
                  <a:srgbClr val="718096"/>
                </a:solidFill>
                <a:latin typeface="Noto Sans TC"/>
                <a:ea typeface="Noto Sans TC"/>
                <a:cs typeface="Noto Sans TC"/>
              </a:rPr>
              <a:t>跨站影像自動回追與集中彙整系統  |  Overview</a:t>
            </a:r>
          </a:p>
        </p:txBody>
      </p:sp>
      <p:sp xmlns:a="http://schemas.openxmlformats.org/drawingml/2006/main">
        <p:nvSpPr>
          <p:cNvPr id="7173" name="TextBox 7172"/>
          <p:cNvSpPr txBox="1"/>
          <p:nvPr/>
        </p:nvSpPr>
        <p:spPr>
          <a:xfrm>
            <a:off x="411480" y="822960"/>
            <a:ext cx="740664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1F2937"/>
                </a:solidFill>
                <a:latin typeface="Noto Sans TC"/>
              </a:rPr>
              <a:t>以系統匯出資料為入口，自動彙整日／週／月良率並產生固定格式報告</a:t>
            </a:r>
          </a:p>
        </p:txBody>
      </p:sp>
      <p:sp xmlns:a="http://schemas.openxmlformats.org/drawingml/2006/main">
        <p:nvSpPr>
          <p:cNvPr id="7174" name="TextBox 7173"/>
          <p:cNvSpPr txBox="1"/>
          <p:nvPr/>
        </p:nvSpPr>
        <p:spPr>
          <a:xfrm>
            <a:off x="4754880" y="3127248"/>
            <a:ext cx="36118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80" b="1">
                <a:solidFill>
                  <a:srgbClr val="17324D"/>
                </a:solidFill>
                <a:latin typeface="Noto Sans TC"/>
              </a:rPr>
              <a:t>資料主鍵：RECORDDATE / DATATYPE / OPNO / EQP_ID</a:t>
            </a:r>
          </a:p>
        </p:txBody>
      </p:sp>
      <p:sp xmlns:a="http://schemas.openxmlformats.org/drawingml/2006/main">
        <p:nvSpPr>
          <p:cNvPr id="7175" name="Oval 7174"/>
          <p:cNvSpPr/>
          <p:nvPr/>
        </p:nvSpPr>
        <p:spPr>
          <a:xfrm>
            <a:off x="384048" y="1481328"/>
            <a:ext cx="292608" cy="292608"/>
          </a:xfrm>
          <a:prstGeom prst="ellipse">
            <a:avLst/>
          </a:prstGeom>
          <a:solidFill>
            <a:srgbClr val="0B5CAD"/>
          </a:solidFill>
          <a:ln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TC"/>
              </a:rPr>
              <a:t>A</a:t>
            </a:r>
          </a:p>
        </p:txBody>
      </p:sp>
      <p:sp xmlns:a="http://schemas.openxmlformats.org/drawingml/2006/main">
        <p:nvSpPr>
          <p:cNvPr id="7176" name="TextBox 7175"/>
          <p:cNvSpPr txBox="1"/>
          <p:nvPr/>
        </p:nvSpPr>
        <p:spPr>
          <a:xfrm>
            <a:off x="822960" y="1517904"/>
            <a:ext cx="42976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13A6B"/>
                </a:solidFill>
                <a:latin typeface="Noto Sans TC"/>
              </a:rPr>
              <a:t>背景說明及問題描述</a:t>
            </a:r>
          </a:p>
        </p:txBody>
      </p:sp>
      <p:sp xmlns:a="http://schemas.openxmlformats.org/drawingml/2006/main">
        <p:nvSpPr>
          <p:cNvPr id="7177" name="Oval 7176"/>
          <p:cNvSpPr/>
          <p:nvPr/>
        </p:nvSpPr>
        <p:spPr>
          <a:xfrm>
            <a:off x="384048" y="2194560"/>
            <a:ext cx="292608" cy="292608"/>
          </a:xfrm>
          <a:prstGeom prst="ellipse">
            <a:avLst/>
          </a:prstGeom>
          <a:solidFill>
            <a:srgbClr val="0B5CAD"/>
          </a:solidFill>
          <a:ln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TC"/>
              </a:rPr>
              <a:t>B</a:t>
            </a:r>
          </a:p>
        </p:txBody>
      </p:sp>
      <p:sp xmlns:a="http://schemas.openxmlformats.org/drawingml/2006/main">
        <p:nvSpPr>
          <p:cNvPr id="7178" name="TextBox 7177"/>
          <p:cNvSpPr txBox="1"/>
          <p:nvPr/>
        </p:nvSpPr>
        <p:spPr>
          <a:xfrm>
            <a:off x="822960" y="2231136"/>
            <a:ext cx="42976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13A6B"/>
                </a:solidFill>
                <a:latin typeface="Noto Sans TC"/>
              </a:rPr>
              <a:t>創新特徵及內容描述</a:t>
            </a:r>
          </a:p>
        </p:txBody>
      </p:sp>
      <p:sp xmlns:a="http://schemas.openxmlformats.org/drawingml/2006/main">
        <p:nvSpPr>
          <p:cNvPr id="7179" name="Oval 7178"/>
          <p:cNvSpPr/>
          <p:nvPr/>
        </p:nvSpPr>
        <p:spPr>
          <a:xfrm>
            <a:off x="384048" y="2907792"/>
            <a:ext cx="292608" cy="292608"/>
          </a:xfrm>
          <a:prstGeom prst="ellipse">
            <a:avLst/>
          </a:prstGeom>
          <a:solidFill>
            <a:srgbClr val="0B5CAD"/>
          </a:solidFill>
          <a:ln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TC"/>
              </a:rPr>
              <a:t>C</a:t>
            </a:r>
          </a:p>
        </p:txBody>
      </p:sp>
      <p:sp xmlns:a="http://schemas.openxmlformats.org/drawingml/2006/main">
        <p:nvSpPr>
          <p:cNvPr id="7180" name="TextBox 7179"/>
          <p:cNvSpPr txBox="1"/>
          <p:nvPr/>
        </p:nvSpPr>
        <p:spPr>
          <a:xfrm>
            <a:off x="822960" y="2944368"/>
            <a:ext cx="42976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13A6B"/>
                </a:solidFill>
                <a:latin typeface="Noto Sans TC"/>
              </a:rPr>
              <a:t>效益說明</a:t>
            </a:r>
          </a:p>
        </p:txBody>
      </p:sp>
      <p:sp xmlns:a="http://schemas.openxmlformats.org/drawingml/2006/main">
        <p:nvSpPr>
          <p:cNvPr id="7181" name="Oval 7180"/>
          <p:cNvSpPr/>
          <p:nvPr/>
        </p:nvSpPr>
        <p:spPr>
          <a:xfrm>
            <a:off x="384048" y="3621024"/>
            <a:ext cx="292608" cy="292608"/>
          </a:xfrm>
          <a:prstGeom prst="ellipse">
            <a:avLst/>
          </a:prstGeom>
          <a:solidFill>
            <a:srgbClr val="0B5CAD"/>
          </a:solidFill>
          <a:ln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TC"/>
              </a:rPr>
              <a:t>D</a:t>
            </a:r>
          </a:p>
        </p:txBody>
      </p:sp>
      <p:sp xmlns:a="http://schemas.openxmlformats.org/drawingml/2006/main">
        <p:nvSpPr>
          <p:cNvPr id="7182" name="TextBox 7181"/>
          <p:cNvSpPr txBox="1"/>
          <p:nvPr/>
        </p:nvSpPr>
        <p:spPr>
          <a:xfrm>
            <a:off x="822960" y="3657600"/>
            <a:ext cx="42976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13A6B"/>
                </a:solidFill>
                <a:latin typeface="Noto Sans TC"/>
              </a:rPr>
              <a:t>以營業秘密保護之考量</a:t>
            </a:r>
          </a:p>
        </p:txBody>
      </p:sp>
      <p:sp xmlns:a="http://schemas.openxmlformats.org/drawingml/2006/main">
        <p:nvSpPr>
          <p:cNvPr id="7183" name="TextBox 7182"/>
          <p:cNvSpPr txBox="1"/>
          <p:nvPr/>
        </p:nvSpPr>
        <p:spPr>
          <a:xfrm>
            <a:off x="310896" y="4160520"/>
            <a:ext cx="8229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2824C"/>
                </a:solidFill>
                <a:latin typeface="Noto Sans TC"/>
              </a:rPr>
              <a:t>Summary</a:t>
            </a:r>
          </a:p>
        </p:txBody>
      </p:sp>
      <p:sp xmlns:a="http://schemas.openxmlformats.org/drawingml/2006/main">
        <p:nvSpPr>
          <p:cNvPr id="7184" name="TextBox 7183"/>
          <p:cNvSpPr txBox="1"/>
          <p:nvPr/>
        </p:nvSpPr>
        <p:spPr>
          <a:xfrm>
            <a:off x="411480" y="4572000"/>
            <a:ext cx="6172200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F2937"/>
                </a:solidFill>
                <a:latin typeface="Noto Sans TC"/>
              </a:rPr>
              <a:t>由人工下載／整理／貼圖，轉為固定口徑、自動更新、可重複執行的報告流程</a:t>
            </a:r>
          </a:p>
        </p:txBody>
      </p:sp>
      <p:cxnSp xmlns:a="http://schemas.openxmlformats.org/drawingml/2006/main">
        <p:nvCxnSpPr>
          <p:cNvPr id="7185" name="Connector 7184"/>
          <p:cNvCxnSpPr/>
          <p:nvPr/>
        </p:nvCxnSpPr>
        <p:spPr>
          <a:xfrm>
            <a:off x="5532120" y="2304288"/>
            <a:ext cx="521208" cy="0"/>
          </a:xfrm>
          <a:prstGeom prst="line">
            <a:avLst/>
          </a:prstGeom>
          <a:ln w="1524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 xmlns:a="http://schemas.openxmlformats.org/drawingml/2006/main">
        <p:nvCxnSpPr>
          <p:cNvPr id="7186" name="Connector 7185"/>
          <p:cNvCxnSpPr/>
          <p:nvPr/>
        </p:nvCxnSpPr>
        <p:spPr>
          <a:xfrm>
            <a:off x="6263640" y="2304288"/>
            <a:ext cx="521208" cy="0"/>
          </a:xfrm>
          <a:prstGeom prst="line">
            <a:avLst/>
          </a:prstGeom>
          <a:ln w="1524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 xmlns:a="http://schemas.openxmlformats.org/drawingml/2006/main">
        <p:nvCxnSpPr>
          <p:cNvPr id="7187" name="Connector 7186"/>
          <p:cNvCxnSpPr/>
          <p:nvPr/>
        </p:nvCxnSpPr>
        <p:spPr>
          <a:xfrm>
            <a:off x="6995160" y="2304288"/>
            <a:ext cx="521208" cy="0"/>
          </a:xfrm>
          <a:prstGeom prst="line">
            <a:avLst/>
          </a:prstGeom>
          <a:ln w="1524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xmlns:a="http://schemas.openxmlformats.org/drawingml/2006/main">
        <p:nvSpPr>
          <p:cNvPr id="7188" name="Rounded Rectangle 7187"/>
          <p:cNvSpPr/>
          <p:nvPr/>
        </p:nvSpPr>
        <p:spPr>
          <a:xfrm>
            <a:off x="5138928" y="2066543"/>
            <a:ext cx="502920" cy="512064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B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rmAutofit/>
          </a:bodyPr>
          <a:lstStyle/>
          <a:p>
            <a:pPr algn="ctr"/>
            <a:r>
              <a:rPr sz="750" b="1">
                <a:solidFill>
                  <a:srgbClr val="17324D"/>
                </a:solidFill>
                <a:latin typeface="Noto Sans TC"/>
              </a:rPr>
              <a:t>Export</a:t>
            </a:r>
          </a:p>
          <a:p>
            <a:pPr algn="ctr"/>
            <a:r>
              <a:rPr sz="750" b="1">
                <a:solidFill>
                  <a:srgbClr val="17324D"/>
                </a:solidFill>
                <a:latin typeface="Noto Sans TC"/>
              </a:rPr>
              <a:t>系統</a:t>
            </a:r>
          </a:p>
        </p:txBody>
      </p:sp>
      <p:sp xmlns:a="http://schemas.openxmlformats.org/drawingml/2006/main">
        <p:nvSpPr>
          <p:cNvPr id="7189" name="Rounded Rectangle 7188"/>
          <p:cNvSpPr/>
          <p:nvPr/>
        </p:nvSpPr>
        <p:spPr>
          <a:xfrm>
            <a:off x="5870448" y="2066543"/>
            <a:ext cx="502920" cy="512064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B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rmAutofit/>
          </a:bodyPr>
          <a:lstStyle/>
          <a:p>
            <a:pPr algn="ctr"/>
            <a:r>
              <a:rPr sz="750" b="1">
                <a:solidFill>
                  <a:srgbClr val="17324D"/>
                </a:solidFill>
                <a:latin typeface="Noto Sans TC"/>
              </a:rPr>
              <a:t>Excel</a:t>
            </a:r>
          </a:p>
          <a:p>
            <a:pPr algn="ctr"/>
            <a:r>
              <a:rPr sz="750" b="1">
                <a:solidFill>
                  <a:srgbClr val="17324D"/>
                </a:solidFill>
                <a:latin typeface="Noto Sans TC"/>
              </a:rPr>
              <a:t>彙整</a:t>
            </a:r>
          </a:p>
        </p:txBody>
      </p:sp>
      <p:sp xmlns:a="http://schemas.openxmlformats.org/drawingml/2006/main">
        <p:nvSpPr>
          <p:cNvPr id="7190" name="Rounded Rectangle 7189"/>
          <p:cNvSpPr/>
          <p:nvPr/>
        </p:nvSpPr>
        <p:spPr>
          <a:xfrm>
            <a:off x="6601968" y="2066543"/>
            <a:ext cx="502920" cy="512064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B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rmAutofit/>
          </a:bodyPr>
          <a:lstStyle/>
          <a:p>
            <a:pPr algn="ctr"/>
            <a:r>
              <a:rPr sz="750" b="1">
                <a:solidFill>
                  <a:srgbClr val="17324D"/>
                </a:solidFill>
                <a:latin typeface="Noto Sans TC"/>
              </a:rPr>
              <a:t>Chart</a:t>
            </a:r>
          </a:p>
          <a:p>
            <a:pPr algn="ctr"/>
            <a:r>
              <a:rPr sz="750" b="1">
                <a:solidFill>
                  <a:srgbClr val="17324D"/>
                </a:solidFill>
                <a:latin typeface="Noto Sans TC"/>
              </a:rPr>
              <a:t>42張</a:t>
            </a:r>
          </a:p>
        </p:txBody>
      </p:sp>
      <p:sp xmlns:a="http://schemas.openxmlformats.org/drawingml/2006/main">
        <p:nvSpPr>
          <p:cNvPr id="7191" name="Rounded Rectangle 7190"/>
          <p:cNvSpPr/>
          <p:nvPr/>
        </p:nvSpPr>
        <p:spPr>
          <a:xfrm>
            <a:off x="7333488" y="2066543"/>
            <a:ext cx="502920" cy="512064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B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rmAutofit/>
          </a:bodyPr>
          <a:lstStyle/>
          <a:p>
            <a:pPr algn="ctr"/>
            <a:r>
              <a:rPr sz="750" b="1">
                <a:solidFill>
                  <a:srgbClr val="17324D"/>
                </a:solidFill>
                <a:latin typeface="Noto Sans TC"/>
              </a:rPr>
              <a:t>PPT</a:t>
            </a:r>
          </a:p>
          <a:p>
            <a:pPr algn="ctr"/>
            <a:r>
              <a:rPr sz="750" b="1">
                <a:solidFill>
                  <a:srgbClr val="17324D"/>
                </a:solidFill>
                <a:latin typeface="Noto Sans TC"/>
              </a:rPr>
              <a:t>報告</a:t>
            </a:r>
          </a:p>
        </p:txBody>
      </p:sp>
    </p:spTree>
    <p:extLst>
      <p:ext uri="{BB962C8B-B14F-4D97-AF65-F5344CB8AC3E}">
        <p14:creationId xmlns:p14="http://schemas.microsoft.com/office/powerpoint/2010/main" val="151647961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72" name="Title 6">
            <a:extLst xmlns:a="http://schemas.openxmlformats.org/drawingml/2006/main">
              <a:ext uri="{FF2B5EF4-FFF2-40B4-BE49-F238E27FC236}">
                <a16:creationId xmlns:a16="http://schemas.microsoft.com/office/drawing/2014/main" id="{BF18BCBE-E779-45D8-A41A-EBF308B272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defRPr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1F2937"/>
                </a:solidFill>
                <a:latin typeface="Noto Sans TC"/>
              </a:rPr>
              <a:t>A. 背景說明及問題描述</a:t>
            </a:r>
          </a:p>
        </p:txBody>
      </p:sp>
      <p:sp>
        <p:nvSpPr>
          <p:cNvPr id="717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5C07DAC-8B55-4DC9-A8FF-9E745AC8FE1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>
            <a:solidFill>
              <a:srgbClr val="0B5CAD"/>
            </a:solidFill>
          </a:ln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557213" indent="-214313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8572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2001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5430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18859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2288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25717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29146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>
                <a:latin typeface="Noto Sans TC"/>
                <a:ea typeface="Noto Sans TC"/>
                <a:cs typeface="Noto Sans TC"/>
              </a:defRPr>
            </a:pPr>
            <a:r>
              <a:rPr sz="800" b="1">
                <a:solidFill>
                  <a:srgbClr val="FFFFFF"/>
                </a:solidFill>
                <a:latin typeface="Noto Sans TC"/>
              </a:rPr>
              <a:t>3</a:t>
            </a:r>
          </a:p>
        </p:txBody>
      </p:sp>
      <p:sp xmlns:a="http://schemas.openxmlformats.org/drawingml/2006/main">
        <p:nvSpPr>
          <p:cNvPr id="7173" name="TextBox 7172"/>
          <p:cNvSpPr txBox="1"/>
          <p:nvPr/>
        </p:nvSpPr>
        <p:spPr>
          <a:xfrm>
            <a:off x="274320" y="841248"/>
            <a:ext cx="27432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13A6B"/>
                </a:solidFill>
                <a:latin typeface="Noto Sans TC"/>
              </a:rPr>
              <a:t>每日良率報告的現況</a:t>
            </a:r>
          </a:p>
        </p:txBody>
      </p:sp>
      <p:sp xmlns:a="http://schemas.openxmlformats.org/drawingml/2006/main">
        <p:nvSpPr>
          <p:cNvPr id="7174" name="TextBox 7173"/>
          <p:cNvSpPr txBox="1"/>
          <p:nvPr/>
        </p:nvSpPr>
        <p:spPr>
          <a:xfrm>
            <a:off x="274320" y="1216152"/>
            <a:ext cx="256032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1F2937"/>
                </a:solidFill>
                <a:latin typeface="Noto Sans TC"/>
              </a:rPr>
              <a:t>目前需人工從系統匯出資料，再依站點、日期與良率類型進行整理、畫圖與貼報告。</a:t>
            </a:r>
          </a:p>
          <a:p/>
          <a:p>
            <a:r>
              <a:rPr sz="1200" b="0">
                <a:solidFill>
                  <a:srgbClr val="1F2937"/>
                </a:solidFill>
                <a:latin typeface="Noto Sans TC"/>
              </a:rPr>
              <a:t>人工整理易受欄位變更、圖表貼圖與版面更新影響。</a:t>
            </a:r>
          </a:p>
        </p:txBody>
      </p:sp>
      <p:sp xmlns:a="http://schemas.openxmlformats.org/drawingml/2006/main">
        <p:nvSpPr>
          <p:cNvPr id="7175" name="TextBox 7174"/>
          <p:cNvSpPr txBox="1"/>
          <p:nvPr/>
        </p:nvSpPr>
        <p:spPr>
          <a:xfrm>
            <a:off x="411480" y="3931920"/>
            <a:ext cx="448056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13A6B"/>
                </a:solidFill>
                <a:latin typeface="Noto Sans TC"/>
              </a:rPr>
              <a:t>人工報表負荷（估算）</a:t>
            </a:r>
          </a:p>
        </p:txBody>
      </p:sp>
      <p:sp xmlns:a="http://schemas.openxmlformats.org/drawingml/2006/main">
        <p:nvSpPr>
          <p:cNvPr id="7176" name="TextBox 7175"/>
          <p:cNvSpPr txBox="1"/>
          <p:nvPr/>
        </p:nvSpPr>
        <p:spPr>
          <a:xfrm>
            <a:off x="411480" y="4251960"/>
            <a:ext cx="7955279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1F2937"/>
                </a:solidFill>
                <a:latin typeface="Noto Sans TC"/>
              </a:rPr>
              <a:t>14 站 × 3 週期 = 42 張圖表／次；42 張 × 3 分鐘 = 126 分鐘／次（約 2.1 小時／次，估算）</a:t>
            </a:r>
          </a:p>
        </p:txBody>
      </p:sp>
      <p:sp xmlns:a="http://schemas.openxmlformats.org/drawingml/2006/main">
        <p:nvSpPr>
          <p:cNvPr id="7177" name="Rounded Rectangle 7176"/>
          <p:cNvSpPr/>
          <p:nvPr/>
        </p:nvSpPr>
        <p:spPr>
          <a:xfrm>
            <a:off x="5486400" y="822960"/>
            <a:ext cx="804672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B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8" name="TextBox 7177"/>
          <p:cNvSpPr txBox="1"/>
          <p:nvPr/>
        </p:nvSpPr>
        <p:spPr>
          <a:xfrm>
            <a:off x="5486400" y="932688"/>
            <a:ext cx="8046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C0392B"/>
                </a:solidFill>
                <a:latin typeface="Noto Sans TC"/>
              </a:rPr>
              <a:t>14</a:t>
            </a:r>
          </a:p>
        </p:txBody>
      </p:sp>
      <p:sp xmlns:a="http://schemas.openxmlformats.org/drawingml/2006/main">
        <p:nvSpPr>
          <p:cNvPr id="7179" name="TextBox 7178"/>
          <p:cNvSpPr txBox="1"/>
          <p:nvPr/>
        </p:nvSpPr>
        <p:spPr>
          <a:xfrm>
            <a:off x="5486400" y="1298448"/>
            <a:ext cx="804672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>
                <a:solidFill>
                  <a:srgbClr val="6B7280"/>
                </a:solidFill>
                <a:latin typeface="Noto Sans TC"/>
              </a:rPr>
              <a:t>站點</a:t>
            </a:r>
          </a:p>
        </p:txBody>
      </p:sp>
      <p:sp xmlns:a="http://schemas.openxmlformats.org/drawingml/2006/main">
        <p:nvSpPr>
          <p:cNvPr id="7180" name="Rounded Rectangle 7179"/>
          <p:cNvSpPr/>
          <p:nvPr/>
        </p:nvSpPr>
        <p:spPr>
          <a:xfrm>
            <a:off x="6693408" y="822960"/>
            <a:ext cx="804672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B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1" name="TextBox 7180"/>
          <p:cNvSpPr txBox="1"/>
          <p:nvPr/>
        </p:nvSpPr>
        <p:spPr>
          <a:xfrm>
            <a:off x="6693408" y="932688"/>
            <a:ext cx="8046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C0392B"/>
                </a:solidFill>
                <a:latin typeface="Noto Sans TC"/>
              </a:rPr>
              <a:t>3</a:t>
            </a:r>
          </a:p>
        </p:txBody>
      </p:sp>
      <p:sp xmlns:a="http://schemas.openxmlformats.org/drawingml/2006/main">
        <p:nvSpPr>
          <p:cNvPr id="7182" name="TextBox 7181"/>
          <p:cNvSpPr txBox="1"/>
          <p:nvPr/>
        </p:nvSpPr>
        <p:spPr>
          <a:xfrm>
            <a:off x="6693408" y="1298448"/>
            <a:ext cx="804672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>
                <a:solidFill>
                  <a:srgbClr val="6B7280"/>
                </a:solidFill>
                <a:latin typeface="Noto Sans TC"/>
              </a:rPr>
              <a:t>週期</a:t>
            </a:r>
          </a:p>
          <a:p>
            <a:pPr algn="ctr"/>
            <a:r>
              <a:rPr sz="750" b="1">
                <a:solidFill>
                  <a:srgbClr val="6B7280"/>
                </a:solidFill>
                <a:latin typeface="Noto Sans TC"/>
              </a:rPr>
              <a:t>日/週/月</a:t>
            </a:r>
          </a:p>
        </p:txBody>
      </p:sp>
      <p:sp xmlns:a="http://schemas.openxmlformats.org/drawingml/2006/main">
        <p:nvSpPr>
          <p:cNvPr id="7183" name="Rounded Rectangle 7182"/>
          <p:cNvSpPr/>
          <p:nvPr/>
        </p:nvSpPr>
        <p:spPr>
          <a:xfrm>
            <a:off x="7845552" y="822960"/>
            <a:ext cx="804672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B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4" name="TextBox 7183"/>
          <p:cNvSpPr txBox="1"/>
          <p:nvPr/>
        </p:nvSpPr>
        <p:spPr>
          <a:xfrm>
            <a:off x="7845552" y="932688"/>
            <a:ext cx="8046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F5A623"/>
                </a:solidFill>
                <a:latin typeface="Noto Sans TC"/>
              </a:rPr>
              <a:t>42</a:t>
            </a:r>
          </a:p>
        </p:txBody>
      </p:sp>
      <p:sp xmlns:a="http://schemas.openxmlformats.org/drawingml/2006/main">
        <p:nvSpPr>
          <p:cNvPr id="7185" name="TextBox 7184"/>
          <p:cNvSpPr txBox="1"/>
          <p:nvPr/>
        </p:nvSpPr>
        <p:spPr>
          <a:xfrm>
            <a:off x="7845552" y="1298448"/>
            <a:ext cx="804672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>
                <a:solidFill>
                  <a:srgbClr val="6B7280"/>
                </a:solidFill>
                <a:latin typeface="Noto Sans TC"/>
              </a:rPr>
              <a:t>圖表</a:t>
            </a:r>
          </a:p>
        </p:txBody>
      </p:sp>
      <p:sp xmlns:a="http://schemas.openxmlformats.org/drawingml/2006/main">
        <p:nvSpPr>
          <p:cNvPr id="7186" name="Rounded Rectangle 7185"/>
          <p:cNvSpPr/>
          <p:nvPr/>
        </p:nvSpPr>
        <p:spPr>
          <a:xfrm>
            <a:off x="5394960" y="2011680"/>
            <a:ext cx="3291840" cy="1600200"/>
          </a:xfrm>
          <a:prstGeom prst="roundRect">
            <a:avLst/>
          </a:prstGeom>
          <a:solidFill>
            <a:srgbClr val="FFF7F7"/>
          </a:solidFill>
          <a:ln w="12700">
            <a:solidFill>
              <a:srgbClr val="F2B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7" name="TextBox 7186"/>
          <p:cNvSpPr txBox="1"/>
          <p:nvPr/>
        </p:nvSpPr>
        <p:spPr>
          <a:xfrm>
            <a:off x="5440680" y="2084831"/>
            <a:ext cx="32461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1">
                <a:solidFill>
                  <a:srgbClr val="C0392B"/>
                </a:solidFill>
                <a:latin typeface="Noto Sans TC"/>
              </a:rPr>
              <a:t>主要風險</a:t>
            </a:r>
          </a:p>
        </p:txBody>
      </p:sp>
      <p:sp xmlns:a="http://schemas.openxmlformats.org/drawingml/2006/main">
        <p:nvSpPr>
          <p:cNvPr id="7188" name="TextBox 7187"/>
          <p:cNvSpPr txBox="1"/>
          <p:nvPr/>
        </p:nvSpPr>
        <p:spPr>
          <a:xfrm>
            <a:off x="5440680" y="2359152"/>
            <a:ext cx="3182112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19" b="0">
                <a:solidFill>
                  <a:srgbClr val="1F2937"/>
                </a:solidFill>
                <a:latin typeface="Noto Sans TC"/>
              </a:rPr>
              <a:t>• 資料欄位與站點對應規則分散</a:t>
            </a:r>
          </a:p>
          <a:p>
            <a:r>
              <a:rPr sz="1019" b="0">
                <a:solidFill>
                  <a:srgbClr val="1F2937"/>
                </a:solidFill>
                <a:latin typeface="Noto Sans TC"/>
              </a:rPr>
              <a:t>• 人工整理易發生公式口徑不一致</a:t>
            </a:r>
          </a:p>
          <a:p>
            <a:r>
              <a:rPr sz="1019" b="0">
                <a:solidFill>
                  <a:srgbClr val="1F2937"/>
                </a:solidFill>
                <a:latin typeface="Noto Sans TC"/>
              </a:rPr>
              <a:t>• 日／週／月圖表易漏貼或版面跑掉</a:t>
            </a:r>
          </a:p>
          <a:p>
            <a:r>
              <a:rPr sz="1019" b="0">
                <a:solidFill>
                  <a:srgbClr val="1F2937"/>
                </a:solidFill>
                <a:latin typeface="Noto Sans TC"/>
              </a:rPr>
              <a:t>• 低良率站點無法即時排序聚焦</a:t>
            </a:r>
          </a:p>
        </p:txBody>
      </p:sp>
      <p:sp xmlns:a="http://schemas.openxmlformats.org/drawingml/2006/main">
        <p:nvSpPr>
          <p:cNvPr id="7189" name="TextBox 7188"/>
          <p:cNvSpPr txBox="1"/>
          <p:nvPr/>
        </p:nvSpPr>
        <p:spPr>
          <a:xfrm>
            <a:off x="2788920" y="896112"/>
            <a:ext cx="24688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113A6B"/>
                </a:solidFill>
                <a:latin typeface="Noto Sans TC"/>
              </a:rPr>
              <a:t>2026-07 月度片良率低點</a:t>
            </a:r>
          </a:p>
        </p:txBody>
      </p:sp>
      <p:sp xmlns:a="http://schemas.openxmlformats.org/drawingml/2006/main">
        <p:nvSpPr>
          <p:cNvPr id="7190" name="TextBox 7189"/>
          <p:cNvSpPr txBox="1"/>
          <p:nvPr/>
        </p:nvSpPr>
        <p:spPr>
          <a:xfrm>
            <a:off x="2788920" y="1252728"/>
            <a:ext cx="658368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1F2937"/>
                </a:solidFill>
                <a:latin typeface="Noto Sans TC"/>
              </a:rPr>
              <a:t>3DL01</a:t>
            </a:r>
          </a:p>
        </p:txBody>
      </p:sp>
      <p:sp xmlns:a="http://schemas.openxmlformats.org/drawingml/2006/main">
        <p:nvSpPr>
          <p:cNvPr id="7191" name="Rectangle 7190"/>
          <p:cNvSpPr/>
          <p:nvPr/>
        </p:nvSpPr>
        <p:spPr>
          <a:xfrm>
            <a:off x="3502152" y="1234440"/>
            <a:ext cx="2057400" cy="1188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2" name="Rectangle 7191"/>
          <p:cNvSpPr/>
          <p:nvPr/>
        </p:nvSpPr>
        <p:spPr>
          <a:xfrm>
            <a:off x="3502152" y="1234440"/>
            <a:ext cx="342900" cy="118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3" name="TextBox 7192"/>
          <p:cNvSpPr txBox="1"/>
          <p:nvPr/>
        </p:nvSpPr>
        <p:spPr>
          <a:xfrm>
            <a:off x="5623560" y="1225296"/>
            <a:ext cx="54864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60" b="0">
                <a:solidFill>
                  <a:srgbClr val="1F2937"/>
                </a:solidFill>
                <a:latin typeface="Noto Sans TC"/>
              </a:rPr>
              <a:t>87.5%</a:t>
            </a:r>
          </a:p>
        </p:txBody>
      </p:sp>
      <p:sp xmlns:a="http://schemas.openxmlformats.org/drawingml/2006/main">
        <p:nvSpPr>
          <p:cNvPr id="7194" name="TextBox 7193"/>
          <p:cNvSpPr txBox="1"/>
          <p:nvPr/>
        </p:nvSpPr>
        <p:spPr>
          <a:xfrm>
            <a:off x="2788920" y="1563624"/>
            <a:ext cx="658368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1F2937"/>
                </a:solidFill>
                <a:latin typeface="Noto Sans TC"/>
              </a:rPr>
              <a:t>SPI2</a:t>
            </a:r>
          </a:p>
        </p:txBody>
      </p:sp>
      <p:sp xmlns:a="http://schemas.openxmlformats.org/drawingml/2006/main">
        <p:nvSpPr>
          <p:cNvPr id="7195" name="Rectangle 7194"/>
          <p:cNvSpPr/>
          <p:nvPr/>
        </p:nvSpPr>
        <p:spPr>
          <a:xfrm>
            <a:off x="3502152" y="1545336"/>
            <a:ext cx="2057400" cy="1188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6" name="Rectangle 7195"/>
          <p:cNvSpPr/>
          <p:nvPr/>
        </p:nvSpPr>
        <p:spPr>
          <a:xfrm>
            <a:off x="3502152" y="1545336"/>
            <a:ext cx="1028700" cy="1188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7" name="TextBox 7196"/>
          <p:cNvSpPr txBox="1"/>
          <p:nvPr/>
        </p:nvSpPr>
        <p:spPr>
          <a:xfrm>
            <a:off x="5623560" y="1536192"/>
            <a:ext cx="54864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60" b="0">
                <a:solidFill>
                  <a:srgbClr val="1F2937"/>
                </a:solidFill>
                <a:latin typeface="Noto Sans TC"/>
              </a:rPr>
              <a:t>92.5%</a:t>
            </a:r>
          </a:p>
        </p:txBody>
      </p:sp>
      <p:sp xmlns:a="http://schemas.openxmlformats.org/drawingml/2006/main">
        <p:nvSpPr>
          <p:cNvPr id="7198" name="TextBox 7197"/>
          <p:cNvSpPr txBox="1"/>
          <p:nvPr/>
        </p:nvSpPr>
        <p:spPr>
          <a:xfrm>
            <a:off x="2788920" y="1874520"/>
            <a:ext cx="658368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1F2937"/>
                </a:solidFill>
                <a:latin typeface="Noto Sans TC"/>
              </a:rPr>
              <a:t>AOI3</a:t>
            </a:r>
          </a:p>
        </p:txBody>
      </p:sp>
      <p:sp xmlns:a="http://schemas.openxmlformats.org/drawingml/2006/main">
        <p:nvSpPr>
          <p:cNvPr id="7199" name="Rectangle 7198"/>
          <p:cNvSpPr/>
          <p:nvPr/>
        </p:nvSpPr>
        <p:spPr>
          <a:xfrm>
            <a:off x="3502152" y="1856232"/>
            <a:ext cx="2057400" cy="1188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200" name="Rectangle 7199"/>
          <p:cNvSpPr/>
          <p:nvPr/>
        </p:nvSpPr>
        <p:spPr>
          <a:xfrm>
            <a:off x="3502152" y="1856232"/>
            <a:ext cx="1028700" cy="1188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201" name="TextBox 7200"/>
          <p:cNvSpPr txBox="1"/>
          <p:nvPr/>
        </p:nvSpPr>
        <p:spPr>
          <a:xfrm>
            <a:off x="5623560" y="1847088"/>
            <a:ext cx="54864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60" b="0">
                <a:solidFill>
                  <a:srgbClr val="1F2937"/>
                </a:solidFill>
                <a:latin typeface="Noto Sans TC"/>
              </a:rPr>
              <a:t>92.5%</a:t>
            </a:r>
          </a:p>
        </p:txBody>
      </p:sp>
      <p:sp xmlns:a="http://schemas.openxmlformats.org/drawingml/2006/main">
        <p:nvSpPr>
          <p:cNvPr id="7202" name="TextBox 7201"/>
          <p:cNvSpPr txBox="1"/>
          <p:nvPr/>
        </p:nvSpPr>
        <p:spPr>
          <a:xfrm>
            <a:off x="2788920" y="2185416"/>
            <a:ext cx="658368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1F2937"/>
                </a:solidFill>
                <a:latin typeface="Noto Sans TC"/>
              </a:rPr>
              <a:t>AOI4</a:t>
            </a:r>
          </a:p>
        </p:txBody>
      </p:sp>
      <p:sp xmlns:a="http://schemas.openxmlformats.org/drawingml/2006/main">
        <p:nvSpPr>
          <p:cNvPr id="7203" name="Rectangle 7202"/>
          <p:cNvSpPr/>
          <p:nvPr/>
        </p:nvSpPr>
        <p:spPr>
          <a:xfrm>
            <a:off x="3502152" y="2167128"/>
            <a:ext cx="2057400" cy="1188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204" name="Rectangle 7203"/>
          <p:cNvSpPr/>
          <p:nvPr/>
        </p:nvSpPr>
        <p:spPr>
          <a:xfrm>
            <a:off x="3502152" y="2167128"/>
            <a:ext cx="1077685" cy="1188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205" name="TextBox 7204"/>
          <p:cNvSpPr txBox="1"/>
          <p:nvPr/>
        </p:nvSpPr>
        <p:spPr>
          <a:xfrm>
            <a:off x="5623560" y="2157984"/>
            <a:ext cx="54864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60" b="0">
                <a:solidFill>
                  <a:srgbClr val="1F2937"/>
                </a:solidFill>
                <a:latin typeface="Noto Sans TC"/>
              </a:rPr>
              <a:t>92.9%</a:t>
            </a:r>
          </a:p>
        </p:txBody>
      </p:sp>
      <p:sp xmlns:a="http://schemas.openxmlformats.org/drawingml/2006/main">
        <p:nvSpPr>
          <p:cNvPr id="7206" name="TextBox 7205"/>
          <p:cNvSpPr txBox="1"/>
          <p:nvPr/>
        </p:nvSpPr>
        <p:spPr>
          <a:xfrm>
            <a:off x="2788920" y="2496312"/>
            <a:ext cx="658368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1F2937"/>
                </a:solidFill>
                <a:latin typeface="Noto Sans TC"/>
              </a:rPr>
              <a:t>FT1</a:t>
            </a:r>
          </a:p>
        </p:txBody>
      </p:sp>
      <p:sp xmlns:a="http://schemas.openxmlformats.org/drawingml/2006/main">
        <p:nvSpPr>
          <p:cNvPr id="7207" name="Rectangle 7206"/>
          <p:cNvSpPr/>
          <p:nvPr/>
        </p:nvSpPr>
        <p:spPr>
          <a:xfrm>
            <a:off x="3502152" y="2478024"/>
            <a:ext cx="2057400" cy="1188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208" name="Rectangle 7207"/>
          <p:cNvSpPr/>
          <p:nvPr/>
        </p:nvSpPr>
        <p:spPr>
          <a:xfrm>
            <a:off x="3502152" y="2478024"/>
            <a:ext cx="1335505" cy="1188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209" name="TextBox 7208"/>
          <p:cNvSpPr txBox="1"/>
          <p:nvPr/>
        </p:nvSpPr>
        <p:spPr>
          <a:xfrm>
            <a:off x="5623560" y="2468880"/>
            <a:ext cx="54864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60" b="0">
                <a:solidFill>
                  <a:srgbClr val="1F2937"/>
                </a:solidFill>
                <a:latin typeface="Noto Sans TC"/>
              </a:rPr>
              <a:t>94.7%</a:t>
            </a:r>
          </a:p>
        </p:txBody>
      </p:sp>
      <p:sp xmlns:a="http://schemas.openxmlformats.org/drawingml/2006/main">
        <p:nvSpPr>
          <p:cNvPr id="7210" name="TextBox 7209"/>
          <p:cNvSpPr txBox="1"/>
          <p:nvPr/>
        </p:nvSpPr>
        <p:spPr>
          <a:xfrm>
            <a:off x="5440680" y="4599432"/>
            <a:ext cx="35661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60" b="1">
                <a:solidFill>
                  <a:srgbClr val="1F2937"/>
                </a:solidFill>
                <a:latin typeface="Noto Sans TC"/>
              </a:rPr>
              <a:t>最低站點：3DL01 87.5%；低於 95% 站點共 5 個。</a:t>
            </a:r>
          </a:p>
        </p:txBody>
      </p:sp>
      <p:sp xmlns:a="http://schemas.openxmlformats.org/drawingml/2006/main">
        <p:nvSpPr>
          <p:cNvPr id="7211" name="TextBox 7210"/>
          <p:cNvSpPr txBox="1"/>
          <p:nvPr/>
        </p:nvSpPr>
        <p:spPr>
          <a:xfrm>
            <a:off x="5440680" y="4846320"/>
            <a:ext cx="356616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80" b="1">
                <a:solidFill>
                  <a:srgbClr val="113A6B"/>
                </a:solidFill>
                <a:latin typeface="Noto Sans TC"/>
              </a:rPr>
              <a:t>3DL01  SPI2  AOI3  AOI4  FT1</a:t>
            </a:r>
          </a:p>
        </p:txBody>
      </p:sp>
    </p:spTree>
    <p:extLst>
      <p:ext uri="{BB962C8B-B14F-4D97-AF65-F5344CB8AC3E}">
        <p14:creationId xmlns:p14="http://schemas.microsoft.com/office/powerpoint/2010/main" val="8218222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72" name="Title 6">
            <a:extLst xmlns:a="http://schemas.openxmlformats.org/drawingml/2006/main">
              <a:ext uri="{FF2B5EF4-FFF2-40B4-BE49-F238E27FC236}">
                <a16:creationId xmlns:a16="http://schemas.microsoft.com/office/drawing/2014/main" id="{99C4ED8E-3EB1-44E2-B720-E2C0A9645B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defRPr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1F2937"/>
                </a:solidFill>
                <a:latin typeface="Noto Sans TC"/>
              </a:rPr>
              <a:t>B. 創新特徵及內容描述</a:t>
            </a:r>
          </a:p>
        </p:txBody>
      </p:sp>
      <p:sp>
        <p:nvSpPr>
          <p:cNvPr id="717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5F223F4-DD29-4D9A-B519-E01C1ABD102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>
            <a:solidFill>
              <a:srgbClr val="0B5CAD"/>
            </a:solidFill>
          </a:ln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557213" indent="-214313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8572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2001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5430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18859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2288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25717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29146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>
                <a:latin typeface="Noto Sans TC"/>
                <a:ea typeface="Noto Sans TC"/>
                <a:cs typeface="Noto Sans TC"/>
              </a:defRPr>
            </a:pPr>
            <a:r>
              <a:rPr sz="800" b="1">
                <a:solidFill>
                  <a:srgbClr val="FFFFFF"/>
                </a:solidFill>
                <a:latin typeface="Noto Sans TC"/>
              </a:rPr>
              <a:t>4</a:t>
            </a:r>
          </a:p>
        </p:txBody>
      </p:sp>
      <p:sp xmlns:a="http://schemas.openxmlformats.org/drawingml/2006/main">
        <p:nvSpPr>
          <p:cNvPr id="7173" name="Rounded Rectangle 7172"/>
          <p:cNvSpPr/>
          <p:nvPr/>
        </p:nvSpPr>
        <p:spPr>
          <a:xfrm>
            <a:off x="548640" y="950976"/>
            <a:ext cx="2331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4" name="TextBox 7173"/>
          <p:cNvSpPr txBox="1"/>
          <p:nvPr/>
        </p:nvSpPr>
        <p:spPr>
          <a:xfrm>
            <a:off x="658368" y="1097280"/>
            <a:ext cx="21031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80" b="1">
                <a:solidFill>
                  <a:srgbClr val="113A6B"/>
                </a:solidFill>
                <a:latin typeface="Noto Sans TC"/>
              </a:rPr>
              <a:t>資料自動彙整</a:t>
            </a:r>
          </a:p>
        </p:txBody>
      </p:sp>
      <p:sp xmlns:a="http://schemas.openxmlformats.org/drawingml/2006/main">
        <p:nvSpPr>
          <p:cNvPr id="7175" name="TextBox 7174"/>
          <p:cNvSpPr txBox="1"/>
          <p:nvPr/>
        </p:nvSpPr>
        <p:spPr>
          <a:xfrm>
            <a:off x="658368" y="1353312"/>
            <a:ext cx="210312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60" b="0">
                <a:solidFill>
                  <a:srgbClr val="1F2937"/>
                </a:solidFill>
                <a:latin typeface="Noto Sans TC"/>
              </a:rPr>
              <a:t>• 系統匯出檔作為唯一入口</a:t>
            </a:r>
          </a:p>
          <a:p>
            <a:r>
              <a:rPr sz="860" b="0">
                <a:solidFill>
                  <a:srgbClr val="1F2937"/>
                </a:solidFill>
                <a:latin typeface="Noto Sans TC"/>
              </a:rPr>
              <a:t>• 自動解析日期與站點欄位</a:t>
            </a:r>
          </a:p>
          <a:p>
            <a:r>
              <a:rPr sz="860" b="0">
                <a:solidFill>
                  <a:srgbClr val="1F2937"/>
                </a:solidFill>
                <a:latin typeface="Noto Sans TC"/>
              </a:rPr>
              <a:t>• 日／週／月資料自動分群</a:t>
            </a:r>
          </a:p>
        </p:txBody>
      </p:sp>
      <p:sp xmlns:a="http://schemas.openxmlformats.org/drawingml/2006/main">
        <p:nvSpPr>
          <p:cNvPr id="7176" name="Rounded Rectangle 7175"/>
          <p:cNvSpPr/>
          <p:nvPr/>
        </p:nvSpPr>
        <p:spPr>
          <a:xfrm>
            <a:off x="3246120" y="950976"/>
            <a:ext cx="2331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7" name="TextBox 7176"/>
          <p:cNvSpPr txBox="1"/>
          <p:nvPr/>
        </p:nvSpPr>
        <p:spPr>
          <a:xfrm>
            <a:off x="3355848" y="1097280"/>
            <a:ext cx="21031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80" b="1">
                <a:solidFill>
                  <a:srgbClr val="113A6B"/>
                </a:solidFill>
                <a:latin typeface="Noto Sans TC"/>
              </a:rPr>
              <a:t>良率口徑固定</a:t>
            </a:r>
          </a:p>
        </p:txBody>
      </p:sp>
      <p:sp xmlns:a="http://schemas.openxmlformats.org/drawingml/2006/main">
        <p:nvSpPr>
          <p:cNvPr id="7178" name="TextBox 7177"/>
          <p:cNvSpPr txBox="1"/>
          <p:nvPr/>
        </p:nvSpPr>
        <p:spPr>
          <a:xfrm>
            <a:off x="3355848" y="1353312"/>
            <a:ext cx="210312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60" b="0">
                <a:solidFill>
                  <a:srgbClr val="1F2937"/>
                </a:solidFill>
                <a:latin typeface="Noto Sans TC"/>
              </a:rPr>
              <a:t>• 片良率以 Total / NG 加權重算</a:t>
            </a:r>
          </a:p>
          <a:p>
            <a:r>
              <a:rPr sz="860" b="0">
                <a:solidFill>
                  <a:srgbClr val="1F2937"/>
                </a:solidFill>
                <a:latin typeface="Noto Sans TC"/>
              </a:rPr>
              <a:t>• 顆粒良率以顆數加權重算</a:t>
            </a:r>
          </a:p>
          <a:p>
            <a:r>
              <a:rPr sz="860" b="0">
                <a:solidFill>
                  <a:srgbClr val="1F2937"/>
                </a:solidFill>
                <a:latin typeface="Noto Sans TC"/>
              </a:rPr>
              <a:t>• 避免百分比直接平均錯誤</a:t>
            </a:r>
          </a:p>
        </p:txBody>
      </p:sp>
      <p:sp xmlns:a="http://schemas.openxmlformats.org/drawingml/2006/main">
        <p:nvSpPr>
          <p:cNvPr id="7179" name="Rounded Rectangle 7178"/>
          <p:cNvSpPr/>
          <p:nvPr/>
        </p:nvSpPr>
        <p:spPr>
          <a:xfrm>
            <a:off x="5943600" y="950976"/>
            <a:ext cx="2331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0" name="TextBox 7179"/>
          <p:cNvSpPr txBox="1"/>
          <p:nvPr/>
        </p:nvSpPr>
        <p:spPr>
          <a:xfrm>
            <a:off x="6053328" y="1097280"/>
            <a:ext cx="21031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80" b="1">
                <a:solidFill>
                  <a:srgbClr val="113A6B"/>
                </a:solidFill>
                <a:latin typeface="Noto Sans TC"/>
              </a:rPr>
              <a:t>報告自動輸出</a:t>
            </a:r>
          </a:p>
        </p:txBody>
      </p:sp>
      <p:sp xmlns:a="http://schemas.openxmlformats.org/drawingml/2006/main">
        <p:nvSpPr>
          <p:cNvPr id="7181" name="TextBox 7180"/>
          <p:cNvSpPr txBox="1"/>
          <p:nvPr/>
        </p:nvSpPr>
        <p:spPr>
          <a:xfrm>
            <a:off x="6053328" y="1353312"/>
            <a:ext cx="210312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60" b="0">
                <a:solidFill>
                  <a:srgbClr val="1F2937"/>
                </a:solidFill>
                <a:latin typeface="Noto Sans TC"/>
              </a:rPr>
              <a:t>• 產生貼圖區與 PPT 重點頁</a:t>
            </a:r>
          </a:p>
          <a:p>
            <a:r>
              <a:rPr sz="860" b="0">
                <a:solidFill>
                  <a:srgbClr val="1F2937"/>
                </a:solidFill>
                <a:latin typeface="Noto Sans TC"/>
              </a:rPr>
              <a:t>• 固定圖表位置與格式</a:t>
            </a:r>
          </a:p>
          <a:p>
            <a:r>
              <a:rPr sz="860" b="0">
                <a:solidFill>
                  <a:srgbClr val="1F2937"/>
                </a:solidFill>
                <a:latin typeface="Noto Sans TC"/>
              </a:rPr>
              <a:t>• 低良率站點自動排序</a:t>
            </a:r>
          </a:p>
        </p:txBody>
      </p:sp>
      <p:sp xmlns:a="http://schemas.openxmlformats.org/drawingml/2006/main">
        <p:nvSpPr>
          <p:cNvPr id="7182" name="TextBox 7181"/>
          <p:cNvSpPr txBox="1"/>
          <p:nvPr/>
        </p:nvSpPr>
        <p:spPr>
          <a:xfrm>
            <a:off x="658368" y="2514600"/>
            <a:ext cx="14630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13A6B"/>
                </a:solidFill>
                <a:latin typeface="Noto Sans TC"/>
              </a:rPr>
              <a:t>設計核心</a:t>
            </a:r>
          </a:p>
        </p:txBody>
      </p:sp>
      <p:sp xmlns:a="http://schemas.openxmlformats.org/drawingml/2006/main">
        <p:nvSpPr>
          <p:cNvPr id="7183" name="TextBox 7182"/>
          <p:cNvSpPr txBox="1"/>
          <p:nvPr/>
        </p:nvSpPr>
        <p:spPr>
          <a:xfrm>
            <a:off x="658368" y="2788920"/>
            <a:ext cx="7589520" cy="4206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40" b="0">
                <a:solidFill>
                  <a:srgbClr val="1F2937"/>
                </a:solidFill>
                <a:latin typeface="Noto Sans TC"/>
              </a:rPr>
              <a:t>以 Excel 自動化流程串接原始資料、站點 mapping、良率重算、圖表貼圖區與 PPT 報告，讓每日更新從人工操作轉為可重複執行的標準流程。</a:t>
            </a:r>
          </a:p>
        </p:txBody>
      </p:sp>
      <p:cxnSp xmlns:a="http://schemas.openxmlformats.org/drawingml/2006/main">
        <p:nvCxnSpPr>
          <p:cNvPr id="7184" name="Connector 7183"/>
          <p:cNvCxnSpPr/>
          <p:nvPr/>
        </p:nvCxnSpPr>
        <p:spPr>
          <a:xfrm>
            <a:off x="1664208" y="4096512"/>
            <a:ext cx="576072" cy="0"/>
          </a:xfrm>
          <a:prstGeom prst="line">
            <a:avLst/>
          </a:prstGeom>
          <a:ln w="1270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 xmlns:a="http://schemas.openxmlformats.org/drawingml/2006/main">
        <p:nvCxnSpPr>
          <p:cNvPr id="7185" name="Connector 7184"/>
          <p:cNvCxnSpPr/>
          <p:nvPr/>
        </p:nvCxnSpPr>
        <p:spPr>
          <a:xfrm>
            <a:off x="3291840" y="4096512"/>
            <a:ext cx="576072" cy="0"/>
          </a:xfrm>
          <a:prstGeom prst="line">
            <a:avLst/>
          </a:prstGeom>
          <a:ln w="1270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 xmlns:a="http://schemas.openxmlformats.org/drawingml/2006/main">
        <p:nvCxnSpPr>
          <p:cNvPr id="7186" name="Connector 7185"/>
          <p:cNvCxnSpPr/>
          <p:nvPr/>
        </p:nvCxnSpPr>
        <p:spPr>
          <a:xfrm>
            <a:off x="4919472" y="4096512"/>
            <a:ext cx="576072" cy="0"/>
          </a:xfrm>
          <a:prstGeom prst="line">
            <a:avLst/>
          </a:prstGeom>
          <a:ln w="1270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 xmlns:a="http://schemas.openxmlformats.org/drawingml/2006/main">
        <p:nvCxnSpPr>
          <p:cNvPr id="7187" name="Connector 7186"/>
          <p:cNvCxnSpPr/>
          <p:nvPr/>
        </p:nvCxnSpPr>
        <p:spPr>
          <a:xfrm>
            <a:off x="6547104" y="4096512"/>
            <a:ext cx="576072" cy="0"/>
          </a:xfrm>
          <a:prstGeom prst="line">
            <a:avLst/>
          </a:prstGeom>
          <a:ln w="1270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xmlns:a="http://schemas.openxmlformats.org/drawingml/2006/main">
        <p:nvSpPr>
          <p:cNvPr id="7188" name="Rounded Rectangle 7187"/>
          <p:cNvSpPr/>
          <p:nvPr/>
        </p:nvSpPr>
        <p:spPr>
          <a:xfrm>
            <a:off x="658368" y="3822191"/>
            <a:ext cx="1005840" cy="54864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B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rmAutofit/>
          </a:bodyPr>
          <a:lstStyle/>
          <a:p>
            <a:pPr algn="ctr"/>
            <a:r>
              <a:rPr sz="750" b="1">
                <a:solidFill>
                  <a:srgbClr val="17324D"/>
                </a:solidFill>
                <a:latin typeface="Noto Sans TC"/>
              </a:rPr>
              <a:t>Raw Data</a:t>
            </a:r>
          </a:p>
          <a:p>
            <a:pPr algn="ctr"/>
            <a:r>
              <a:rPr sz="750" b="1">
                <a:solidFill>
                  <a:srgbClr val="17324D"/>
                </a:solidFill>
                <a:latin typeface="Noto Sans TC"/>
              </a:rPr>
              <a:t>系統匯出</a:t>
            </a:r>
          </a:p>
        </p:txBody>
      </p:sp>
      <p:sp xmlns:a="http://schemas.openxmlformats.org/drawingml/2006/main">
        <p:nvSpPr>
          <p:cNvPr id="7189" name="Rounded Rectangle 7188"/>
          <p:cNvSpPr/>
          <p:nvPr/>
        </p:nvSpPr>
        <p:spPr>
          <a:xfrm>
            <a:off x="2286000" y="3822191"/>
            <a:ext cx="1005840" cy="54864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B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rmAutofit/>
          </a:bodyPr>
          <a:lstStyle/>
          <a:p>
            <a:pPr algn="ctr"/>
            <a:r>
              <a:rPr sz="750" b="1">
                <a:solidFill>
                  <a:srgbClr val="17324D"/>
                </a:solidFill>
                <a:latin typeface="Noto Sans TC"/>
              </a:rPr>
              <a:t>Parser</a:t>
            </a:r>
          </a:p>
          <a:p>
            <a:pPr algn="ctr"/>
            <a:r>
              <a:rPr sz="750" b="1">
                <a:solidFill>
                  <a:srgbClr val="17324D"/>
                </a:solidFill>
                <a:latin typeface="Noto Sans TC"/>
              </a:rPr>
              <a:t>欄位辨識</a:t>
            </a:r>
          </a:p>
        </p:txBody>
      </p:sp>
      <p:sp xmlns:a="http://schemas.openxmlformats.org/drawingml/2006/main">
        <p:nvSpPr>
          <p:cNvPr id="7190" name="Rounded Rectangle 7189"/>
          <p:cNvSpPr/>
          <p:nvPr/>
        </p:nvSpPr>
        <p:spPr>
          <a:xfrm>
            <a:off x="3913632" y="3822191"/>
            <a:ext cx="1005840" cy="54864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B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rmAutofit/>
          </a:bodyPr>
          <a:lstStyle/>
          <a:p>
            <a:pPr algn="ctr"/>
            <a:r>
              <a:rPr sz="750" b="1">
                <a:solidFill>
                  <a:srgbClr val="17324D"/>
                </a:solidFill>
                <a:latin typeface="Noto Sans TC"/>
              </a:rPr>
              <a:t>Aggregate</a:t>
            </a:r>
          </a:p>
          <a:p>
            <a:pPr algn="ctr"/>
            <a:r>
              <a:rPr sz="750" b="1">
                <a:solidFill>
                  <a:srgbClr val="17324D"/>
                </a:solidFill>
                <a:latin typeface="Noto Sans TC"/>
              </a:rPr>
              <a:t>日/週/月</a:t>
            </a:r>
          </a:p>
        </p:txBody>
      </p:sp>
      <p:sp xmlns:a="http://schemas.openxmlformats.org/drawingml/2006/main">
        <p:nvSpPr>
          <p:cNvPr id="7191" name="Rounded Rectangle 7190"/>
          <p:cNvSpPr/>
          <p:nvPr/>
        </p:nvSpPr>
        <p:spPr>
          <a:xfrm>
            <a:off x="5541264" y="3822191"/>
            <a:ext cx="1005840" cy="54864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B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rmAutofit/>
          </a:bodyPr>
          <a:lstStyle/>
          <a:p>
            <a:pPr algn="ctr"/>
            <a:r>
              <a:rPr sz="750" b="1">
                <a:solidFill>
                  <a:srgbClr val="17324D"/>
                </a:solidFill>
                <a:latin typeface="Noto Sans TC"/>
              </a:rPr>
              <a:t>Chart</a:t>
            </a:r>
          </a:p>
          <a:p>
            <a:pPr algn="ctr"/>
            <a:r>
              <a:rPr sz="750" b="1">
                <a:solidFill>
                  <a:srgbClr val="17324D"/>
                </a:solidFill>
                <a:latin typeface="Noto Sans TC"/>
              </a:rPr>
              <a:t>貼圖區</a:t>
            </a:r>
          </a:p>
        </p:txBody>
      </p:sp>
      <p:sp xmlns:a="http://schemas.openxmlformats.org/drawingml/2006/main">
        <p:nvSpPr>
          <p:cNvPr id="7192" name="Rounded Rectangle 7191"/>
          <p:cNvSpPr/>
          <p:nvPr/>
        </p:nvSpPr>
        <p:spPr>
          <a:xfrm>
            <a:off x="7168896" y="3822191"/>
            <a:ext cx="1005840" cy="54864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B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rmAutofit/>
          </a:bodyPr>
          <a:lstStyle/>
          <a:p>
            <a:pPr algn="ctr"/>
            <a:r>
              <a:rPr sz="750" b="1">
                <a:solidFill>
                  <a:srgbClr val="17324D"/>
                </a:solidFill>
                <a:latin typeface="Noto Sans TC"/>
              </a:rPr>
              <a:t>Report</a:t>
            </a:r>
          </a:p>
          <a:p>
            <a:pPr algn="ctr"/>
            <a:r>
              <a:rPr sz="750" b="1">
                <a:solidFill>
                  <a:srgbClr val="17324D"/>
                </a:solidFill>
                <a:latin typeface="Noto Sans TC"/>
              </a:rPr>
              <a:t>PPT輸出</a:t>
            </a:r>
          </a:p>
        </p:txBody>
      </p:sp>
      <p:sp xmlns:a="http://schemas.openxmlformats.org/drawingml/2006/main">
        <p:nvSpPr>
          <p:cNvPr id="7193" name="TextBox 7192"/>
          <p:cNvSpPr txBox="1"/>
          <p:nvPr/>
        </p:nvSpPr>
        <p:spPr>
          <a:xfrm>
            <a:off x="640080" y="4590288"/>
            <a:ext cx="80010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80" b="1">
                <a:solidFill>
                  <a:srgbClr val="113A6B"/>
                </a:solidFill>
                <a:latin typeface="Noto Sans TC"/>
              </a:rPr>
              <a:t>輸出結構：說明 → 原始資料 → 日良率 → 周良率 → 月良率 → 貼圖區-Month / Week / Day → PPT</a:t>
            </a:r>
          </a:p>
        </p:txBody>
      </p:sp>
    </p:spTree>
    <p:extLst>
      <p:ext uri="{BB962C8B-B14F-4D97-AF65-F5344CB8AC3E}">
        <p14:creationId xmlns:p14="http://schemas.microsoft.com/office/powerpoint/2010/main" val="18019183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72" name="Title 6">
            <a:extLst xmlns:a="http://schemas.openxmlformats.org/drawingml/2006/main">
              <a:ext uri="{FF2B5EF4-FFF2-40B4-BE49-F238E27FC236}">
                <a16:creationId xmlns:a16="http://schemas.microsoft.com/office/drawing/2014/main" id="{A08E7A72-C75F-4CA6-95C8-50416C107F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defRPr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1F2937"/>
                </a:solidFill>
                <a:latin typeface="Noto Sans TC"/>
              </a:rPr>
              <a:t>C. 效益說明</a:t>
            </a:r>
          </a:p>
        </p:txBody>
      </p:sp>
      <p:sp>
        <p:nvSpPr>
          <p:cNvPr id="717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2847360-C7A7-4B9E-8801-5991B5016A3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>
            <a:solidFill>
              <a:srgbClr val="0B5CAD"/>
            </a:solidFill>
          </a:ln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557213" indent="-214313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8572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2001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5430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18859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2288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25717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29146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>
                <a:latin typeface="Noto Sans TC"/>
                <a:ea typeface="Noto Sans TC"/>
                <a:cs typeface="Noto Sans TC"/>
              </a:defRPr>
            </a:pPr>
            <a:r>
              <a:rPr sz="800" b="1">
                <a:solidFill>
                  <a:srgbClr val="FFFFFF"/>
                </a:solidFill>
                <a:latin typeface="Noto Sans TC"/>
              </a:rPr>
              <a:t>5</a:t>
            </a:r>
          </a:p>
        </p:txBody>
      </p:sp>
      <p:sp xmlns:a="http://schemas.openxmlformats.org/drawingml/2006/main">
        <p:nvSpPr>
          <p:cNvPr id="7173" name="TextBox 7172"/>
          <p:cNvSpPr txBox="1"/>
          <p:nvPr/>
        </p:nvSpPr>
        <p:spPr>
          <a:xfrm>
            <a:off x="530352" y="1051560"/>
            <a:ext cx="329184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113A6B"/>
                </a:solidFill>
                <a:latin typeface="Noto Sans TC"/>
              </a:rPr>
              <a:t>每次報告製作時間（估算）</a:t>
            </a:r>
          </a:p>
        </p:txBody>
      </p:sp>
      <p:cxnSp xmlns:a="http://schemas.openxmlformats.org/drawingml/2006/main">
        <p:nvCxnSpPr>
          <p:cNvPr id="7174" name="Connector 7173"/>
          <p:cNvCxnSpPr/>
          <p:nvPr/>
        </p:nvCxnSpPr>
        <p:spPr>
          <a:xfrm>
            <a:off x="658368" y="4434840"/>
            <a:ext cx="3273552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xmlns:a="http://schemas.openxmlformats.org/drawingml/2006/main">
        <p:nvSpPr>
          <p:cNvPr id="7175" name="Rectangle 7174"/>
          <p:cNvSpPr/>
          <p:nvPr/>
        </p:nvSpPr>
        <p:spPr>
          <a:xfrm>
            <a:off x="1188720" y="2285999"/>
            <a:ext cx="658368" cy="2148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6" name="TextBox 7175"/>
          <p:cNvSpPr txBox="1"/>
          <p:nvPr/>
        </p:nvSpPr>
        <p:spPr>
          <a:xfrm>
            <a:off x="1097280" y="1965959"/>
            <a:ext cx="84124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C0392B"/>
                </a:solidFill>
                <a:latin typeface="Noto Sans TC"/>
              </a:rPr>
              <a:t>126</a:t>
            </a:r>
          </a:p>
        </p:txBody>
      </p:sp>
      <p:sp xmlns:a="http://schemas.openxmlformats.org/drawingml/2006/main">
        <p:nvSpPr>
          <p:cNvPr id="7177" name="TextBox 7176"/>
          <p:cNvSpPr txBox="1"/>
          <p:nvPr/>
        </p:nvSpPr>
        <p:spPr>
          <a:xfrm>
            <a:off x="868680" y="4526279"/>
            <a:ext cx="12801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50" b="1">
                <a:solidFill>
                  <a:srgbClr val="1F2937"/>
                </a:solidFill>
                <a:latin typeface="Noto Sans TC"/>
              </a:rPr>
              <a:t>現況</a:t>
            </a:r>
          </a:p>
          <a:p>
            <a:pPr algn="ctr"/>
            <a:r>
              <a:rPr sz="850" b="1">
                <a:solidFill>
                  <a:srgbClr val="1F2937"/>
                </a:solidFill>
                <a:latin typeface="Noto Sans TC"/>
              </a:rPr>
              <a:t>42張×3分鐘</a:t>
            </a:r>
          </a:p>
        </p:txBody>
      </p:sp>
      <p:sp xmlns:a="http://schemas.openxmlformats.org/drawingml/2006/main">
        <p:nvSpPr>
          <p:cNvPr id="7178" name="Rectangle 7177"/>
          <p:cNvSpPr/>
          <p:nvPr/>
        </p:nvSpPr>
        <p:spPr>
          <a:xfrm>
            <a:off x="2788920" y="4349568"/>
            <a:ext cx="658368" cy="85271"/>
          </a:xfrm>
          <a:prstGeom prst="rect">
            <a:avLst/>
          </a:prstGeom>
          <a:solidFill>
            <a:srgbClr val="12824C"/>
          </a:solidFill>
          <a:ln w="12700">
            <a:solidFill>
              <a:srgbClr val="128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9" name="TextBox 7178"/>
          <p:cNvSpPr txBox="1"/>
          <p:nvPr/>
        </p:nvSpPr>
        <p:spPr>
          <a:xfrm>
            <a:off x="2697479" y="4029528"/>
            <a:ext cx="84124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12824C"/>
                </a:solidFill>
                <a:latin typeface="Noto Sans TC"/>
              </a:rPr>
              <a:t>5</a:t>
            </a:r>
          </a:p>
        </p:txBody>
      </p:sp>
      <p:sp xmlns:a="http://schemas.openxmlformats.org/drawingml/2006/main">
        <p:nvSpPr>
          <p:cNvPr id="7180" name="TextBox 7179"/>
          <p:cNvSpPr txBox="1"/>
          <p:nvPr/>
        </p:nvSpPr>
        <p:spPr>
          <a:xfrm>
            <a:off x="2468879" y="4526279"/>
            <a:ext cx="128016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50" b="1">
                <a:solidFill>
                  <a:srgbClr val="1F2937"/>
                </a:solidFill>
                <a:latin typeface="Noto Sans TC"/>
              </a:rPr>
              <a:t>導入後</a:t>
            </a:r>
          </a:p>
          <a:p>
            <a:pPr algn="ctr"/>
            <a:r>
              <a:rPr sz="850" b="1">
                <a:solidFill>
                  <a:srgbClr val="1F2937"/>
                </a:solidFill>
                <a:latin typeface="Noto Sans TC"/>
              </a:rPr>
              <a:t>自動產出</a:t>
            </a:r>
          </a:p>
        </p:txBody>
      </p:sp>
      <p:sp xmlns:a="http://schemas.openxmlformats.org/drawingml/2006/main">
        <p:nvSpPr>
          <p:cNvPr id="7181" name="TextBox 7180"/>
          <p:cNvSpPr txBox="1"/>
          <p:nvPr/>
        </p:nvSpPr>
        <p:spPr>
          <a:xfrm>
            <a:off x="1828800" y="2331720"/>
            <a:ext cx="14173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>
                <a:solidFill>
                  <a:srgbClr val="12824C"/>
                </a:solidFill>
                <a:latin typeface="Noto Sans TC"/>
              </a:rPr>
              <a:t>約 121 分鐘／次可轉為自動化處理*</a:t>
            </a:r>
          </a:p>
        </p:txBody>
      </p:sp>
      <p:sp xmlns:a="http://schemas.openxmlformats.org/drawingml/2006/main">
        <p:nvSpPr>
          <p:cNvPr id="7182" name="Rounded Rectangle 7181"/>
          <p:cNvSpPr/>
          <p:nvPr/>
        </p:nvSpPr>
        <p:spPr>
          <a:xfrm>
            <a:off x="4636008" y="960120"/>
            <a:ext cx="1143000" cy="96012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CF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3" name="TextBox 7182"/>
          <p:cNvSpPr txBox="1"/>
          <p:nvPr/>
        </p:nvSpPr>
        <p:spPr>
          <a:xfrm>
            <a:off x="4636008" y="1078992"/>
            <a:ext cx="114300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100" b="1">
                <a:solidFill>
                  <a:srgbClr val="12824C"/>
                </a:solidFill>
                <a:latin typeface="Noto Sans TC"/>
              </a:rPr>
              <a:t>12</a:t>
            </a:r>
          </a:p>
        </p:txBody>
      </p:sp>
      <p:sp xmlns:a="http://schemas.openxmlformats.org/drawingml/2006/main">
        <p:nvSpPr>
          <p:cNvPr id="7184" name="TextBox 7183"/>
          <p:cNvSpPr txBox="1"/>
          <p:nvPr/>
        </p:nvSpPr>
        <p:spPr>
          <a:xfrm>
            <a:off x="4636008" y="1508760"/>
            <a:ext cx="11430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50" b="1">
                <a:solidFill>
                  <a:srgbClr val="6B7280"/>
                </a:solidFill>
                <a:latin typeface="Noto Sans TC"/>
              </a:rPr>
              <a:t>Active</a:t>
            </a:r>
          </a:p>
          <a:p>
            <a:pPr algn="ctr"/>
            <a:r>
              <a:rPr sz="850" b="1">
                <a:solidFill>
                  <a:srgbClr val="6B7280"/>
                </a:solidFill>
                <a:latin typeface="Noto Sans TC"/>
              </a:rPr>
              <a:t>Stations</a:t>
            </a:r>
          </a:p>
        </p:txBody>
      </p:sp>
      <p:sp xmlns:a="http://schemas.openxmlformats.org/drawingml/2006/main">
        <p:nvSpPr>
          <p:cNvPr id="7185" name="Rounded Rectangle 7184"/>
          <p:cNvSpPr/>
          <p:nvPr/>
        </p:nvSpPr>
        <p:spPr>
          <a:xfrm>
            <a:off x="6181344" y="960120"/>
            <a:ext cx="1143000" cy="96012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CF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6" name="TextBox 7185"/>
          <p:cNvSpPr txBox="1"/>
          <p:nvPr/>
        </p:nvSpPr>
        <p:spPr>
          <a:xfrm>
            <a:off x="6181344" y="1078992"/>
            <a:ext cx="114300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100" b="1">
                <a:solidFill>
                  <a:srgbClr val="12824C"/>
                </a:solidFill>
                <a:latin typeface="Noto Sans TC"/>
              </a:rPr>
              <a:t>488</a:t>
            </a:r>
          </a:p>
        </p:txBody>
      </p:sp>
      <p:sp xmlns:a="http://schemas.openxmlformats.org/drawingml/2006/main">
        <p:nvSpPr>
          <p:cNvPr id="7187" name="TextBox 7186"/>
          <p:cNvSpPr txBox="1"/>
          <p:nvPr/>
        </p:nvSpPr>
        <p:spPr>
          <a:xfrm>
            <a:off x="6181344" y="1508760"/>
            <a:ext cx="11430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50" b="1">
                <a:solidFill>
                  <a:srgbClr val="6B7280"/>
                </a:solidFill>
                <a:latin typeface="Noto Sans TC"/>
              </a:rPr>
              <a:t>Total</a:t>
            </a:r>
          </a:p>
          <a:p>
            <a:pPr algn="ctr"/>
            <a:r>
              <a:rPr sz="850" b="1">
                <a:solidFill>
                  <a:srgbClr val="6B7280"/>
                </a:solidFill>
                <a:latin typeface="Noto Sans TC"/>
              </a:rPr>
              <a:t>Panels</a:t>
            </a:r>
          </a:p>
        </p:txBody>
      </p:sp>
      <p:sp xmlns:a="http://schemas.openxmlformats.org/drawingml/2006/main">
        <p:nvSpPr>
          <p:cNvPr id="7188" name="Rounded Rectangle 7187"/>
          <p:cNvSpPr/>
          <p:nvPr/>
        </p:nvSpPr>
        <p:spPr>
          <a:xfrm>
            <a:off x="7717536" y="960120"/>
            <a:ext cx="1143000" cy="96012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CF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9" name="TextBox 7188"/>
          <p:cNvSpPr txBox="1"/>
          <p:nvPr/>
        </p:nvSpPr>
        <p:spPr>
          <a:xfrm>
            <a:off x="7717536" y="1078992"/>
            <a:ext cx="114300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100" b="1">
                <a:solidFill>
                  <a:srgbClr val="F5A623"/>
                </a:solidFill>
                <a:latin typeface="Noto Sans TC"/>
              </a:rPr>
              <a:t>5</a:t>
            </a:r>
          </a:p>
        </p:txBody>
      </p:sp>
      <p:sp xmlns:a="http://schemas.openxmlformats.org/drawingml/2006/main">
        <p:nvSpPr>
          <p:cNvPr id="7190" name="TextBox 7189"/>
          <p:cNvSpPr txBox="1"/>
          <p:nvPr/>
        </p:nvSpPr>
        <p:spPr>
          <a:xfrm>
            <a:off x="7717536" y="1508760"/>
            <a:ext cx="11430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50" b="1">
                <a:solidFill>
                  <a:srgbClr val="6B7280"/>
                </a:solidFill>
                <a:latin typeface="Noto Sans TC"/>
              </a:rPr>
              <a:t>&lt;95%</a:t>
            </a:r>
          </a:p>
          <a:p>
            <a:pPr algn="ctr"/>
            <a:r>
              <a:rPr sz="850" b="1">
                <a:solidFill>
                  <a:srgbClr val="6B7280"/>
                </a:solidFill>
                <a:latin typeface="Noto Sans TC"/>
              </a:rPr>
              <a:t>Stations</a:t>
            </a:r>
          </a:p>
        </p:txBody>
      </p:sp>
      <p:sp xmlns:a="http://schemas.openxmlformats.org/drawingml/2006/main">
        <p:nvSpPr>
          <p:cNvPr id="7191" name="TextBox 7190"/>
          <p:cNvSpPr txBox="1"/>
          <p:nvPr/>
        </p:nvSpPr>
        <p:spPr>
          <a:xfrm>
            <a:off x="4654296" y="2267712"/>
            <a:ext cx="4069080" cy="1920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113A6B"/>
                </a:solidFill>
                <a:latin typeface="Noto Sans TC"/>
              </a:rPr>
              <a:t>效率與一致性</a:t>
            </a:r>
          </a:p>
        </p:txBody>
      </p:sp>
      <p:sp xmlns:a="http://schemas.openxmlformats.org/drawingml/2006/main">
        <p:nvSpPr>
          <p:cNvPr id="7192" name="TextBox 7191"/>
          <p:cNvSpPr txBox="1"/>
          <p:nvPr/>
        </p:nvSpPr>
        <p:spPr>
          <a:xfrm>
            <a:off x="4654296" y="2542032"/>
            <a:ext cx="4069080" cy="7498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60" b="0">
                <a:solidFill>
                  <a:srgbClr val="1F2937"/>
                </a:solidFill>
                <a:latin typeface="Noto Sans TC"/>
              </a:rPr>
              <a:t>• 固定公式與固定圖表位置，降低人工貼錯與漏貼風險。</a:t>
            </a:r>
          </a:p>
          <a:p>
            <a:r>
              <a:rPr sz="1060" b="0">
                <a:solidFill>
                  <a:srgbClr val="1F2937"/>
                </a:solidFill>
                <a:latin typeface="Noto Sans TC"/>
              </a:rPr>
              <a:t>• 日／週／月採同一資料口徑，避免報告間數字不一致。</a:t>
            </a:r>
          </a:p>
          <a:p>
            <a:r>
              <a:rPr sz="1060" b="0">
                <a:solidFill>
                  <a:srgbClr val="1F2937"/>
                </a:solidFill>
                <a:latin typeface="Noto Sans TC"/>
              </a:rPr>
              <a:t>• 低良率站點自動排序，可快速聚焦異常趨勢。</a:t>
            </a:r>
          </a:p>
        </p:txBody>
      </p:sp>
      <p:sp xmlns:a="http://schemas.openxmlformats.org/drawingml/2006/main">
        <p:nvSpPr>
          <p:cNvPr id="7193" name="TextBox 7192"/>
          <p:cNvSpPr txBox="1"/>
          <p:nvPr/>
        </p:nvSpPr>
        <p:spPr>
          <a:xfrm>
            <a:off x="4654296" y="3694176"/>
            <a:ext cx="4069080" cy="1920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113A6B"/>
                </a:solidFill>
                <a:latin typeface="Noto Sans TC"/>
              </a:rPr>
              <a:t>各站月度投入片數（2026-07）</a:t>
            </a:r>
          </a:p>
        </p:txBody>
      </p:sp>
      <p:sp xmlns:a="http://schemas.openxmlformats.org/drawingml/2006/main">
        <p:nvSpPr>
          <p:cNvPr id="7194" name="TextBox 7193"/>
          <p:cNvSpPr txBox="1"/>
          <p:nvPr/>
        </p:nvSpPr>
        <p:spPr>
          <a:xfrm>
            <a:off x="4654296" y="4005072"/>
            <a:ext cx="685800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80" b="0">
                <a:solidFill>
                  <a:srgbClr val="1F2937"/>
                </a:solidFill>
                <a:latin typeface="Noto Sans TC"/>
              </a:rPr>
              <a:t>SPI1</a:t>
            </a:r>
          </a:p>
        </p:txBody>
      </p:sp>
      <p:sp xmlns:a="http://schemas.openxmlformats.org/drawingml/2006/main">
        <p:nvSpPr>
          <p:cNvPr id="7195" name="Rectangle 7194"/>
          <p:cNvSpPr/>
          <p:nvPr/>
        </p:nvSpPr>
        <p:spPr>
          <a:xfrm>
            <a:off x="5358384" y="4023359"/>
            <a:ext cx="2057400" cy="10058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6" name="Rectangle 7195"/>
          <p:cNvSpPr/>
          <p:nvPr/>
        </p:nvSpPr>
        <p:spPr>
          <a:xfrm>
            <a:off x="5358384" y="4023359"/>
            <a:ext cx="2057400" cy="100584"/>
          </a:xfrm>
          <a:prstGeom prst="rect">
            <a:avLst/>
          </a:prstGeom>
          <a:solidFill>
            <a:srgbClr val="0B5CAD"/>
          </a:solidFill>
          <a:ln w="1270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7" name="TextBox 7196"/>
          <p:cNvSpPr txBox="1"/>
          <p:nvPr/>
        </p:nvSpPr>
        <p:spPr>
          <a:xfrm>
            <a:off x="7498079" y="3995928"/>
            <a:ext cx="41148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50" b="0">
                <a:solidFill>
                  <a:srgbClr val="1F2937"/>
                </a:solidFill>
                <a:latin typeface="Noto Sans TC"/>
              </a:rPr>
              <a:t>77</a:t>
            </a:r>
          </a:p>
        </p:txBody>
      </p:sp>
      <p:sp xmlns:a="http://schemas.openxmlformats.org/drawingml/2006/main">
        <p:nvSpPr>
          <p:cNvPr id="7198" name="TextBox 7197"/>
          <p:cNvSpPr txBox="1"/>
          <p:nvPr/>
        </p:nvSpPr>
        <p:spPr>
          <a:xfrm>
            <a:off x="4654296" y="4233672"/>
            <a:ext cx="685800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80" b="0">
                <a:solidFill>
                  <a:srgbClr val="1F2937"/>
                </a:solidFill>
                <a:latin typeface="Noto Sans TC"/>
              </a:rPr>
              <a:t>AOI1</a:t>
            </a:r>
          </a:p>
        </p:txBody>
      </p:sp>
      <p:sp xmlns:a="http://schemas.openxmlformats.org/drawingml/2006/main">
        <p:nvSpPr>
          <p:cNvPr id="7199" name="Rectangle 7198"/>
          <p:cNvSpPr/>
          <p:nvPr/>
        </p:nvSpPr>
        <p:spPr>
          <a:xfrm>
            <a:off x="5358384" y="4251959"/>
            <a:ext cx="2057400" cy="10058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200" name="Rectangle 7199"/>
          <p:cNvSpPr/>
          <p:nvPr/>
        </p:nvSpPr>
        <p:spPr>
          <a:xfrm>
            <a:off x="5358384" y="4251959"/>
            <a:ext cx="2057400" cy="100584"/>
          </a:xfrm>
          <a:prstGeom prst="rect">
            <a:avLst/>
          </a:prstGeom>
          <a:solidFill>
            <a:srgbClr val="0B5CAD"/>
          </a:solidFill>
          <a:ln w="1270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201" name="TextBox 7200"/>
          <p:cNvSpPr txBox="1"/>
          <p:nvPr/>
        </p:nvSpPr>
        <p:spPr>
          <a:xfrm>
            <a:off x="7498079" y="4224528"/>
            <a:ext cx="41148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50" b="0">
                <a:solidFill>
                  <a:srgbClr val="1F2937"/>
                </a:solidFill>
                <a:latin typeface="Noto Sans TC"/>
              </a:rPr>
              <a:t>77</a:t>
            </a:r>
          </a:p>
        </p:txBody>
      </p:sp>
      <p:sp xmlns:a="http://schemas.openxmlformats.org/drawingml/2006/main">
        <p:nvSpPr>
          <p:cNvPr id="7202" name="TextBox 7201"/>
          <p:cNvSpPr txBox="1"/>
          <p:nvPr/>
        </p:nvSpPr>
        <p:spPr>
          <a:xfrm>
            <a:off x="4654296" y="4462272"/>
            <a:ext cx="685800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80" b="0">
                <a:solidFill>
                  <a:srgbClr val="1F2937"/>
                </a:solidFill>
                <a:latin typeface="Noto Sans TC"/>
              </a:rPr>
              <a:t>AOI2</a:t>
            </a:r>
          </a:p>
        </p:txBody>
      </p:sp>
      <p:sp xmlns:a="http://schemas.openxmlformats.org/drawingml/2006/main">
        <p:nvSpPr>
          <p:cNvPr id="7203" name="Rectangle 7202"/>
          <p:cNvSpPr/>
          <p:nvPr/>
        </p:nvSpPr>
        <p:spPr>
          <a:xfrm>
            <a:off x="5358384" y="4480559"/>
            <a:ext cx="2057400" cy="10058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204" name="Rectangle 7203"/>
          <p:cNvSpPr/>
          <p:nvPr/>
        </p:nvSpPr>
        <p:spPr>
          <a:xfrm>
            <a:off x="5358384" y="4480559"/>
            <a:ext cx="2057400" cy="100584"/>
          </a:xfrm>
          <a:prstGeom prst="rect">
            <a:avLst/>
          </a:prstGeom>
          <a:solidFill>
            <a:srgbClr val="0B5CAD"/>
          </a:solidFill>
          <a:ln w="1270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205" name="TextBox 7204"/>
          <p:cNvSpPr txBox="1"/>
          <p:nvPr/>
        </p:nvSpPr>
        <p:spPr>
          <a:xfrm>
            <a:off x="7498079" y="4453128"/>
            <a:ext cx="41148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50" b="0">
                <a:solidFill>
                  <a:srgbClr val="1F2937"/>
                </a:solidFill>
                <a:latin typeface="Noto Sans TC"/>
              </a:rPr>
              <a:t>77</a:t>
            </a:r>
          </a:p>
        </p:txBody>
      </p:sp>
      <p:sp xmlns:a="http://schemas.openxmlformats.org/drawingml/2006/main">
        <p:nvSpPr>
          <p:cNvPr id="7206" name="TextBox 7205"/>
          <p:cNvSpPr txBox="1"/>
          <p:nvPr/>
        </p:nvSpPr>
        <p:spPr>
          <a:xfrm>
            <a:off x="4654296" y="4690872"/>
            <a:ext cx="685800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80" b="0">
                <a:solidFill>
                  <a:srgbClr val="1F2937"/>
                </a:solidFill>
                <a:latin typeface="Noto Sans TC"/>
              </a:rPr>
              <a:t>AOI4</a:t>
            </a:r>
          </a:p>
        </p:txBody>
      </p:sp>
      <p:sp xmlns:a="http://schemas.openxmlformats.org/drawingml/2006/main">
        <p:nvSpPr>
          <p:cNvPr id="7207" name="Rectangle 7206"/>
          <p:cNvSpPr/>
          <p:nvPr/>
        </p:nvSpPr>
        <p:spPr>
          <a:xfrm>
            <a:off x="5358384" y="4709159"/>
            <a:ext cx="2057400" cy="10058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208" name="Rectangle 7207"/>
          <p:cNvSpPr/>
          <p:nvPr/>
        </p:nvSpPr>
        <p:spPr>
          <a:xfrm>
            <a:off x="5358384" y="4709159"/>
            <a:ext cx="1122218" cy="100584"/>
          </a:xfrm>
          <a:prstGeom prst="rect">
            <a:avLst/>
          </a:prstGeom>
          <a:solidFill>
            <a:srgbClr val="0B5CAD"/>
          </a:solidFill>
          <a:ln w="1270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209" name="TextBox 7208"/>
          <p:cNvSpPr txBox="1"/>
          <p:nvPr/>
        </p:nvSpPr>
        <p:spPr>
          <a:xfrm>
            <a:off x="7498079" y="4681728"/>
            <a:ext cx="41148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50" b="0">
                <a:solidFill>
                  <a:srgbClr val="1F2937"/>
                </a:solidFill>
                <a:latin typeface="Noto Sans TC"/>
              </a:rPr>
              <a:t>42</a:t>
            </a:r>
          </a:p>
        </p:txBody>
      </p:sp>
      <p:sp xmlns:a="http://schemas.openxmlformats.org/drawingml/2006/main">
        <p:nvSpPr>
          <p:cNvPr id="7210" name="TextBox 7209"/>
          <p:cNvSpPr txBox="1"/>
          <p:nvPr/>
        </p:nvSpPr>
        <p:spPr>
          <a:xfrm>
            <a:off x="4654296" y="4919472"/>
            <a:ext cx="685800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80" b="0">
                <a:solidFill>
                  <a:srgbClr val="1F2937"/>
                </a:solidFill>
                <a:latin typeface="Noto Sans TC"/>
              </a:rPr>
              <a:t>SPI2</a:t>
            </a:r>
          </a:p>
        </p:txBody>
      </p:sp>
      <p:sp xmlns:a="http://schemas.openxmlformats.org/drawingml/2006/main">
        <p:nvSpPr>
          <p:cNvPr id="7211" name="Rectangle 7210"/>
          <p:cNvSpPr/>
          <p:nvPr/>
        </p:nvSpPr>
        <p:spPr>
          <a:xfrm>
            <a:off x="5358384" y="4937759"/>
            <a:ext cx="2057400" cy="10058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212" name="Rectangle 7211"/>
          <p:cNvSpPr/>
          <p:nvPr/>
        </p:nvSpPr>
        <p:spPr>
          <a:xfrm>
            <a:off x="5358384" y="4937759"/>
            <a:ext cx="1068779" cy="100584"/>
          </a:xfrm>
          <a:prstGeom prst="rect">
            <a:avLst/>
          </a:prstGeom>
          <a:solidFill>
            <a:srgbClr val="0B5CAD"/>
          </a:solidFill>
          <a:ln w="1270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213" name="TextBox 7212"/>
          <p:cNvSpPr txBox="1"/>
          <p:nvPr/>
        </p:nvSpPr>
        <p:spPr>
          <a:xfrm>
            <a:off x="7498079" y="4910328"/>
            <a:ext cx="41148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50" b="0">
                <a:solidFill>
                  <a:srgbClr val="1F2937"/>
                </a:solidFill>
                <a:latin typeface="Noto Sans TC"/>
              </a:rPr>
              <a:t>40</a:t>
            </a:r>
          </a:p>
        </p:txBody>
      </p:sp>
      <p:sp xmlns:a="http://schemas.openxmlformats.org/drawingml/2006/main">
        <p:nvSpPr>
          <p:cNvPr id="7214" name="TextBox 7213"/>
          <p:cNvSpPr txBox="1"/>
          <p:nvPr/>
        </p:nvSpPr>
        <p:spPr>
          <a:xfrm>
            <a:off x="4654296" y="5148072"/>
            <a:ext cx="685800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80" b="0">
                <a:solidFill>
                  <a:srgbClr val="1F2937"/>
                </a:solidFill>
                <a:latin typeface="Noto Sans TC"/>
              </a:rPr>
              <a:t>AOI3</a:t>
            </a:r>
          </a:p>
        </p:txBody>
      </p:sp>
      <p:sp xmlns:a="http://schemas.openxmlformats.org/drawingml/2006/main">
        <p:nvSpPr>
          <p:cNvPr id="7215" name="Rectangle 7214"/>
          <p:cNvSpPr/>
          <p:nvPr/>
        </p:nvSpPr>
        <p:spPr>
          <a:xfrm>
            <a:off x="5358384" y="5166359"/>
            <a:ext cx="2057400" cy="10058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216" name="Rectangle 7215"/>
          <p:cNvSpPr/>
          <p:nvPr/>
        </p:nvSpPr>
        <p:spPr>
          <a:xfrm>
            <a:off x="5358384" y="5166359"/>
            <a:ext cx="1068779" cy="100584"/>
          </a:xfrm>
          <a:prstGeom prst="rect">
            <a:avLst/>
          </a:prstGeom>
          <a:solidFill>
            <a:srgbClr val="0B5CAD"/>
          </a:solidFill>
          <a:ln w="1270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217" name="TextBox 7216"/>
          <p:cNvSpPr txBox="1"/>
          <p:nvPr/>
        </p:nvSpPr>
        <p:spPr>
          <a:xfrm>
            <a:off x="7498079" y="5138928"/>
            <a:ext cx="41148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50" b="0">
                <a:solidFill>
                  <a:srgbClr val="1F2937"/>
                </a:solidFill>
                <a:latin typeface="Noto Sans TC"/>
              </a:rPr>
              <a:t>40</a:t>
            </a:r>
          </a:p>
        </p:txBody>
      </p:sp>
      <p:sp xmlns:a="http://schemas.openxmlformats.org/drawingml/2006/main">
        <p:nvSpPr>
          <p:cNvPr id="7218" name="TextBox 7217"/>
          <p:cNvSpPr txBox="1"/>
          <p:nvPr/>
        </p:nvSpPr>
        <p:spPr>
          <a:xfrm>
            <a:off x="4654296" y="5376672"/>
            <a:ext cx="685800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80" b="0">
                <a:solidFill>
                  <a:srgbClr val="1F2937"/>
                </a:solidFill>
                <a:latin typeface="Noto Sans TC"/>
              </a:rPr>
              <a:t>3DL01</a:t>
            </a:r>
          </a:p>
        </p:txBody>
      </p:sp>
      <p:sp xmlns:a="http://schemas.openxmlformats.org/drawingml/2006/main">
        <p:nvSpPr>
          <p:cNvPr id="7219" name="Rectangle 7218"/>
          <p:cNvSpPr/>
          <p:nvPr/>
        </p:nvSpPr>
        <p:spPr>
          <a:xfrm>
            <a:off x="5358384" y="5394959"/>
            <a:ext cx="2057400" cy="10058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220" name="Rectangle 7219"/>
          <p:cNvSpPr/>
          <p:nvPr/>
        </p:nvSpPr>
        <p:spPr>
          <a:xfrm>
            <a:off x="5358384" y="5394959"/>
            <a:ext cx="1068779" cy="100584"/>
          </a:xfrm>
          <a:prstGeom prst="rect">
            <a:avLst/>
          </a:prstGeom>
          <a:solidFill>
            <a:srgbClr val="0B5CAD"/>
          </a:solidFill>
          <a:ln w="1270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221" name="TextBox 7220"/>
          <p:cNvSpPr txBox="1"/>
          <p:nvPr/>
        </p:nvSpPr>
        <p:spPr>
          <a:xfrm>
            <a:off x="7498079" y="5367528"/>
            <a:ext cx="41148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50" b="0">
                <a:solidFill>
                  <a:srgbClr val="1F2937"/>
                </a:solidFill>
                <a:latin typeface="Noto Sans TC"/>
              </a:rPr>
              <a:t>40</a:t>
            </a:r>
          </a:p>
        </p:txBody>
      </p:sp>
      <p:sp xmlns:a="http://schemas.openxmlformats.org/drawingml/2006/main">
        <p:nvSpPr>
          <p:cNvPr id="7222" name="TextBox 7221"/>
          <p:cNvSpPr txBox="1"/>
          <p:nvPr/>
        </p:nvSpPr>
        <p:spPr>
          <a:xfrm>
            <a:off x="4654296" y="5605272"/>
            <a:ext cx="685800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80" b="0">
                <a:solidFill>
                  <a:srgbClr val="1F2937"/>
                </a:solidFill>
                <a:latin typeface="Noto Sans TC"/>
              </a:rPr>
              <a:t>AXI</a:t>
            </a:r>
          </a:p>
        </p:txBody>
      </p:sp>
      <p:sp xmlns:a="http://schemas.openxmlformats.org/drawingml/2006/main">
        <p:nvSpPr>
          <p:cNvPr id="7223" name="Rectangle 7222"/>
          <p:cNvSpPr/>
          <p:nvPr/>
        </p:nvSpPr>
        <p:spPr>
          <a:xfrm>
            <a:off x="5358384" y="5623559"/>
            <a:ext cx="2057400" cy="10058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224" name="Rectangle 7223"/>
          <p:cNvSpPr/>
          <p:nvPr/>
        </p:nvSpPr>
        <p:spPr>
          <a:xfrm>
            <a:off x="5358384" y="5623559"/>
            <a:ext cx="1042059" cy="100584"/>
          </a:xfrm>
          <a:prstGeom prst="rect">
            <a:avLst/>
          </a:prstGeom>
          <a:solidFill>
            <a:srgbClr val="0B5CAD"/>
          </a:solidFill>
          <a:ln w="1270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225" name="TextBox 7224"/>
          <p:cNvSpPr txBox="1"/>
          <p:nvPr/>
        </p:nvSpPr>
        <p:spPr>
          <a:xfrm>
            <a:off x="7498079" y="5596128"/>
            <a:ext cx="41148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50" b="0">
                <a:solidFill>
                  <a:srgbClr val="1F2937"/>
                </a:solidFill>
                <a:latin typeface="Noto Sans TC"/>
              </a:rPr>
              <a:t>39</a:t>
            </a:r>
          </a:p>
        </p:txBody>
      </p:sp>
      <p:sp xmlns:a="http://schemas.openxmlformats.org/drawingml/2006/main">
        <p:nvSpPr>
          <p:cNvPr id="7226" name="TextBox 7225"/>
          <p:cNvSpPr txBox="1"/>
          <p:nvPr/>
        </p:nvSpPr>
        <p:spPr>
          <a:xfrm>
            <a:off x="530352" y="5349240"/>
            <a:ext cx="475488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69" b="0">
                <a:solidFill>
                  <a:srgbClr val="6B7280"/>
                </a:solidFill>
                <a:latin typeface="Noto Sans TC"/>
              </a:rPr>
              <a:t>*估算方式：42 張圖表 × 3 分鐘人工整理／貼圖；導入後以自動產出目標 ≤5 分鐘／次估算，不含人工確認與例外處理。</a:t>
            </a:r>
          </a:p>
        </p:txBody>
      </p:sp>
    </p:spTree>
    <p:extLst>
      <p:ext uri="{BB962C8B-B14F-4D97-AF65-F5344CB8AC3E}">
        <p14:creationId xmlns:p14="http://schemas.microsoft.com/office/powerpoint/2010/main" val="262732096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1CF0E01-C679-D85C-0E24-4E6BC0D4EA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defRPr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1F2937"/>
                </a:solidFill>
                <a:latin typeface="Noto Sans TC"/>
              </a:rPr>
              <a:t>D. 以營業秘密保護之考量</a:t>
            </a:r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8540496" y="4736592"/>
            <a:ext cx="411480" cy="182880"/>
          </a:xfrm>
          <a:prstGeom prst="rect">
            <a:avLst/>
          </a:prstGeom>
          <a:solidFill>
            <a:srgbClr val="0B5CAD"/>
          </a:solidFill>
          <a:ln w="1270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rm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oto Sans TC"/>
              </a:rPr>
              <a:t>6</a:t>
            </a:r>
          </a:p>
        </p:txBody>
      </p:sp>
      <p:sp xmlns:a="http://schemas.openxmlformats.org/drawingml/2006/main">
        <p:nvSpPr>
          <p:cNvPr id="4" name="Rounded Rectangle 3"/>
          <p:cNvSpPr/>
          <p:nvPr/>
        </p:nvSpPr>
        <p:spPr>
          <a:xfrm>
            <a:off x="246888" y="960120"/>
            <a:ext cx="263347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TextBox 4"/>
          <p:cNvSpPr txBox="1"/>
          <p:nvPr/>
        </p:nvSpPr>
        <p:spPr>
          <a:xfrm>
            <a:off x="246888" y="978408"/>
            <a:ext cx="263347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13A6B"/>
                </a:solidFill>
                <a:latin typeface="Noto Sans TC"/>
              </a:rPr>
              <a:t>保護標的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246888" y="1261872"/>
            <a:ext cx="2578608" cy="2697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 b="0">
                <a:solidFill>
                  <a:srgbClr val="1F2937"/>
                </a:solidFill>
                <a:latin typeface="Noto Sans TC"/>
              </a:rPr>
              <a:t>• 系統匯出欄位解析邏輯</a:t>
            </a:r>
          </a:p>
          <a:p>
            <a:r>
              <a:rPr sz="1150" b="0">
                <a:solidFill>
                  <a:srgbClr val="1F2937"/>
                </a:solidFill>
                <a:latin typeface="Noto Sans TC"/>
              </a:rPr>
              <a:t>• DATATYPE / OPNO / EQP_ID 站點 mapping</a:t>
            </a:r>
          </a:p>
          <a:p>
            <a:r>
              <a:rPr sz="1150" b="0">
                <a:solidFill>
                  <a:srgbClr val="1F2937"/>
                </a:solidFill>
                <a:latin typeface="Noto Sans TC"/>
              </a:rPr>
              <a:t>• 片良率與顆粒良率加權公式</a:t>
            </a:r>
          </a:p>
          <a:p>
            <a:r>
              <a:rPr sz="1150" b="0">
                <a:solidFill>
                  <a:srgbClr val="1F2937"/>
                </a:solidFill>
                <a:latin typeface="Noto Sans TC"/>
              </a:rPr>
              <a:t>• 日／週／月彙整與圖表排序規則</a:t>
            </a:r>
          </a:p>
          <a:p>
            <a:r>
              <a:rPr sz="1150" b="0">
                <a:solidFill>
                  <a:srgbClr val="1F2937"/>
                </a:solidFill>
                <a:latin typeface="Noto Sans TC"/>
              </a:rPr>
              <a:t>• Excel / PPT 報告版型與自動貼圖流程</a:t>
            </a:r>
          </a:p>
        </p:txBody>
      </p:sp>
      <p:sp xmlns:a="http://schemas.openxmlformats.org/drawingml/2006/main">
        <p:nvSpPr>
          <p:cNvPr id="7" name="Rounded Rectangle 6"/>
          <p:cNvSpPr/>
          <p:nvPr/>
        </p:nvSpPr>
        <p:spPr>
          <a:xfrm>
            <a:off x="3337560" y="960120"/>
            <a:ext cx="2633472" cy="3246120"/>
          </a:xfrm>
          <a:prstGeom prst="roundRect">
            <a:avLst/>
          </a:prstGeom>
          <a:solidFill>
            <a:srgbClr val="F7F3FF"/>
          </a:solidFill>
          <a:ln w="12700">
            <a:solidFill>
              <a:srgbClr val="D8C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3337560" y="978408"/>
            <a:ext cx="263347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6B4E9B"/>
                </a:solidFill>
                <a:latin typeface="Noto Sans TC"/>
              </a:rPr>
              <a:t>保密價值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3337560" y="1261872"/>
            <a:ext cx="2578608" cy="2697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 b="0">
                <a:solidFill>
                  <a:srgbClr val="1F2937"/>
                </a:solidFill>
                <a:latin typeface="Noto Sans TC"/>
              </a:rPr>
              <a:t>此流程將報表下載、資料重算、站點判讀與圖表輸出整合為固定作業。</a:t>
            </a:r>
          </a:p>
          <a:p/>
          <a:p>
            <a:r>
              <a:rPr sz="1150" b="0">
                <a:solidFill>
                  <a:srgbClr val="1F2937"/>
                </a:solidFill>
                <a:latin typeface="Noto Sans TC"/>
              </a:rPr>
              <a:t>若外部取得，可快速複製站點良率自動化架構，縮短報告建置與異常分析導入時間。</a:t>
            </a:r>
          </a:p>
        </p:txBody>
      </p:sp>
      <p:sp xmlns:a="http://schemas.openxmlformats.org/drawingml/2006/main">
        <p:nvSpPr>
          <p:cNvPr id="10" name="Rounded Rectangle 9"/>
          <p:cNvSpPr/>
          <p:nvPr/>
        </p:nvSpPr>
        <p:spPr>
          <a:xfrm>
            <a:off x="6428232" y="960120"/>
            <a:ext cx="2478024" cy="324612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1" name="TextBox 10"/>
          <p:cNvSpPr txBox="1"/>
          <p:nvPr/>
        </p:nvSpPr>
        <p:spPr>
          <a:xfrm>
            <a:off x="6428232" y="978408"/>
            <a:ext cx="2478024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13A6B"/>
                </a:solidFill>
                <a:latin typeface="Noto Sans TC"/>
              </a:rPr>
              <a:t>建議管理方式</a:t>
            </a:r>
          </a:p>
        </p:txBody>
      </p:sp>
      <p:sp xmlns:a="http://schemas.openxmlformats.org/drawingml/2006/main">
        <p:nvSpPr>
          <p:cNvPr id="12" name="TextBox 11"/>
          <p:cNvSpPr txBox="1"/>
          <p:nvPr/>
        </p:nvSpPr>
        <p:spPr>
          <a:xfrm>
            <a:off x="6428232" y="1261872"/>
            <a:ext cx="2395728" cy="2697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 b="0">
                <a:solidFill>
                  <a:srgbClr val="1F2937"/>
                </a:solidFill>
                <a:latin typeface="Noto Sans TC"/>
              </a:rPr>
              <a:t>• 程式碼與模板列 Confidential</a:t>
            </a:r>
          </a:p>
          <a:p>
            <a:r>
              <a:rPr sz="1150" b="0">
                <a:solidFill>
                  <a:srgbClr val="1F2937"/>
                </a:solidFill>
                <a:latin typeface="Noto Sans TC"/>
              </a:rPr>
              <a:t>• 限定製程、IT、品質與 NPI 使用</a:t>
            </a:r>
          </a:p>
          <a:p>
            <a:r>
              <a:rPr sz="1150" b="0">
                <a:solidFill>
                  <a:srgbClr val="1F2937"/>
                </a:solidFill>
                <a:latin typeface="Noto Sans TC"/>
              </a:rPr>
              <a:t>• 原始路徑 / 站點 mapping 權限分離</a:t>
            </a:r>
          </a:p>
          <a:p>
            <a:r>
              <a:rPr sz="1150" b="0">
                <a:solidFill>
                  <a:srgbClr val="1F2937"/>
                </a:solidFill>
                <a:latin typeface="Noto Sans TC"/>
              </a:rPr>
              <a:t>• 保存版本、log 與異常修正紀錄</a:t>
            </a:r>
          </a:p>
          <a:p>
            <a:r>
              <a:rPr sz="1150" b="0">
                <a:solidFill>
                  <a:srgbClr val="1F2937"/>
                </a:solidFill>
                <a:latin typeface="Noto Sans TC"/>
              </a:rPr>
              <a:t>• 對外僅揭露改善方向與高階效益</a:t>
            </a:r>
          </a:p>
        </p:txBody>
      </p:sp>
      <p:sp xmlns:a="http://schemas.openxmlformats.org/drawingml/2006/main">
        <p:nvSpPr>
          <p:cNvPr id="13" name="Rectangle 12"/>
          <p:cNvSpPr/>
          <p:nvPr/>
        </p:nvSpPr>
        <p:spPr>
          <a:xfrm>
            <a:off x="256032" y="4462272"/>
            <a:ext cx="8641080" cy="384048"/>
          </a:xfrm>
          <a:prstGeom prst="rect">
            <a:avLst/>
          </a:prstGeom>
          <a:solidFill>
            <a:srgbClr val="FFF9EB"/>
          </a:solidFill>
          <a:ln w="12700">
            <a:solidFill>
              <a:srgbClr val="F4C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rmAutofit/>
          </a:bodyPr>
          <a:lstStyle/>
          <a:p>
            <a:pPr algn="l"/>
            <a:r>
              <a:rPr sz="900" b="1">
                <a:solidFill>
                  <a:srgbClr val="1F2937"/>
                </a:solidFill>
                <a:latin typeface="Noto Sans TC"/>
              </a:rPr>
              <a:t>建議對外說法：建立每日良率資料自動彙整與報告輸出流程，提升站點趨勢追蹤效率；不揭露系統欄位 mapping、公式細節、報告模板與自動化程式碼。</a:t>
            </a:r>
          </a:p>
        </p:txBody>
      </p:sp>
    </p:spTree>
    <p:extLst>
      <p:ext uri="{BB962C8B-B14F-4D97-AF65-F5344CB8AC3E}">
        <p14:creationId xmlns:p14="http://schemas.microsoft.com/office/powerpoint/2010/main" val="33423371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72" name="Title 6">
            <a:extLst xmlns:a="http://schemas.openxmlformats.org/drawingml/2006/main">
              <a:ext uri="{FF2B5EF4-FFF2-40B4-BE49-F238E27FC236}">
                <a16:creationId xmlns:a16="http://schemas.microsoft.com/office/drawing/2014/main" id="{F013D6EF-A44E-4B8D-829F-CF8E730842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defRPr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1F2937"/>
                </a:solidFill>
                <a:latin typeface="Noto Sans TC"/>
              </a:rPr>
              <a:t>Summary</a:t>
            </a:r>
          </a:p>
        </p:txBody>
      </p:sp>
      <p:sp>
        <p:nvSpPr>
          <p:cNvPr id="717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DA000B3-1E2A-4B09-BF65-14D3A1745B3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>
            <a:solidFill>
              <a:srgbClr val="0B5CAD"/>
            </a:solidFill>
          </a:ln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557213" indent="-214313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8572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2001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5430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18859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2288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25717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29146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>
                <a:latin typeface="Noto Sans TC"/>
                <a:ea typeface="Noto Sans TC"/>
                <a:cs typeface="Noto Sans TC"/>
              </a:defRPr>
            </a:pPr>
            <a:r>
              <a:rPr sz="800" b="1">
                <a:solidFill>
                  <a:srgbClr val="FFFFFF"/>
                </a:solidFill>
                <a:latin typeface="Noto Sans TC"/>
              </a:rPr>
              <a:t>7</a:t>
            </a:r>
          </a:p>
        </p:txBody>
      </p:sp>
      <p:sp xmlns:a="http://schemas.openxmlformats.org/drawingml/2006/main">
        <p:nvSpPr>
          <p:cNvPr id="7173" name="Rounded Rectangle 7172"/>
          <p:cNvSpPr/>
          <p:nvPr/>
        </p:nvSpPr>
        <p:spPr>
          <a:xfrm>
            <a:off x="320040" y="960120"/>
            <a:ext cx="16916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4" name="Oval 7173"/>
          <p:cNvSpPr/>
          <p:nvPr/>
        </p:nvSpPr>
        <p:spPr>
          <a:xfrm>
            <a:off x="978407" y="1078992"/>
            <a:ext cx="292608" cy="292608"/>
          </a:xfrm>
          <a:prstGeom prst="ellipse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Noto Sans TC"/>
              </a:rPr>
              <a:t>1</a:t>
            </a:r>
          </a:p>
        </p:txBody>
      </p:sp>
      <p:sp xmlns:a="http://schemas.openxmlformats.org/drawingml/2006/main">
        <p:nvSpPr>
          <p:cNvPr id="7175" name="TextBox 7174"/>
          <p:cNvSpPr txBox="1"/>
          <p:nvPr/>
        </p:nvSpPr>
        <p:spPr>
          <a:xfrm>
            <a:off x="429768" y="1490472"/>
            <a:ext cx="14630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80" b="1">
                <a:solidFill>
                  <a:srgbClr val="C0392B"/>
                </a:solidFill>
                <a:latin typeface="Noto Sans TC"/>
              </a:rPr>
              <a:t>問題</a:t>
            </a:r>
          </a:p>
        </p:txBody>
      </p:sp>
      <p:sp xmlns:a="http://schemas.openxmlformats.org/drawingml/2006/main">
        <p:nvSpPr>
          <p:cNvPr id="7176" name="TextBox 7175"/>
          <p:cNvSpPr txBox="1"/>
          <p:nvPr/>
        </p:nvSpPr>
        <p:spPr>
          <a:xfrm>
            <a:off x="457200" y="1737360"/>
            <a:ext cx="141732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20" b="0">
                <a:solidFill>
                  <a:srgbClr val="1F2937"/>
                </a:solidFill>
                <a:latin typeface="Noto Sans TC"/>
              </a:rPr>
              <a:t>日／週／月報告人工整理與貼圖，容易耗時並產生口徑差異。</a:t>
            </a:r>
          </a:p>
        </p:txBody>
      </p:sp>
      <p:sp xmlns:a="http://schemas.openxmlformats.org/drawingml/2006/main">
        <p:nvSpPr>
          <p:cNvPr id="7177" name="Rounded Rectangle 7176"/>
          <p:cNvSpPr/>
          <p:nvPr/>
        </p:nvSpPr>
        <p:spPr>
          <a:xfrm>
            <a:off x="2606040" y="960120"/>
            <a:ext cx="16916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8" name="Oval 7177"/>
          <p:cNvSpPr/>
          <p:nvPr/>
        </p:nvSpPr>
        <p:spPr>
          <a:xfrm>
            <a:off x="3264408" y="1078992"/>
            <a:ext cx="292608" cy="292608"/>
          </a:xfrm>
          <a:prstGeom prst="ellipse">
            <a:avLst/>
          </a:prstGeom>
          <a:solidFill>
            <a:srgbClr val="0B5CAD"/>
          </a:solidFill>
          <a:ln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Noto Sans TC"/>
              </a:rPr>
              <a:t>2</a:t>
            </a:r>
          </a:p>
        </p:txBody>
      </p:sp>
      <p:sp xmlns:a="http://schemas.openxmlformats.org/drawingml/2006/main">
        <p:nvSpPr>
          <p:cNvPr id="7179" name="TextBox 7178"/>
          <p:cNvSpPr txBox="1"/>
          <p:nvPr/>
        </p:nvSpPr>
        <p:spPr>
          <a:xfrm>
            <a:off x="2715768" y="1490472"/>
            <a:ext cx="14630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80" b="1">
                <a:solidFill>
                  <a:srgbClr val="0B5CAD"/>
                </a:solidFill>
                <a:latin typeface="Noto Sans TC"/>
              </a:rPr>
              <a:t>方案</a:t>
            </a:r>
          </a:p>
        </p:txBody>
      </p:sp>
      <p:sp xmlns:a="http://schemas.openxmlformats.org/drawingml/2006/main">
        <p:nvSpPr>
          <p:cNvPr id="7180" name="TextBox 7179"/>
          <p:cNvSpPr txBox="1"/>
          <p:nvPr/>
        </p:nvSpPr>
        <p:spPr>
          <a:xfrm>
            <a:off x="2743200" y="1737360"/>
            <a:ext cx="141732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20" b="0">
                <a:solidFill>
                  <a:srgbClr val="1F2937"/>
                </a:solidFill>
                <a:latin typeface="Noto Sans TC"/>
              </a:rPr>
              <a:t>以系統匯出檔為入口，自動重算良率、產生圖表與 PPT。</a:t>
            </a:r>
          </a:p>
        </p:txBody>
      </p:sp>
      <p:sp xmlns:a="http://schemas.openxmlformats.org/drawingml/2006/main">
        <p:nvSpPr>
          <p:cNvPr id="7181" name="Rounded Rectangle 7180"/>
          <p:cNvSpPr/>
          <p:nvPr/>
        </p:nvSpPr>
        <p:spPr>
          <a:xfrm>
            <a:off x="4892040" y="960120"/>
            <a:ext cx="16916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4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2" name="Oval 7181"/>
          <p:cNvSpPr/>
          <p:nvPr/>
        </p:nvSpPr>
        <p:spPr>
          <a:xfrm>
            <a:off x="5550407" y="1078992"/>
            <a:ext cx="292608" cy="292608"/>
          </a:xfrm>
          <a:prstGeom prst="ellipse">
            <a:avLst/>
          </a:prstGeom>
          <a:solidFill>
            <a:srgbClr val="6B4E9B"/>
          </a:solidFill>
          <a:ln>
            <a:solidFill>
              <a:srgbClr val="6B4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Noto Sans TC"/>
              </a:rPr>
              <a:t>3</a:t>
            </a:r>
          </a:p>
        </p:txBody>
      </p:sp>
      <p:sp xmlns:a="http://schemas.openxmlformats.org/drawingml/2006/main">
        <p:nvSpPr>
          <p:cNvPr id="7183" name="TextBox 7182"/>
          <p:cNvSpPr txBox="1"/>
          <p:nvPr/>
        </p:nvSpPr>
        <p:spPr>
          <a:xfrm>
            <a:off x="5001768" y="1490472"/>
            <a:ext cx="14630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80" b="1">
                <a:solidFill>
                  <a:srgbClr val="6B4E9B"/>
                </a:solidFill>
                <a:latin typeface="Noto Sans TC"/>
              </a:rPr>
              <a:t>成效</a:t>
            </a:r>
          </a:p>
        </p:txBody>
      </p:sp>
      <p:sp xmlns:a="http://schemas.openxmlformats.org/drawingml/2006/main">
        <p:nvSpPr>
          <p:cNvPr id="7184" name="TextBox 7183"/>
          <p:cNvSpPr txBox="1"/>
          <p:nvPr/>
        </p:nvSpPr>
        <p:spPr>
          <a:xfrm>
            <a:off x="5029200" y="1737360"/>
            <a:ext cx="141732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20" b="0">
                <a:solidFill>
                  <a:srgbClr val="1F2937"/>
                </a:solidFill>
                <a:latin typeface="Noto Sans TC"/>
              </a:rPr>
              <a:t>附件資料可產出 42 張圖表，快速鎖定 3DL01 87.5%。</a:t>
            </a:r>
          </a:p>
        </p:txBody>
      </p:sp>
      <p:sp xmlns:a="http://schemas.openxmlformats.org/drawingml/2006/main">
        <p:nvSpPr>
          <p:cNvPr id="7185" name="Rounded Rectangle 7184"/>
          <p:cNvSpPr/>
          <p:nvPr/>
        </p:nvSpPr>
        <p:spPr>
          <a:xfrm>
            <a:off x="7178040" y="960120"/>
            <a:ext cx="16916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8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6" name="Oval 7185"/>
          <p:cNvSpPr/>
          <p:nvPr/>
        </p:nvSpPr>
        <p:spPr>
          <a:xfrm>
            <a:off x="7836408" y="1078992"/>
            <a:ext cx="292608" cy="292608"/>
          </a:xfrm>
          <a:prstGeom prst="ellipse">
            <a:avLst/>
          </a:prstGeom>
          <a:solidFill>
            <a:srgbClr val="12824C"/>
          </a:solidFill>
          <a:ln>
            <a:solidFill>
              <a:srgbClr val="128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Noto Sans TC"/>
              </a:rPr>
              <a:t>4</a:t>
            </a:r>
          </a:p>
        </p:txBody>
      </p:sp>
      <p:sp xmlns:a="http://schemas.openxmlformats.org/drawingml/2006/main">
        <p:nvSpPr>
          <p:cNvPr id="7187" name="TextBox 7186"/>
          <p:cNvSpPr txBox="1"/>
          <p:nvPr/>
        </p:nvSpPr>
        <p:spPr>
          <a:xfrm>
            <a:off x="7287768" y="1490472"/>
            <a:ext cx="14630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80" b="1">
                <a:solidFill>
                  <a:srgbClr val="12824C"/>
                </a:solidFill>
                <a:latin typeface="Noto Sans TC"/>
              </a:rPr>
              <a:t>價值</a:t>
            </a:r>
          </a:p>
        </p:txBody>
      </p:sp>
      <p:sp xmlns:a="http://schemas.openxmlformats.org/drawingml/2006/main">
        <p:nvSpPr>
          <p:cNvPr id="7188" name="TextBox 7187"/>
          <p:cNvSpPr txBox="1"/>
          <p:nvPr/>
        </p:nvSpPr>
        <p:spPr>
          <a:xfrm>
            <a:off x="7315200" y="1737360"/>
            <a:ext cx="141732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20" b="0">
                <a:solidFill>
                  <a:srgbClr val="1F2937"/>
                </a:solidFill>
                <a:latin typeface="Noto Sans TC"/>
              </a:rPr>
              <a:t>mapping、公式、模板與程式屬於內部分析 know-how。</a:t>
            </a:r>
          </a:p>
        </p:txBody>
      </p:sp>
      <p:sp xmlns:a="http://schemas.openxmlformats.org/drawingml/2006/main">
        <p:nvSpPr>
          <p:cNvPr id="7189" name="Rounded Rectangle 7188"/>
          <p:cNvSpPr/>
          <p:nvPr/>
        </p:nvSpPr>
        <p:spPr>
          <a:xfrm>
            <a:off x="320040" y="2834640"/>
            <a:ext cx="3794760" cy="50292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CF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0" name="TextBox 7189"/>
          <p:cNvSpPr txBox="1"/>
          <p:nvPr/>
        </p:nvSpPr>
        <p:spPr>
          <a:xfrm>
            <a:off x="411480" y="2871216"/>
            <a:ext cx="91440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19" b="1">
                <a:solidFill>
                  <a:srgbClr val="113A6B"/>
                </a:solidFill>
                <a:latin typeface="Noto Sans TC"/>
              </a:rPr>
              <a:t>建議導入</a:t>
            </a:r>
          </a:p>
        </p:txBody>
      </p:sp>
      <p:sp xmlns:a="http://schemas.openxmlformats.org/drawingml/2006/main">
        <p:nvSpPr>
          <p:cNvPr id="7191" name="TextBox 7190"/>
          <p:cNvSpPr txBox="1"/>
          <p:nvPr/>
        </p:nvSpPr>
        <p:spPr>
          <a:xfrm>
            <a:off x="1325880" y="2871216"/>
            <a:ext cx="2697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20" b="0">
                <a:solidFill>
                  <a:srgbClr val="1F2937"/>
                </a:solidFill>
                <a:latin typeface="Noto Sans TC"/>
              </a:rPr>
              <a:t>先建立固定資料夾與每日更新流程，再擴充排程、異常通知與版本封存。</a:t>
            </a:r>
          </a:p>
        </p:txBody>
      </p:sp>
      <p:sp xmlns:a="http://schemas.openxmlformats.org/drawingml/2006/main">
        <p:nvSpPr>
          <p:cNvPr id="7192" name="Rounded Rectangle 7191"/>
          <p:cNvSpPr/>
          <p:nvPr/>
        </p:nvSpPr>
        <p:spPr>
          <a:xfrm>
            <a:off x="4389120" y="2834640"/>
            <a:ext cx="4160520" cy="502920"/>
          </a:xfrm>
          <a:prstGeom prst="roundRect">
            <a:avLst/>
          </a:prstGeom>
          <a:solidFill>
            <a:srgbClr val="F8FFF6"/>
          </a:solidFill>
          <a:ln w="12700">
            <a:solidFill>
              <a:srgbClr val="BFE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3" name="TextBox 7192"/>
          <p:cNvSpPr txBox="1"/>
          <p:nvPr/>
        </p:nvSpPr>
        <p:spPr>
          <a:xfrm>
            <a:off x="4480560" y="2871216"/>
            <a:ext cx="82296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19" b="1">
                <a:solidFill>
                  <a:srgbClr val="12824C"/>
                </a:solidFill>
                <a:latin typeface="Noto Sans TC"/>
              </a:rPr>
              <a:t>驗收 KPI</a:t>
            </a:r>
          </a:p>
        </p:txBody>
      </p:sp>
      <p:sp xmlns:a="http://schemas.openxmlformats.org/drawingml/2006/main">
        <p:nvSpPr>
          <p:cNvPr id="7194" name="TextBox 7193"/>
          <p:cNvSpPr txBox="1"/>
          <p:nvPr/>
        </p:nvSpPr>
        <p:spPr>
          <a:xfrm>
            <a:off x="5285232" y="2871216"/>
            <a:ext cx="31546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20" b="0">
                <a:solidFill>
                  <a:srgbClr val="1F2937"/>
                </a:solidFill>
                <a:latin typeface="Noto Sans TC"/>
              </a:rPr>
              <a:t>自動產出成功率、平均更新時間、圖表缺漏率、人工修正次數、低良率排序正確率。</a:t>
            </a:r>
          </a:p>
        </p:txBody>
      </p:sp>
      <p:sp xmlns:a="http://schemas.openxmlformats.org/drawingml/2006/main">
        <p:nvSpPr>
          <p:cNvPr id="7195" name="Rounded Rectangle 7194"/>
          <p:cNvSpPr/>
          <p:nvPr/>
        </p:nvSpPr>
        <p:spPr>
          <a:xfrm>
            <a:off x="320040" y="3611880"/>
            <a:ext cx="8229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6" name="TextBox 7195"/>
          <p:cNvSpPr txBox="1"/>
          <p:nvPr/>
        </p:nvSpPr>
        <p:spPr>
          <a:xfrm>
            <a:off x="411480" y="3694176"/>
            <a:ext cx="13258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80" b="1">
                <a:solidFill>
                  <a:srgbClr val="113A6B"/>
                </a:solidFill>
                <a:latin typeface="Noto Sans TC"/>
              </a:rPr>
              <a:t>專案摘要說明</a:t>
            </a:r>
          </a:p>
        </p:txBody>
      </p:sp>
      <p:sp xmlns:a="http://schemas.openxmlformats.org/drawingml/2006/main">
        <p:nvSpPr>
          <p:cNvPr id="7197" name="TextBox 7196"/>
          <p:cNvSpPr txBox="1"/>
          <p:nvPr/>
        </p:nvSpPr>
        <p:spPr>
          <a:xfrm>
            <a:off x="411480" y="3931920"/>
            <a:ext cx="79095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20" b="0">
                <a:solidFill>
                  <a:srgbClr val="1F2937"/>
                </a:solidFill>
                <a:latin typeface="Noto Sans TC"/>
              </a:rPr>
              <a:t>本專案將每日良率資料由人工整理轉為自動化報告流程。核心作法是讀取系統匯出資料，依站點與時間週期自動計算片良率、顆粒良率與投入量，並輸出月／週／日圖表與 PPT 報告；預期縮短製作時間、降低漏貼與公式差異、快速聚焦低良率站點。</a:t>
            </a:r>
          </a:p>
        </p:txBody>
      </p:sp>
    </p:spTree>
    <p:extLst>
      <p:ext uri="{BB962C8B-B14F-4D97-AF65-F5344CB8AC3E}">
        <p14:creationId xmlns:p14="http://schemas.microsoft.com/office/powerpoint/2010/main" val="261021353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79650954"/>
      </p:ext>
    </p:extLst>
  </p:cSld>
</p:sld>
</file>

<file path=ppt/theme/theme1.xml><?xml version="1.0" encoding="utf-8"?>
<a:theme xmlns:a="http://schemas.openxmlformats.org/drawingml/2006/main" name="Office 佈景主題">
  <a:themeElements>
    <a:clrScheme name="Ennostar-Color">
      <a:dk1>
        <a:srgbClr val="4C4948"/>
      </a:dk1>
      <a:lt1>
        <a:srgbClr val="FFFFFF"/>
      </a:lt1>
      <a:dk2>
        <a:srgbClr val="262424"/>
      </a:dk2>
      <a:lt2>
        <a:srgbClr val="F2F2F2"/>
      </a:lt2>
      <a:accent1>
        <a:srgbClr val="004B9F"/>
      </a:accent1>
      <a:accent2>
        <a:srgbClr val="4C6FFF"/>
      </a:accent2>
      <a:accent3>
        <a:srgbClr val="00C49E"/>
      </a:accent3>
      <a:accent4>
        <a:srgbClr val="FFA300"/>
      </a:accent4>
      <a:accent5>
        <a:srgbClr val="D146E0"/>
      </a:accent5>
      <a:accent6>
        <a:srgbClr val="BFD300"/>
      </a:accent6>
      <a:hlink>
        <a:srgbClr val="0000FF"/>
      </a:hlink>
      <a:folHlink>
        <a:srgbClr val="800080"/>
      </a:folHlink>
    </a:clrScheme>
    <a:fontScheme name="Ennostar">
      <a:majorFont>
        <a:latin typeface="Roboto"/>
        <a:ea typeface="微軟正黑體"/>
        <a:cs typeface=""/>
      </a:majorFont>
      <a:minorFont>
        <a:latin typeface="Roboto"/>
        <a:ea typeface="微軟正黑體"/>
        <a:cs typeface=""/>
      </a:minorFont>
    </a:fontScheme>
    <a:fmtScheme name="Ennostar-Colo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2026-07-22T11:55:34.0640000Z</dcterms:created>
  <dcterms:modified xsi:type="dcterms:W3CDTF">2026-07-22T11:55:34.0650000Z</dcterms:modified>
</coreProperties>
</file>