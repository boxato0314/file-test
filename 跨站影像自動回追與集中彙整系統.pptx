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de4a4a8a8649f3" /><Relationship Type="http://schemas.openxmlformats.org/officeDocument/2006/relationships/extended-properties" Target="/docProps/app.xml" Id="R9744d7edbe944286" /><Relationship Type="http://schemas.openxmlformats.org/officeDocument/2006/relationships/officeDocument" Target="/ppt/presentation.xml" Id="R3c3dbadf44f441b5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92e07bb3914bf7" /><Relationship Type="http://schemas.openxmlformats.org/officeDocument/2006/relationships/slideMaster" Target="/ppt/slideMasters/slideMaster1.xml" Id="R20e6db5ae0474778" /><Relationship Type="http://schemas.openxmlformats.org/officeDocument/2006/relationships/notesMaster" Target="/ppt/notesMasters/notesMaster1.xml" Id="Rbf68ef057a2c4852" /><Relationship Type="http://schemas.openxmlformats.org/officeDocument/2006/relationships/presProps" Target="/ppt/presProps.xml" Id="R1dd7d65d9fd54c7e" /><Relationship Type="http://schemas.openxmlformats.org/officeDocument/2006/relationships/viewProps" Target="/ppt/viewProps.xml" Id="Red4a4c52e8784cfa" /><Relationship Type="http://schemas.openxmlformats.org/officeDocument/2006/relationships/tableStyles" Target="/ppt/tableStyles.xml" Id="Rd181acebd8844e4a" /><Relationship Type="http://schemas.openxmlformats.org/officeDocument/2006/relationships/font" Target="/ppt/fonts/font.dat" Id="R251ac83e6bbd4fc3" /><Relationship Type="http://schemas.openxmlformats.org/officeDocument/2006/relationships/font" Target="/ppt/fonts/font2.dat" Id="R14159ea19b114910" /><Relationship Type="http://schemas.openxmlformats.org/officeDocument/2006/relationships/font" Target="/ppt/fonts/font3.dat" Id="R19b84bb5512145c3" /><Relationship Type="http://schemas.openxmlformats.org/officeDocument/2006/relationships/font" Target="/ppt/fonts/font4.dat" Id="R14bdb507b8e048fa" /><Relationship Type="http://schemas.openxmlformats.org/officeDocument/2006/relationships/font" Target="/ppt/fonts/font5.dat" Id="R8ca19a12c513459f" /><Relationship Type="http://schemas.openxmlformats.org/officeDocument/2006/relationships/slide" Target="/ppt/slides/slide1.xml" Id="R4ef526af56cf41e9" /><Relationship Type="http://schemas.openxmlformats.org/officeDocument/2006/relationships/slide" Target="/ppt/slides/slide2.xml" Id="R205cf061131b4155" /><Relationship Type="http://schemas.openxmlformats.org/officeDocument/2006/relationships/slide" Target="/ppt/slides/slide3.xml" Id="R044298f454e3456f" /><Relationship Type="http://schemas.openxmlformats.org/officeDocument/2006/relationships/slide" Target="/ppt/slides/slide4.xml" Id="R8ffd1f2112894a20" /><Relationship Type="http://schemas.openxmlformats.org/officeDocument/2006/relationships/slide" Target="/ppt/slides/slide5.xml" Id="R01342e450004429f" /><Relationship Type="http://schemas.openxmlformats.org/officeDocument/2006/relationships/slide" Target="/ppt/slides/slide6.xml" Id="R8e3ea5af091b4834" /><Relationship Type="http://schemas.openxmlformats.org/officeDocument/2006/relationships/slide" Target="/ppt/slides/slide7.xml" Id="R166fe0d31b4641ad" /><Relationship Type="http://schemas.openxmlformats.org/officeDocument/2006/relationships/slide" Target="/ppt/slides/slide8.xml" Id="R28b60a4f8b2b45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f733eac54a4f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2f08c14d94aeb" /><Relationship Type="http://schemas.openxmlformats.org/officeDocument/2006/relationships/notesMaster" Target="/ppt/notesMasters/notesMaster1.xml" Id="Rc3503eb72bc7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55cd047524dd8" /><Relationship Type="http://schemas.openxmlformats.org/officeDocument/2006/relationships/notesMaster" Target="/ppt/notesMasters/notesMaster1.xml" Id="Ra272092ab7f14d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72439a7bec4a20" /><Relationship Type="http://schemas.openxmlformats.org/officeDocument/2006/relationships/notesMaster" Target="/ppt/notesMasters/notesMaster1.xml" Id="Rdca2b472903d43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9cb98bb9b649f3" /><Relationship Type="http://schemas.openxmlformats.org/officeDocument/2006/relationships/notesMaster" Target="/ppt/notesMasters/notesMaster1.xml" Id="R3f01f7aa7d694a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301a45fd524ce1" /><Relationship Type="http://schemas.openxmlformats.org/officeDocument/2006/relationships/notesMaster" Target="/ppt/notesMasters/notesMaster1.xml" Id="Rbe0ae237ae8848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13c9d5f405406c" /><Relationship Type="http://schemas.openxmlformats.org/officeDocument/2006/relationships/notesMaster" Target="/ppt/notesMasters/notesMaster1.xml" Id="Rc429832d74a04e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b221f457d14e2e" /><Relationship Type="http://schemas.openxmlformats.org/officeDocument/2006/relationships/notesMaster" Target="/ppt/notesMasters/notesMaster1.xml" Id="R88bf2ba6535a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c5eb3d519b4652" /><Relationship Type="http://schemas.openxmlformats.org/officeDocument/2006/relationships/notesMaster" Target="/ppt/notesMasters/notesMaster1.xml" Id="R4e05e86605c7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f0447c55f415f" /><Relationship Type="http://schemas.openxmlformats.org/officeDocument/2006/relationships/image" Target="/ppt/media/image.jpeg" Id="Rd2afb519233c417a" /><Relationship Type="http://schemas.openxmlformats.org/officeDocument/2006/relationships/image" Target="/ppt/media/image.svg" Id="Rb32a06a21ff948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69c27b97745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6553e468a45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d5a52178343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9b0fdabb74c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2658e58cf4e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06bb34ad2405c" /><Relationship Type="http://schemas.openxmlformats.org/officeDocument/2006/relationships/image" Target="/ppt/media/image2.jpeg" Id="R03540509664d4f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dc01ee17d4cbf" /><Relationship Type="http://schemas.openxmlformats.org/officeDocument/2006/relationships/image" Target="/ppt/media/image3.jpeg" Id="R02b01c415b124746" /><Relationship Type="http://schemas.openxmlformats.org/officeDocument/2006/relationships/image" Target="/ppt/media/image.jpeg" Id="Rc9fa4ce8ebed47cd" /><Relationship Type="http://schemas.openxmlformats.org/officeDocument/2006/relationships/image" Target="/ppt/media/image.svg" Id="Rfe4bfaa73df843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85a975206417c" 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3f815dee9c40b9" /><Relationship Type="http://schemas.openxmlformats.org/officeDocument/2006/relationships/slideLayout" Target="/ppt/slideLayouts/slideLayout1.xml" Id="R940dbd83033942a3" /><Relationship Type="http://schemas.openxmlformats.org/officeDocument/2006/relationships/slideLayout" Target="/ppt/slideLayouts/slideLayout2.xml" Id="R91f19dd47453421c" /><Relationship Type="http://schemas.openxmlformats.org/officeDocument/2006/relationships/slideLayout" Target="/ppt/slideLayouts/slideLayout3.xml" Id="R71c41d335c564363" /><Relationship Type="http://schemas.openxmlformats.org/officeDocument/2006/relationships/slideLayout" Target="/ppt/slideLayouts/slideLayout4.xml" Id="Rca10b00f6cc4469f" /><Relationship Type="http://schemas.openxmlformats.org/officeDocument/2006/relationships/slideLayout" Target="/ppt/slideLayouts/slideLayout5.xml" Id="R17886187e55f452d" /><Relationship Type="http://schemas.openxmlformats.org/officeDocument/2006/relationships/slideLayout" Target="/ppt/slideLayouts/slideLayout6.xml" Id="R0a0f65f5342b4969" /><Relationship Type="http://schemas.openxmlformats.org/officeDocument/2006/relationships/slideLayout" Target="/ppt/slideLayouts/slideLayout7.xml" Id="Re66d75c5b4004dc0" /><Relationship Type="http://schemas.openxmlformats.org/officeDocument/2006/relationships/slideLayout" Target="/ppt/slideLayouts/slideLayout8.xml" Id="R5ab9cb7196b94ba8" /><Relationship Type="http://schemas.openxmlformats.org/officeDocument/2006/relationships/slideLayout" Target="/ppt/slideLayouts/slideLayout9.xml" Id="Rfe0ad06f96cd423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9333211c04175" /><Relationship Type="http://schemas.openxmlformats.org/officeDocument/2006/relationships/notesSlide" Target="/ppt/notesSlides/notesSlide1.xml" Id="Rccefae7ba3f040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c5b26404a4400" /><Relationship Type="http://schemas.openxmlformats.org/officeDocument/2006/relationships/notesSlide" Target="/ppt/notesSlides/notesSlide2.xml" Id="Re9cb44296135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4a008d88d94c3e" /><Relationship Type="http://schemas.openxmlformats.org/officeDocument/2006/relationships/notesSlide" Target="/ppt/notesSlides/notesSlide3.xml" Id="R140a9438727f47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b5e182ff0b488a" /><Relationship Type="http://schemas.openxmlformats.org/officeDocument/2006/relationships/notesSlide" Target="/ppt/notesSlides/notesSlide4.xml" Id="Rf6b54dc4e2024b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1dfec4e3b54e74" /><Relationship Type="http://schemas.openxmlformats.org/officeDocument/2006/relationships/notesSlide" Target="/ppt/notesSlides/notesSlide5.xml" Id="R74d7d7c122c140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3b044c0fdd458d" /><Relationship Type="http://schemas.openxmlformats.org/officeDocument/2006/relationships/notesSlide" Target="/ppt/notesSlides/notesSlide6.xml" Id="Rd2668e6afd93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c79faf2de64ee6" /><Relationship Type="http://schemas.openxmlformats.org/officeDocument/2006/relationships/notesSlide" Target="/ppt/notesSlides/notesSlide7.xml" Id="R3ed115b8efdf4a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7af9ef8ccb548f5" /><Relationship Type="http://schemas.openxmlformats.org/officeDocument/2006/relationships/notesSlide" Target="/ppt/notesSlides/notesSlide8.xml" Id="R60d999dab0f841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跨站影像自動回追與集中彙整系統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Presented by（新產品工程）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July 22,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fld id="{E2598689-54C9-18A7-3A19-ED76AA08988F}" type="slidenum">
              <a:rPr>
                <a:latin typeface="Noto Sans TC"/>
                <a:ea typeface="Noto Sans TC"/>
                <a:cs typeface="Noto Sans TC"/>
              </a:rPr>
              <a:t>2</a:t>
            </a:fld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246D1BFE-BCB6-2A78-F0F0-C224BE11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60" y="823515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6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以 Lot / Unit 為主鍵，自動跨 SPI2、AOI3、AOI4、3DL、FT1 回追影像</a:t>
            </a:r>
          </a:p>
        </p:txBody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1F4DCF4C-78C1-EBD4-F838-2D5A1244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1526310"/>
            <a:ext cx="347472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3EAF1A41-7543-D412-F129-C9552D04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452" y="3160406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查詢主鍵：Lot_No / Unit_No</a:t>
            </a:r>
          </a:p>
        </p:txBody>
      </p:sp>
      <p:sp>
        <p:nvSpPr>
          <p:cNvPr id="8" name="Shape 7">
            <a:extLst xmlns:a="http://schemas.openxmlformats.org/drawingml/2006/main">
              <a:ext uri="{FF2B5EF4-FFF2-40B4-BE49-F238E27FC236}">
                <a16:creationId xmlns:a16="http://schemas.microsoft.com/office/drawing/2014/main" id="{95A84903-1933-142A-A532-0333DFF1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" y="1490749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4727A915-C587-C55C-5835-7F6D1F7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582189"/>
            <a:ext cx="16459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Text 9">
            <a:extLst xmlns:a="http://schemas.openxmlformats.org/drawingml/2006/main">
              <a:ext uri="{FF2B5EF4-FFF2-40B4-BE49-F238E27FC236}">
                <a16:creationId xmlns:a16="http://schemas.microsoft.com/office/drawing/2014/main" id="{9F5466BE-D1E3-FDC0-F950-7A9277F8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54757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背景說明及問題描述</a:t>
            </a:r>
          </a:p>
        </p:txBody>
      </p:sp>
      <p:sp>
        <p:nvSpPr>
          <p:cNvPr id="11" name="Shape 10">
            <a:extLst xmlns:a="http://schemas.openxmlformats.org/drawingml/2006/main">
              <a:ext uri="{FF2B5EF4-FFF2-40B4-BE49-F238E27FC236}">
                <a16:creationId xmlns:a16="http://schemas.microsoft.com/office/drawing/2014/main" id="{733731EC-2945-98F8-4DF6-1A71383E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" y="2203981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6DC4170E-A151-89E5-CBF5-412E2564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2295421"/>
            <a:ext cx="16459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Text 12">
            <a:extLst xmlns:a="http://schemas.openxmlformats.org/drawingml/2006/main">
              <a:ext uri="{FF2B5EF4-FFF2-40B4-BE49-F238E27FC236}">
                <a16:creationId xmlns:a16="http://schemas.microsoft.com/office/drawing/2014/main" id="{8919A789-50FB-B665-D779-F24BF103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67989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創新特徵及內容描述</a:t>
            </a:r>
          </a:p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01CE2FB2-6386-E86D-B8F7-66781BA6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" y="2917213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15" name="Text 14">
            <a:extLst xmlns:a="http://schemas.openxmlformats.org/drawingml/2006/main">
              <a:ext uri="{FF2B5EF4-FFF2-40B4-BE49-F238E27FC236}">
                <a16:creationId xmlns:a16="http://schemas.microsoft.com/office/drawing/2014/main" id="{DD5C6F4C-DFA9-4469-9B97-34E3752B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008653"/>
            <a:ext cx="16459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E939AB7F-26FB-2788-69A9-285DAD9F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81221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效益說明</a:t>
            </a:r>
          </a:p>
        </p:txBody>
      </p:sp>
      <p:sp>
        <p:nvSpPr>
          <p:cNvPr id="17" name="Shape 16">
            <a:extLst xmlns:a="http://schemas.openxmlformats.org/drawingml/2006/main">
              <a:ext uri="{FF2B5EF4-FFF2-40B4-BE49-F238E27FC236}">
                <a16:creationId xmlns:a16="http://schemas.microsoft.com/office/drawing/2014/main" id="{F2A13E5E-EBDB-7100-14E0-5D8F128D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" y="3630445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18" name="Text 17">
            <a:extLst xmlns:a="http://schemas.openxmlformats.org/drawingml/2006/main">
              <a:ext uri="{FF2B5EF4-FFF2-40B4-BE49-F238E27FC236}">
                <a16:creationId xmlns:a16="http://schemas.microsoft.com/office/drawing/2014/main" id="{330DB0EF-418A-BFF6-B205-FEE4E267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721885"/>
            <a:ext cx="16459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9" name="Text 18">
            <a:extLst xmlns:a="http://schemas.openxmlformats.org/drawingml/2006/main">
              <a:ext uri="{FF2B5EF4-FFF2-40B4-BE49-F238E27FC236}">
                <a16:creationId xmlns:a16="http://schemas.microsoft.com/office/drawing/2014/main" id="{A1143A73-3CEE-BB2B-29B0-1B4642FA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694453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以營業秘密保護之考量</a:t>
            </a:r>
          </a:p>
        </p:txBody>
      </p:sp>
      <p:sp>
        <p:nvSpPr>
          <p:cNvPr id="21" name="Text 20">
            <a:extLst xmlns:a="http://schemas.openxmlformats.org/drawingml/2006/main">
              <a:ext uri="{FF2B5EF4-FFF2-40B4-BE49-F238E27FC236}">
                <a16:creationId xmlns:a16="http://schemas.microsoft.com/office/drawing/2014/main" id="{B514CAC1-0FB2-7DA0-850D-6978143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" y="4156087"/>
            <a:ext cx="104607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Summary</a:t>
            </a:r>
          </a:p>
        </p:txBody>
      </p:sp>
      <p:sp>
        <p:nvSpPr>
          <p:cNvPr id="22" name="Text 21">
            <a:extLst xmlns:a="http://schemas.openxmlformats.org/drawingml/2006/main">
              <a:ext uri="{FF2B5EF4-FFF2-40B4-BE49-F238E27FC236}">
                <a16:creationId xmlns:a16="http://schemas.microsoft.com/office/drawing/2014/main" id="{76B9A485-0780-4CF8-ADB2-ED54EE2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70192"/>
            <a:ext cx="6081917" cy="518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6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由分散人工找圖，轉為各站自動蒐集、中央集中彙整</a:t>
            </a:r>
          </a:p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438F0493-121A-515A-A360-205CEC0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37960"/>
            <a:ext cx="11338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>
                <a:solidFill>
                  <a:srgbClr val="718096"/>
                </a:solidFill>
                <a:latin typeface="Noto Sans TC"/>
                <a:ea typeface="Noto Sans TC"/>
                <a:cs typeface="Noto Sans TC"/>
              </a:rPr>
              <a:t>跨站影像自動回追與集中彙整系統  |  Overview</a:t>
            </a:r>
          </a:p>
        </p:txBody>
      </p:sp>
      <p:sp>
        <p:nvSpPr>
          <p:cNvPr id="7173" name="agenda-arrow-1">
            <a:extLst xmlns:a="http://schemas.openxmlformats.org/drawingml/2006/main">
              <a:ext uri="{FF2B5EF4-FFF2-40B4-BE49-F238E27FC236}">
                <a16:creationId xmlns:a16="http://schemas.microsoft.com/office/drawing/2014/main" id="{58C71FD3-0C75-4FEE-A8E1-8DFB1791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479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6FFF"/>
          </a:solidFill>
          <a:ln xmlns:a="http://schemas.openxmlformats.org/drawingml/2006/main" w="4763">
            <a:solidFill>
              <a:srgbClr val="4C6FFF"/>
            </a:solidFill>
            <a:prstDash val="solid"/>
          </a:ln>
        </p:spPr>
      </p:sp>
      <p:sp>
        <p:nvSpPr>
          <p:cNvPr id="7174" name="agenda-arrow-2">
            <a:extLst xmlns:a="http://schemas.openxmlformats.org/drawingml/2006/main">
              <a:ext uri="{FF2B5EF4-FFF2-40B4-BE49-F238E27FC236}">
                <a16:creationId xmlns:a16="http://schemas.microsoft.com/office/drawing/2014/main" id="{56C4B7CF-1553-47F8-8F2B-4617A85E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6FFF"/>
          </a:solidFill>
          <a:ln xmlns:a="http://schemas.openxmlformats.org/drawingml/2006/main" w="4763">
            <a:solidFill>
              <a:srgbClr val="4C6FFF"/>
            </a:solidFill>
            <a:prstDash val="solid"/>
          </a:ln>
        </p:spPr>
      </p:sp>
      <p:sp>
        <p:nvSpPr>
          <p:cNvPr id="7175" name="agenda-arrow-3">
            <a:extLst xmlns:a="http://schemas.openxmlformats.org/drawingml/2006/main">
              <a:ext uri="{FF2B5EF4-FFF2-40B4-BE49-F238E27FC236}">
                <a16:creationId xmlns:a16="http://schemas.microsoft.com/office/drawing/2014/main" id="{290FA9C1-0B3B-403E-9025-B5A15019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6FFF"/>
          </a:solidFill>
          <a:ln xmlns:a="http://schemas.openxmlformats.org/drawingml/2006/main" w="4763">
            <a:solidFill>
              <a:srgbClr val="4C6FFF"/>
            </a:solidFill>
            <a:prstDash val="solid"/>
          </a:ln>
        </p:spPr>
      </p:sp>
      <p:sp>
        <p:nvSpPr>
          <p:cNvPr id="7176" name="agenda-query">
            <a:extLst xmlns:a="http://schemas.openxmlformats.org/drawingml/2006/main">
              <a:ext uri="{FF2B5EF4-FFF2-40B4-BE49-F238E27FC236}">
                <a16:creationId xmlns:a16="http://schemas.microsoft.com/office/drawing/2014/main" id="{41AE6368-3B41-4363-B452-A6E09600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14550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4C6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Query</a:t>
            </a:r>
          </a:p>
        </p:txBody>
      </p:sp>
      <p:sp>
        <p:nvSpPr>
          <p:cNvPr id="7177" name="agenda-collect">
            <a:extLst xmlns:a="http://schemas.openxmlformats.org/drawingml/2006/main">
              <a:ext uri="{FF2B5EF4-FFF2-40B4-BE49-F238E27FC236}">
                <a16:creationId xmlns:a16="http://schemas.microsoft.com/office/drawing/2014/main" id="{7A25F845-AB9A-4B46-836D-1BAE3FE1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14550"/>
            <a:ext cx="419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8F3"/>
          </a:solidFill>
          <a:ln xmlns:a="http://schemas.openxmlformats.org/drawingml/2006/main" w="9525">
            <a:solidFill>
              <a:srgbClr val="00A67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5站</a:t>
            </a:r>
          </a:p>
        </p:txBody>
      </p:sp>
      <p:sp>
        <p:nvSpPr>
          <p:cNvPr id="7178" name="agenda-nas">
            <a:extLst xmlns:a="http://schemas.openxmlformats.org/drawingml/2006/main">
              <a:ext uri="{FF2B5EF4-FFF2-40B4-BE49-F238E27FC236}">
                <a16:creationId xmlns:a16="http://schemas.microsoft.com/office/drawing/2014/main" id="{FE2E54CD-0AD1-41FA-BAF5-D99DCD40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419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FFA300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NAS</a:t>
            </a:r>
          </a:p>
        </p:txBody>
      </p:sp>
      <p:sp>
        <p:nvSpPr>
          <p:cNvPr id="7179" name="agenda-report">
            <a:extLst xmlns:a="http://schemas.openxmlformats.org/drawingml/2006/main">
              <a:ext uri="{FF2B5EF4-FFF2-40B4-BE49-F238E27FC236}">
                <a16:creationId xmlns:a16="http://schemas.microsoft.com/office/drawing/2014/main" id="{0DC66BAE-5CEB-432E-A341-C92B4AA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8A4FC2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A. 背景說明及問題描述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fld id="{202359C0-8A7A-196E-DD58-8E6569619F09}" type="slidenum">
              <a:rPr>
                <a:latin typeface="Noto Sans TC"/>
                <a:ea typeface="Noto Sans TC"/>
                <a:cs typeface="Noto Sans TC"/>
              </a:rPr>
              <a:t>3</a:t>
            </a:fld>
          </a:p>
        </p:txBody>
      </p:sp>
      <p:sp>
        <p:nvSpPr>
          <p:cNvPr id="52" name="Text 7">
            <a:extLst xmlns:a="http://schemas.openxmlformats.org/drawingml/2006/main">
              <a:ext uri="{FF2B5EF4-FFF2-40B4-BE49-F238E27FC236}">
                <a16:creationId xmlns:a16="http://schemas.microsoft.com/office/drawing/2014/main" id="{EE60D664-112B-3FA9-C8DE-D0C76E5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" y="835152"/>
            <a:ext cx="25511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跨站找圖的現況</a:t>
            </a:r>
          </a:p>
        </p:txBody>
      </p:sp>
      <p:sp>
        <p:nvSpPr>
          <p:cNvPr id="54" name="Text 8">
            <a:extLst xmlns:a="http://schemas.openxmlformats.org/drawingml/2006/main">
              <a:ext uri="{FF2B5EF4-FFF2-40B4-BE49-F238E27FC236}">
                <a16:creationId xmlns:a16="http://schemas.microsoft.com/office/drawing/2014/main" id="{29C1C93B-D2E0-BD83-1413-BDDE1BE3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" y="1203960"/>
            <a:ext cx="2551176" cy="4315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單站發現異常後，需逐站確認路徑、檔名與圖種。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設備規則分散，容易漏抓或重複搜尋；長清單也難以持續處理。</a:t>
            </a:r>
          </a:p>
        </p:txBody>
      </p:sp>
      <p:sp>
        <p:nvSpPr>
          <p:cNvPr id="59" name="Shape 46">
            <a:extLst xmlns:a="http://schemas.openxmlformats.org/drawingml/2006/main">
              <a:ext uri="{FF2B5EF4-FFF2-40B4-BE49-F238E27FC236}">
                <a16:creationId xmlns:a16="http://schemas.microsoft.com/office/drawing/2014/main" id="{003E1EAE-844B-5ED0-F150-16C31B2E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" y="3814557"/>
            <a:ext cx="80010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0" name="Text 47">
            <a:extLst xmlns:a="http://schemas.openxmlformats.org/drawingml/2006/main">
              <a:ext uri="{FF2B5EF4-FFF2-40B4-BE49-F238E27FC236}">
                <a16:creationId xmlns:a16="http://schemas.microsoft.com/office/drawing/2014/main" id="{EE300321-4C12-596F-B254-E28B95E5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" y="3933429"/>
            <a:ext cx="7671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人工搜尋負荷（估算）</a:t>
            </a:r>
          </a:p>
        </p:txBody>
      </p:sp>
      <p:sp>
        <p:nvSpPr>
          <p:cNvPr id="61" name="Text 48">
            <a:extLst xmlns:a="http://schemas.openxmlformats.org/drawingml/2006/main">
              <a:ext uri="{FF2B5EF4-FFF2-40B4-BE49-F238E27FC236}">
                <a16:creationId xmlns:a16="http://schemas.microsoft.com/office/drawing/2014/main" id="{604D6C1A-023F-AC05-1722-543B6095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" y="4253469"/>
            <a:ext cx="767181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90 顆/日 × 異常率 15% × 5 站 × 5 分鐘 = 337.5 分鐘/日（約 5.6 小時/日）</a:t>
            </a:r>
          </a:p>
        </p:txBody>
      </p:sp>
      <p:sp>
        <p:nvSpPr>
          <p:cNvPr id="63" name="Shape 31">
            <a:extLst xmlns:a="http://schemas.openxmlformats.org/drawingml/2006/main">
              <a:ext uri="{FF2B5EF4-FFF2-40B4-BE49-F238E27FC236}">
                <a16:creationId xmlns:a16="http://schemas.microsoft.com/office/drawing/2014/main" id="{3D978C0D-3AA8-0306-7373-ED854A41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988" y="726973"/>
            <a:ext cx="1218839" cy="944156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</p:sp>
      <p:sp>
        <p:nvSpPr>
          <p:cNvPr id="7168" name="Text 32">
            <a:extLst xmlns:a="http://schemas.openxmlformats.org/drawingml/2006/main">
              <a:ext uri="{FF2B5EF4-FFF2-40B4-BE49-F238E27FC236}">
                <a16:creationId xmlns:a16="http://schemas.microsoft.com/office/drawing/2014/main" id="{E9D07EEE-7601-11FE-0C67-4D980772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148" y="836701"/>
            <a:ext cx="966666" cy="135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000" b="1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每日產能</a:t>
            </a:r>
          </a:p>
        </p:txBody>
      </p:sp>
      <p:sp>
        <p:nvSpPr>
          <p:cNvPr id="7169" name="Text 33">
            <a:extLst xmlns:a="http://schemas.openxmlformats.org/drawingml/2006/main">
              <a:ext uri="{FF2B5EF4-FFF2-40B4-BE49-F238E27FC236}">
                <a16:creationId xmlns:a16="http://schemas.microsoft.com/office/drawing/2014/main" id="{84D56178-B749-C602-98F8-39773C95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004" y="1067695"/>
            <a:ext cx="966666" cy="3172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b="1">
                <a:solidFill>
                  <a:srgbClr val="C0392B"/>
                </a:solidFill>
                <a:latin typeface="Noto Sans TC"/>
                <a:ea typeface="Noto Sans TC"/>
                <a:cs typeface="Noto Sans TC"/>
              </a:rPr>
              <a:t>90</a:t>
            </a:r>
          </a:p>
        </p:txBody>
      </p:sp>
      <p:sp>
        <p:nvSpPr>
          <p:cNvPr id="7174" name="Shape 35">
            <a:extLst xmlns:a="http://schemas.openxmlformats.org/drawingml/2006/main">
              <a:ext uri="{FF2B5EF4-FFF2-40B4-BE49-F238E27FC236}">
                <a16:creationId xmlns:a16="http://schemas.microsoft.com/office/drawing/2014/main" id="{2B454ACA-CE72-EE46-55D7-F0035A54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212" y="726973"/>
            <a:ext cx="1218839" cy="944156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7175" name="Text 36">
            <a:extLst xmlns:a="http://schemas.openxmlformats.org/drawingml/2006/main">
              <a:ext uri="{FF2B5EF4-FFF2-40B4-BE49-F238E27FC236}">
                <a16:creationId xmlns:a16="http://schemas.microsoft.com/office/drawing/2014/main" id="{E39FB0EB-C16D-C3B6-2095-398A126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908" y="836701"/>
            <a:ext cx="966666" cy="135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000" b="1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估計異常</a:t>
            </a:r>
          </a:p>
        </p:txBody>
      </p:sp>
      <p:sp>
        <p:nvSpPr>
          <p:cNvPr id="7176" name="Text 37">
            <a:extLst xmlns:a="http://schemas.openxmlformats.org/drawingml/2006/main">
              <a:ext uri="{FF2B5EF4-FFF2-40B4-BE49-F238E27FC236}">
                <a16:creationId xmlns:a16="http://schemas.microsoft.com/office/drawing/2014/main" id="{8657BF09-3159-8282-A06C-980C985B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299" y="1064822"/>
            <a:ext cx="966666" cy="3172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b="1">
                <a:solidFill>
                  <a:srgbClr val="0B5CAD"/>
                </a:solidFill>
                <a:latin typeface="Noto Sans TC"/>
                <a:ea typeface="Noto Sans TC"/>
                <a:cs typeface="Noto Sans TC"/>
              </a:rPr>
              <a:t>13.5</a:t>
            </a:r>
          </a:p>
        </p:txBody>
      </p:sp>
      <p:sp>
        <p:nvSpPr>
          <p:cNvPr id="7178" name="Shape 39">
            <a:extLst xmlns:a="http://schemas.openxmlformats.org/drawingml/2006/main">
              <a:ext uri="{FF2B5EF4-FFF2-40B4-BE49-F238E27FC236}">
                <a16:creationId xmlns:a16="http://schemas.microsoft.com/office/drawing/2014/main" id="{BDB714D1-F6F8-4BCC-F541-0C3C6035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148" y="726973"/>
            <a:ext cx="714492" cy="944156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5A623"/>
            </a:solidFill>
            <a:prstDash val="solid"/>
          </a:ln>
        </p:spPr>
      </p:sp>
      <p:sp>
        <p:nvSpPr>
          <p:cNvPr id="7179" name="Text 40">
            <a:extLst xmlns:a="http://schemas.openxmlformats.org/drawingml/2006/main">
              <a:ext uri="{FF2B5EF4-FFF2-40B4-BE49-F238E27FC236}">
                <a16:creationId xmlns:a16="http://schemas.microsoft.com/office/drawing/2014/main" id="{ABFA7241-B967-2029-3E73-2E265E2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08" y="836701"/>
            <a:ext cx="462318" cy="135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000" b="1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找圖負荷</a:t>
            </a:r>
          </a:p>
        </p:txBody>
      </p:sp>
      <p:sp>
        <p:nvSpPr>
          <p:cNvPr id="7180" name="Text 41">
            <a:extLst xmlns:a="http://schemas.openxmlformats.org/drawingml/2006/main">
              <a:ext uri="{FF2B5EF4-FFF2-40B4-BE49-F238E27FC236}">
                <a16:creationId xmlns:a16="http://schemas.microsoft.com/office/drawing/2014/main" id="{F3EC554D-44D6-E31A-3E18-3D10DD8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894" y="1060578"/>
            <a:ext cx="462318" cy="3172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b="1">
                <a:solidFill>
                  <a:srgbClr val="F5A623"/>
                </a:solidFill>
                <a:latin typeface="Noto Sans TC"/>
                <a:ea typeface="Noto Sans TC"/>
                <a:cs typeface="Noto Sans TC"/>
              </a:rPr>
              <a:t>5.6</a:t>
            </a:r>
          </a:p>
        </p:txBody>
      </p:sp>
      <p:sp>
        <p:nvSpPr>
          <p:cNvPr id="7181" name="Text 42">
            <a:extLst xmlns:a="http://schemas.openxmlformats.org/drawingml/2006/main">
              <a:ext uri="{FF2B5EF4-FFF2-40B4-BE49-F238E27FC236}">
                <a16:creationId xmlns:a16="http://schemas.microsoft.com/office/drawing/2014/main" id="{1D20CA50-4677-1650-707F-93F8E7AF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08" y="1450497"/>
            <a:ext cx="462318" cy="135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70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小時/日</a:t>
            </a:r>
          </a:p>
        </p:txBody>
      </p:sp>
      <p:sp>
        <p:nvSpPr>
          <p:cNvPr id="7182" name="Shape 43">
            <a:extLst xmlns:a="http://schemas.openxmlformats.org/drawingml/2006/main">
              <a:ext uri="{FF2B5EF4-FFF2-40B4-BE49-F238E27FC236}">
                <a16:creationId xmlns:a16="http://schemas.microsoft.com/office/drawing/2014/main" id="{5F7D074E-AB44-F09A-F8A3-AD1226EC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8180" y="1899188"/>
            <a:ext cx="3572460" cy="166171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2700">
            <a:solidFill>
              <a:srgbClr val="F3A6A6"/>
            </a:solidFill>
            <a:prstDash val="solid"/>
          </a:ln>
        </p:spPr>
      </p:sp>
      <p:sp>
        <p:nvSpPr>
          <p:cNvPr id="7183" name="Text 44">
            <a:extLst xmlns:a="http://schemas.openxmlformats.org/drawingml/2006/main">
              <a:ext uri="{FF2B5EF4-FFF2-40B4-BE49-F238E27FC236}">
                <a16:creationId xmlns:a16="http://schemas.microsoft.com/office/drawing/2014/main" id="{706979BE-30AE-3092-2DC1-BB2AFB63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2514" y="2039590"/>
            <a:ext cx="3269852" cy="1812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C0392B"/>
                </a:solidFill>
                <a:latin typeface="Noto Sans TC"/>
                <a:ea typeface="Noto Sans TC"/>
                <a:cs typeface="Noto Sans TC"/>
              </a:rPr>
              <a:t>主要風險</a:t>
            </a:r>
          </a:p>
        </p:txBody>
      </p:sp>
      <p:sp>
        <p:nvSpPr>
          <p:cNvPr id="7184" name="Text 45">
            <a:extLst xmlns:a="http://schemas.openxmlformats.org/drawingml/2006/main">
              <a:ext uri="{FF2B5EF4-FFF2-40B4-BE49-F238E27FC236}">
                <a16:creationId xmlns:a16="http://schemas.microsoft.com/office/drawing/2014/main" id="{A82CB326-43B1-FB79-B1AF-F681959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2514" y="2359630"/>
            <a:ext cx="3269852" cy="1223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05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路徑與命名規則分散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• 人工逐站搜尋，易漏抓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05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長清單無法背景分輪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05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缺少統一處理狀態</a:t>
            </a:r>
          </a:p>
        </p:txBody>
      </p:sp>
      <p:sp>
        <p:nvSpPr>
          <p:cNvPr id="30" name="Text 9">
            <a:extLst xmlns:a="http://schemas.openxmlformats.org/drawingml/2006/main">
              <a:ext uri="{FF2B5EF4-FFF2-40B4-BE49-F238E27FC236}">
                <a16:creationId xmlns:a16="http://schemas.microsoft.com/office/drawing/2014/main" id="{7DCFC994-17F9-6954-6160-AD721469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674" y="1269639"/>
            <a:ext cx="2351077" cy="1378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每片各站人工搜尋（分鐘）</a:t>
            </a:r>
          </a:p>
        </p:txBody>
      </p:sp>
      <p:sp>
        <p:nvSpPr>
          <p:cNvPr id="31" name="Text 10">
            <a:extLst xmlns:a="http://schemas.openxmlformats.org/drawingml/2006/main">
              <a:ext uri="{FF2B5EF4-FFF2-40B4-BE49-F238E27FC236}">
                <a16:creationId xmlns:a16="http://schemas.microsoft.com/office/drawing/2014/main" id="{3E88AD8B-93F5-DF75-F1D3-B29C4EFE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674" y="1484761"/>
            <a:ext cx="1003508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SPI2</a:t>
            </a:r>
          </a:p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C1F1CE87-94FF-1A3E-C940-1D5564D2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1457135"/>
            <a:ext cx="762000" cy="176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>
              <a:alpha val="85000"/>
            </a:srgbClr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33" name="Text 12">
            <a:extLst xmlns:a="http://schemas.openxmlformats.org/drawingml/2006/main">
              <a:ext uri="{FF2B5EF4-FFF2-40B4-BE49-F238E27FC236}">
                <a16:creationId xmlns:a16="http://schemas.microsoft.com/office/drawing/2014/main" id="{AB8791EE-F024-ACEC-70A8-F4099F5E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338" y="1484757"/>
            <a:ext cx="19050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4" name="Text 13">
            <a:extLst xmlns:a="http://schemas.openxmlformats.org/drawingml/2006/main">
              <a:ext uri="{FF2B5EF4-FFF2-40B4-BE49-F238E27FC236}">
                <a16:creationId xmlns:a16="http://schemas.microsoft.com/office/drawing/2014/main" id="{9A448A94-8CDF-7213-A433-7783AE1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674" y="1727462"/>
            <a:ext cx="1003508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AOI3</a:t>
            </a:r>
          </a:p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F76B8C7E-5880-72C9-9D5D-2384411D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1699831"/>
            <a:ext cx="762000" cy="176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>
              <a:alpha val="85000"/>
            </a:srgbClr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36" name="Text 15">
            <a:extLst xmlns:a="http://schemas.openxmlformats.org/drawingml/2006/main">
              <a:ext uri="{FF2B5EF4-FFF2-40B4-BE49-F238E27FC236}">
                <a16:creationId xmlns:a16="http://schemas.microsoft.com/office/drawing/2014/main" id="{43B4D950-EFF7-B940-AA4D-051B804D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338" y="1727454"/>
            <a:ext cx="19050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7" name="Text 16">
            <a:extLst xmlns:a="http://schemas.openxmlformats.org/drawingml/2006/main">
              <a:ext uri="{FF2B5EF4-FFF2-40B4-BE49-F238E27FC236}">
                <a16:creationId xmlns:a16="http://schemas.microsoft.com/office/drawing/2014/main" id="{2C155B9D-9124-4E62-DA8D-52F6F6AE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674" y="1970164"/>
            <a:ext cx="1003508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AOI4</a:t>
            </a:r>
          </a:p>
        </p:txBody>
      </p:sp>
      <p:sp>
        <p:nvSpPr>
          <p:cNvPr id="38" name="Shape 17">
            <a:extLst xmlns:a="http://schemas.openxmlformats.org/drawingml/2006/main">
              <a:ext uri="{FF2B5EF4-FFF2-40B4-BE49-F238E27FC236}">
                <a16:creationId xmlns:a16="http://schemas.microsoft.com/office/drawing/2014/main" id="{6287895B-4F88-C81E-21DC-433A23F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1942529"/>
            <a:ext cx="762000" cy="176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>
              <a:alpha val="85000"/>
            </a:srgbClr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39" name="Text 18">
            <a:extLst xmlns:a="http://schemas.openxmlformats.org/drawingml/2006/main">
              <a:ext uri="{FF2B5EF4-FFF2-40B4-BE49-F238E27FC236}">
                <a16:creationId xmlns:a16="http://schemas.microsoft.com/office/drawing/2014/main" id="{7263E6FD-3E49-CF31-62A8-E3CC7C4F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338" y="1970151"/>
            <a:ext cx="19050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40" name="Text 19">
            <a:extLst xmlns:a="http://schemas.openxmlformats.org/drawingml/2006/main">
              <a:ext uri="{FF2B5EF4-FFF2-40B4-BE49-F238E27FC236}">
                <a16:creationId xmlns:a16="http://schemas.microsoft.com/office/drawing/2014/main" id="{CD3C4FA8-26CB-B07A-D9EC-DACDBE36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674" y="2212865"/>
            <a:ext cx="1003508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3DL</a:t>
            </a:r>
          </a:p>
        </p:txBody>
      </p:sp>
      <p:sp>
        <p:nvSpPr>
          <p:cNvPr id="41" name="Shape 20">
            <a:extLst xmlns:a="http://schemas.openxmlformats.org/drawingml/2006/main">
              <a:ext uri="{FF2B5EF4-FFF2-40B4-BE49-F238E27FC236}">
                <a16:creationId xmlns:a16="http://schemas.microsoft.com/office/drawing/2014/main" id="{505F454B-1FD8-01F9-D030-79CCA8AB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2185226"/>
            <a:ext cx="762000" cy="176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</p:sp>
      <p:sp>
        <p:nvSpPr>
          <p:cNvPr id="42" name="Text 21">
            <a:extLst xmlns:a="http://schemas.openxmlformats.org/drawingml/2006/main">
              <a:ext uri="{FF2B5EF4-FFF2-40B4-BE49-F238E27FC236}">
                <a16:creationId xmlns:a16="http://schemas.microsoft.com/office/drawing/2014/main" id="{B4AE9FE7-35C0-576C-2F9D-6467362B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338" y="2212848"/>
            <a:ext cx="19050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C0392B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43" name="Text 22">
            <a:extLst xmlns:a="http://schemas.openxmlformats.org/drawingml/2006/main">
              <a:ext uri="{FF2B5EF4-FFF2-40B4-BE49-F238E27FC236}">
                <a16:creationId xmlns:a16="http://schemas.microsoft.com/office/drawing/2014/main" id="{4C221AF6-CDB4-4960-7E15-CF3D50C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674" y="2455567"/>
            <a:ext cx="1003508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FT1</a:t>
            </a:r>
          </a:p>
        </p:txBody>
      </p:sp>
      <p:sp>
        <p:nvSpPr>
          <p:cNvPr id="44" name="Shape 23">
            <a:extLst xmlns:a="http://schemas.openxmlformats.org/drawingml/2006/main">
              <a:ext uri="{FF2B5EF4-FFF2-40B4-BE49-F238E27FC236}">
                <a16:creationId xmlns:a16="http://schemas.microsoft.com/office/drawing/2014/main" id="{9B620C2B-D92B-0DB4-BF44-E4D205E6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2427923"/>
            <a:ext cx="762000" cy="176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>
              <a:alpha val="85000"/>
            </a:srgbClr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45" name="Text 24">
            <a:extLst xmlns:a="http://schemas.openxmlformats.org/drawingml/2006/main">
              <a:ext uri="{FF2B5EF4-FFF2-40B4-BE49-F238E27FC236}">
                <a16:creationId xmlns:a16="http://schemas.microsoft.com/office/drawing/2014/main" id="{395A6B35-42C9-61BE-71DB-6289045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338" y="2455545"/>
            <a:ext cx="19050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46" name="Text 25">
            <a:extLst xmlns:a="http://schemas.openxmlformats.org/drawingml/2006/main">
              <a:ext uri="{FF2B5EF4-FFF2-40B4-BE49-F238E27FC236}">
                <a16:creationId xmlns:a16="http://schemas.microsoft.com/office/drawing/2014/main" id="{8F367D4C-8605-5D1F-526C-CD98B89F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674" y="2698268"/>
            <a:ext cx="1003508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F2937"/>
                </a:solidFill>
              </a:rPr>
              <a:t/>
            </a:r>
          </a:p>
        </p:txBody>
      </p:sp>
      <p:sp>
        <p:nvSpPr>
          <p:cNvPr id="47" name="Shape 26">
            <a:extLst xmlns:a="http://schemas.openxmlformats.org/drawingml/2006/main">
              <a:ext uri="{FF2B5EF4-FFF2-40B4-BE49-F238E27FC236}">
                <a16:creationId xmlns:a16="http://schemas.microsoft.com/office/drawing/2014/main" id="{2294FE21-BCFD-14B5-B60C-CDDF7FEA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2952750"/>
            <a:ext cx="953" cy="176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>
              <a:alpha val="85000"/>
            </a:srgbClr>
          </a:solidFill>
          <a:ln xmlns:a="http://schemas.openxmlformats.org/drawingml/2006/main" w="12700">
            <a:solidFill>
              <a:srgbClr val="F5A623"/>
            </a:solidFill>
            <a:prstDash val="solid"/>
          </a:ln>
        </p:spPr>
      </p:sp>
      <p:sp>
        <p:nvSpPr>
          <p:cNvPr id="48" name="Text 27">
            <a:extLst xmlns:a="http://schemas.openxmlformats.org/drawingml/2006/main">
              <a:ext uri="{FF2B5EF4-FFF2-40B4-BE49-F238E27FC236}">
                <a16:creationId xmlns:a16="http://schemas.microsoft.com/office/drawing/2014/main" id="{178C6EC3-2338-1FB1-E1B8-7247ED33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925" y="2698268"/>
            <a:ext cx="160561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F2937"/>
                </a:solidFill>
              </a:rPr>
              <a:t/>
            </a:r>
          </a:p>
        </p:txBody>
      </p:sp>
      <p:sp>
        <p:nvSpPr>
          <p:cNvPr id="49" name="Text 28">
            <a:extLst xmlns:a="http://schemas.openxmlformats.org/drawingml/2006/main">
              <a:ext uri="{FF2B5EF4-FFF2-40B4-BE49-F238E27FC236}">
                <a16:creationId xmlns:a16="http://schemas.microsoft.com/office/drawing/2014/main" id="{97597FDC-91D1-750B-AC78-8BC05198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674" y="2940970"/>
            <a:ext cx="1003508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F2937"/>
                </a:solidFill>
              </a:rPr>
              <a:t/>
            </a:r>
          </a:p>
        </p:txBody>
      </p:sp>
      <p:sp>
        <p:nvSpPr>
          <p:cNvPr id="50" name="Shape 29">
            <a:extLst xmlns:a="http://schemas.openxmlformats.org/drawingml/2006/main">
              <a:ext uri="{FF2B5EF4-FFF2-40B4-BE49-F238E27FC236}">
                <a16:creationId xmlns:a16="http://schemas.microsoft.com/office/drawing/2014/main" id="{F62A5CD7-8AE6-0126-F794-2FCE3FA9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2952750"/>
            <a:ext cx="953" cy="176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>
              <a:alpha val="85000"/>
            </a:srgbClr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51" name="Text 30">
            <a:extLst xmlns:a="http://schemas.openxmlformats.org/drawingml/2006/main">
              <a:ext uri="{FF2B5EF4-FFF2-40B4-BE49-F238E27FC236}">
                <a16:creationId xmlns:a16="http://schemas.microsoft.com/office/drawing/2014/main" id="{091590D5-BBC8-1579-79AD-D4DB60ED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9630" y="2940970"/>
            <a:ext cx="160561" cy="772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F2937"/>
                </a:solidFill>
              </a:rPr>
              <a:t/>
            </a:r>
          </a:p>
        </p:txBody>
      </p:sp>
      <p:sp>
        <p:nvSpPr>
          <p:cNvPr id="7185" name="station-SPI2">
            <a:extLst xmlns:a="http://schemas.openxmlformats.org/drawingml/2006/main">
              <a:ext uri="{FF2B5EF4-FFF2-40B4-BE49-F238E27FC236}">
                <a16:creationId xmlns:a16="http://schemas.microsoft.com/office/drawing/2014/main" id="{33D9C913-AB4C-44E4-8B3E-6C64BA8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3840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4C6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SPI2</a:t>
            </a:r>
          </a:p>
        </p:txBody>
      </p:sp>
      <p:sp>
        <p:nvSpPr>
          <p:cNvPr id="7186" name="station-AOI3">
            <a:extLst xmlns:a="http://schemas.openxmlformats.org/drawingml/2006/main">
              <a:ext uri="{FF2B5EF4-FFF2-40B4-BE49-F238E27FC236}">
                <a16:creationId xmlns:a16="http://schemas.microsoft.com/office/drawing/2014/main" id="{88F74116-96A3-48DD-B040-BD41A27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F8F3"/>
          </a:solidFill>
          <a:ln xmlns:a="http://schemas.openxmlformats.org/drawingml/2006/main" w="9525">
            <a:solidFill>
              <a:srgbClr val="00A67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AOI3</a:t>
            </a:r>
          </a:p>
        </p:txBody>
      </p:sp>
      <p:sp>
        <p:nvSpPr>
          <p:cNvPr id="7187" name="station-AOI4">
            <a:extLst xmlns:a="http://schemas.openxmlformats.org/drawingml/2006/main">
              <a:ext uri="{FF2B5EF4-FFF2-40B4-BE49-F238E27FC236}">
                <a16:creationId xmlns:a16="http://schemas.microsoft.com/office/drawing/2014/main" id="{08C1D079-2424-4A5C-B973-F4502E9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3840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FFA300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AOI4</a:t>
            </a:r>
          </a:p>
        </p:txBody>
      </p:sp>
      <p:sp>
        <p:nvSpPr>
          <p:cNvPr id="7188" name="station-3DL">
            <a:extLst xmlns:a="http://schemas.openxmlformats.org/drawingml/2006/main">
              <a:ext uri="{FF2B5EF4-FFF2-40B4-BE49-F238E27FC236}">
                <a16:creationId xmlns:a16="http://schemas.microsoft.com/office/drawing/2014/main" id="{D0CD1538-1C93-4AF5-A0E2-92D76C5C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8A4FC2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3DL</a:t>
            </a:r>
          </a:p>
        </p:txBody>
      </p:sp>
      <p:sp>
        <p:nvSpPr>
          <p:cNvPr id="7189" name="station-FT1">
            <a:extLst xmlns:a="http://schemas.openxmlformats.org/drawingml/2006/main">
              <a:ext uri="{FF2B5EF4-FFF2-40B4-BE49-F238E27FC236}">
                <a16:creationId xmlns:a16="http://schemas.microsoft.com/office/drawing/2014/main" id="{33D662E4-4E3C-480D-B4C9-64A95047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FT1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fld id="{EFD6AB9A-5F9E-5F59-51AB-3C8734130965}" type="slidenum">
              <a:rPr>
                <a:latin typeface="Noto Sans TC"/>
                <a:ea typeface="Noto Sans TC"/>
                <a:cs typeface="Noto Sans TC"/>
              </a:rPr>
              <a:t>4</a:t>
            </a:fld>
          </a:p>
        </p:txBody>
      </p:sp>
      <p:sp>
        <p:nvSpPr>
          <p:cNvPr id="5" name="Shape 6">
            <a:extLst xmlns:a="http://schemas.openxmlformats.org/drawingml/2006/main">
              <a:ext uri="{FF2B5EF4-FFF2-40B4-BE49-F238E27FC236}">
                <a16:creationId xmlns:a16="http://schemas.microsoft.com/office/drawing/2014/main" id="{08030B96-6596-83C8-44D9-D53DAD1B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60" y="839236"/>
            <a:ext cx="4726625" cy="2930789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369FD0D-68E1-62BC-5ECF-E44D9E86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4440" y="914468"/>
            <a:ext cx="3444240" cy="116867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2700">
            <a:solidFill>
              <a:srgbClr val="F3A6A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1BBDE8D-D979-DE17-6435-679A827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696" y="1012485"/>
            <a:ext cx="3171728" cy="180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C0392B"/>
                </a:solidFill>
                <a:latin typeface="Noto Sans TC"/>
                <a:ea typeface="Noto Sans TC"/>
                <a:cs typeface="Noto Sans TC"/>
              </a:rPr>
              <a:t>各站獨立蒐集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08AC53A-78ED-1DD5-99E0-233EA06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696" y="1276379"/>
            <a:ext cx="3171728" cy="7313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query_list.xlsx 為唯一入口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各站依 station_config.json 搜圖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先寫 .part，完成後改正式檔名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2D810BD-7A2E-E663-5C9D-F3D3BD69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4440" y="2233934"/>
            <a:ext cx="3444240" cy="116867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8BC6A3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38DDFC-F8DF-0463-C860-5F39ABF5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696" y="2331952"/>
            <a:ext cx="3171728" cy="180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中央集中輸出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D6AE672-851C-27FE-272E-0F66B5A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696" y="2595845"/>
            <a:ext cx="3171728" cy="7313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Output/{Lot_No}/{Station}/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保留原始檔名與關鍵資訊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報表輸出 FOUND / NOT_FOUND / ERROR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44ACE45-49D3-3984-F259-A239F6D3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81" y="3965935"/>
            <a:ext cx="850392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9BBDE8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CA40035-E47F-A2DE-2332-3E497991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73" y="4084807"/>
            <a:ext cx="824665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0B5CAD"/>
                </a:solidFill>
                <a:latin typeface="Noto Sans TC"/>
                <a:ea typeface="Noto Sans TC"/>
                <a:cs typeface="Noto Sans TC"/>
              </a:rPr>
              <a:t>設計核心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D522A4F2-10D3-EDC0-052F-CB87CB31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73" y="4404847"/>
            <a:ext cx="824665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3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分散讀取設備可見影像、集中輸出至共用 NAS／雲端；站點可獨立部署，中央端依 Output 建立彙整報表。</a:t>
            </a:r>
          </a:p>
        </p:txBody>
      </p:sp>
      <p:sp>
        <p:nvSpPr>
          <p:cNvPr id="7173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2CFEEC9B-8B22-42AA-ABF4-F7E76AAD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00175"/>
            <a:ext cx="20955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C6FFF"/>
          </a:solidFill>
          <a:ln xmlns:a="http://schemas.openxmlformats.org/drawingml/2006/main" w="4763">
            <a:solidFill>
              <a:srgbClr val="4C6FFF"/>
            </a:solidFill>
            <a:prstDash val="solid"/>
          </a:ln>
        </p:spPr>
      </p:sp>
      <p:sp>
        <p:nvSpPr>
          <p:cNvPr id="7174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708F4B19-799F-4209-9B0F-EA92A147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20955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C6FFF"/>
          </a:solidFill>
          <a:ln xmlns:a="http://schemas.openxmlformats.org/drawingml/2006/main" w="4763">
            <a:solidFill>
              <a:srgbClr val="4C6FFF"/>
            </a:solidFill>
            <a:prstDash val="solid"/>
          </a:ln>
        </p:spPr>
      </p:sp>
      <p:sp>
        <p:nvSpPr>
          <p:cNvPr id="7175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94D5CFDB-F043-4FCF-A6B5-C4781678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81300"/>
            <a:ext cx="20955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C6FFF"/>
          </a:solidFill>
          <a:ln xmlns:a="http://schemas.openxmlformats.org/drawingml/2006/main" w="4763">
            <a:solidFill>
              <a:srgbClr val="4C6FFF"/>
            </a:solidFill>
            <a:prstDash val="solid"/>
          </a:ln>
        </p:spPr>
      </p:sp>
      <p:sp>
        <p:nvSpPr>
          <p:cNvPr id="7176" name="arch-query">
            <a:extLst xmlns:a="http://schemas.openxmlformats.org/drawingml/2006/main">
              <a:ext uri="{FF2B5EF4-FFF2-40B4-BE49-F238E27FC236}">
                <a16:creationId xmlns:a16="http://schemas.microsoft.com/office/drawing/2014/main" id="{A427CCB3-11F9-4D2F-BC94-73BD2CC1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3600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4C6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Query_Input：query_list.xlsx</a:t>
            </a:r>
          </a:p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Lot_No + Unit_No + Status（Open / New）</a:t>
            </a:r>
          </a:p>
        </p:txBody>
      </p:sp>
      <p:sp>
        <p:nvSpPr>
          <p:cNvPr id="7177" name="arch-collectors">
            <a:extLst xmlns:a="http://schemas.openxmlformats.org/drawingml/2006/main">
              <a:ext uri="{FF2B5EF4-FFF2-40B4-BE49-F238E27FC236}">
                <a16:creationId xmlns:a16="http://schemas.microsoft.com/office/drawing/2014/main" id="{4A7CA157-3E1A-4F97-BB0E-90308FC1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3905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6B8DB3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各站 Collector（獨立部署）</a:t>
            </a:r>
          </a:p>
          <a:p xmlns:a="http://schemas.openxmlformats.org/drawingml/2006/main">
            <a:pPr algn="ctr">
              <a:defRPr sz="975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SPI2   |   AOI3   |   AOI4   |   3DL   |   FT1</a:t>
            </a:r>
          </a:p>
        </p:txBody>
      </p:sp>
      <p:sp>
        <p:nvSpPr>
          <p:cNvPr id="7178" name="arch-output">
            <a:extLst xmlns:a="http://schemas.openxmlformats.org/drawingml/2006/main">
              <a:ext uri="{FF2B5EF4-FFF2-40B4-BE49-F238E27FC236}">
                <a16:creationId xmlns:a16="http://schemas.microsoft.com/office/drawing/2014/main" id="{05C921F5-6623-4325-A575-98C29F70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3600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FFA300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共用 NAS / 雲端 Output</a:t>
            </a:r>
          </a:p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Output/{Lot_No}/{Station}/</a:t>
            </a:r>
          </a:p>
        </p:txBody>
      </p:sp>
      <p:sp>
        <p:nvSpPr>
          <p:cNvPr id="7179" name="arch-report">
            <a:extLst xmlns:a="http://schemas.openxmlformats.org/drawingml/2006/main">
              <a:ext uri="{FF2B5EF4-FFF2-40B4-BE49-F238E27FC236}">
                <a16:creationId xmlns:a16="http://schemas.microsoft.com/office/drawing/2014/main" id="{EF3D410F-4B78-4115-B2E6-70BC284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3600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8F3"/>
          </a:solidFill>
          <a:ln xmlns:a="http://schemas.openxmlformats.org/drawingml/2006/main" w="9525">
            <a:solidFill>
              <a:srgbClr val="00A67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中央彙整報表與人工驗證</a:t>
            </a:r>
          </a:p>
          <a:p xmlns:a="http://schemas.openxmlformats.org/drawingml/2006/main">
            <a:pPr algn="ctr">
              <a:def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7324D"/>
                </a:solidFill>
                <a:latin typeface="Noto Sans TC"/>
                <a:ea typeface="Noto Sans TC"/>
                <a:cs typeface="Noto Sans TC"/>
              </a:rPr>
              <a:t>FOUND   |   NOT_FOUND   |   ERROR</a:t>
            </a:r>
          </a:p>
        </p:txBody>
      </p:sp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C. 效益說明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fld id="{EE5B3003-2C54-13C6-9832-7637201064DE}" type="slidenum">
              <a:rPr>
                <a:latin typeface="Noto Sans TC"/>
                <a:ea typeface="Noto Sans TC"/>
                <a:cs typeface="Noto Sans TC"/>
              </a:rPr>
              <a:t>5</a:t>
            </a:fld>
          </a:p>
        </p:txBody>
      </p:sp>
      <p:sp>
        <p:nvSpPr>
          <p:cNvPr id="5" name="Shape 6">
            <a:extLst xmlns:a="http://schemas.openxmlformats.org/drawingml/2006/main">
              <a:ext uri="{FF2B5EF4-FFF2-40B4-BE49-F238E27FC236}">
                <a16:creationId xmlns:a16="http://schemas.microsoft.com/office/drawing/2014/main" id="{7AD6EB3D-FA72-0C13-F0FD-63D9E997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" y="1131570"/>
            <a:ext cx="4061460" cy="288036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Text 7">
            <a:extLst xmlns:a="http://schemas.openxmlformats.org/drawingml/2006/main">
              <a:ext uri="{FF2B5EF4-FFF2-40B4-BE49-F238E27FC236}">
                <a16:creationId xmlns:a16="http://schemas.microsoft.com/office/drawing/2014/main" id="{2D25DE87-85EA-F0C3-0709-68E60DB0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801" y="1229764"/>
            <a:ext cx="3348923" cy="196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每顆異常品的人工找圖時間</a:t>
            </a:r>
          </a:p>
        </p:txBody>
      </p:sp>
      <p:sp>
        <p:nvSpPr>
          <p:cNvPr id="7" name="Shape 8">
            <a:extLst xmlns:a="http://schemas.openxmlformats.org/drawingml/2006/main">
              <a:ext uri="{FF2B5EF4-FFF2-40B4-BE49-F238E27FC236}">
                <a16:creationId xmlns:a16="http://schemas.microsoft.com/office/drawing/2014/main" id="{154FDB2F-06FE-CE29-5A4E-27231644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562" y="3553691"/>
            <a:ext cx="31707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A3B8"/>
            </a:solidFill>
            <a:prstDash val="solid"/>
          </a:ln>
        </p:spPr>
      </p:sp>
      <p:sp>
        <p:nvSpPr>
          <p:cNvPr id="8" name="Shape 9">
            <a:extLst xmlns:a="http://schemas.openxmlformats.org/drawingml/2006/main">
              <a:ext uri="{FF2B5EF4-FFF2-40B4-BE49-F238E27FC236}">
                <a16:creationId xmlns:a16="http://schemas.microsoft.com/office/drawing/2014/main" id="{6CFDE255-C2D9-E111-0135-EFFEC4D4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970" y="1720691"/>
            <a:ext cx="676942" cy="1832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</p:sp>
      <p:sp>
        <p:nvSpPr>
          <p:cNvPr id="9" name="Text 10">
            <a:extLst xmlns:a="http://schemas.openxmlformats.org/drawingml/2006/main">
              <a:ext uri="{FF2B5EF4-FFF2-40B4-BE49-F238E27FC236}">
                <a16:creationId xmlns:a16="http://schemas.microsoft.com/office/drawing/2014/main" id="{2B38AD50-2950-9F46-4D27-10DD26DA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965" y="1494992"/>
            <a:ext cx="676910" cy="170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2000" b="1">
                <a:solidFill>
                  <a:srgbClr val="C0392B"/>
                </a:solidFill>
                <a:latin typeface="Noto Sans TC"/>
                <a:ea typeface="Noto Sans TC"/>
                <a:cs typeface="Noto Sans TC"/>
              </a:rPr>
              <a:t>25</a:t>
            </a:r>
          </a:p>
        </p:txBody>
      </p:sp>
      <p:sp>
        <p:nvSpPr>
          <p:cNvPr id="10" name="Text 11">
            <a:extLst xmlns:a="http://schemas.openxmlformats.org/drawingml/2006/main">
              <a:ext uri="{FF2B5EF4-FFF2-40B4-BE49-F238E27FC236}">
                <a16:creationId xmlns:a16="http://schemas.microsoft.com/office/drawing/2014/main" id="{209C547B-0CCC-2F49-34A9-B2BEDF08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950" y="3632246"/>
            <a:ext cx="1246939" cy="274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現況</a:t>
            </a:r>
          </a:p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5站人工搜尋</a:t>
            </a:r>
          </a:p>
        </p:txBody>
      </p:sp>
      <p:sp>
        <p:nvSpPr>
          <p:cNvPr id="11" name="Shape 12">
            <a:extLst xmlns:a="http://schemas.openxmlformats.org/drawingml/2006/main">
              <a:ext uri="{FF2B5EF4-FFF2-40B4-BE49-F238E27FC236}">
                <a16:creationId xmlns:a16="http://schemas.microsoft.com/office/drawing/2014/main" id="{7248876E-1077-1C66-F00D-86DCC29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3876" y="3494818"/>
            <a:ext cx="676942" cy="5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24C"/>
          </a:solidFill>
          <a:ln xmlns:a="http://schemas.openxmlformats.org/drawingml/2006/main" w="12700">
            <a:solidFill>
              <a:srgbClr val="12824C"/>
            </a:solidFill>
            <a:prstDash val="solid"/>
          </a:ln>
        </p:spPr>
      </p:sp>
      <p:sp>
        <p:nvSpPr>
          <p:cNvPr id="12" name="Text 13">
            <a:extLst xmlns:a="http://schemas.openxmlformats.org/drawingml/2006/main">
              <a:ext uri="{FF2B5EF4-FFF2-40B4-BE49-F238E27FC236}">
                <a16:creationId xmlns:a16="http://schemas.microsoft.com/office/drawing/2014/main" id="{F89C3689-3DE1-4DB7-CB9A-985767FE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3919" y="3272201"/>
            <a:ext cx="676910" cy="170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20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0*</a:t>
            </a:r>
          </a:p>
        </p:txBody>
      </p:sp>
      <p:sp>
        <p:nvSpPr>
          <p:cNvPr id="13" name="Text 14">
            <a:extLst xmlns:a="http://schemas.openxmlformats.org/drawingml/2006/main">
              <a:ext uri="{FF2B5EF4-FFF2-40B4-BE49-F238E27FC236}">
                <a16:creationId xmlns:a16="http://schemas.microsoft.com/office/drawing/2014/main" id="{C8D51C80-E1B5-6F89-A42A-739CB4BE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8904" y="3632246"/>
            <a:ext cx="1246939" cy="274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導入後</a:t>
            </a:r>
          </a:p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背景自動蒐集</a:t>
            </a:r>
          </a:p>
        </p:txBody>
      </p:sp>
      <p:sp>
        <p:nvSpPr>
          <p:cNvPr id="14" name="Shape 15">
            <a:extLst xmlns:a="http://schemas.openxmlformats.org/drawingml/2006/main">
              <a:ext uri="{FF2B5EF4-FFF2-40B4-BE49-F238E27FC236}">
                <a16:creationId xmlns:a16="http://schemas.microsoft.com/office/drawing/2014/main" id="{63B00527-A22A-EB88-F0EA-F91BA0A9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1406" y="2538984"/>
            <a:ext cx="57007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Text 16">
            <a:extLst xmlns:a="http://schemas.openxmlformats.org/drawingml/2006/main">
              <a:ext uri="{FF2B5EF4-FFF2-40B4-BE49-F238E27FC236}">
                <a16:creationId xmlns:a16="http://schemas.microsoft.com/office/drawing/2014/main" id="{37256CB6-C870-8F9D-2DF4-4205210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4509" y="2315904"/>
            <a:ext cx="940548" cy="118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人工找圖轉為背景執行*</a:t>
            </a:r>
          </a:p>
        </p:txBody>
      </p:sp>
      <p:sp>
        <p:nvSpPr>
          <p:cNvPr id="17" name="Shape 17">
            <a:extLst xmlns:a="http://schemas.openxmlformats.org/drawingml/2006/main">
              <a:ext uri="{FF2B5EF4-FFF2-40B4-BE49-F238E27FC236}">
                <a16:creationId xmlns:a16="http://schemas.microsoft.com/office/drawing/2014/main" id="{3EFA310D-DF03-BA7C-22B1-2D2C580A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007" y="886144"/>
            <a:ext cx="1359524" cy="1074519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2824C"/>
            </a:solidFill>
            <a:prstDash val="solid"/>
          </a:ln>
        </p:spPr>
      </p:sp>
      <p:sp>
        <p:nvSpPr>
          <p:cNvPr id="18" name="Text 18">
            <a:extLst xmlns:a="http://schemas.openxmlformats.org/drawingml/2006/main">
              <a:ext uri="{FF2B5EF4-FFF2-40B4-BE49-F238E27FC236}">
                <a16:creationId xmlns:a16="http://schemas.microsoft.com/office/drawing/2014/main" id="{660F67A1-B55D-A4FF-B0B1-1F8EDCB2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4238" y="981657"/>
            <a:ext cx="1139060" cy="1432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估計可釋放工時</a:t>
            </a:r>
          </a:p>
        </p:txBody>
      </p:sp>
      <p:sp>
        <p:nvSpPr>
          <p:cNvPr id="19" name="Text 19">
            <a:extLst xmlns:a="http://schemas.openxmlformats.org/drawingml/2006/main">
              <a:ext uri="{FF2B5EF4-FFF2-40B4-BE49-F238E27FC236}">
                <a16:creationId xmlns:a16="http://schemas.microsoft.com/office/drawing/2014/main" id="{2C840E33-8A48-FAFF-6FC0-667782A7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4238" y="1220439"/>
            <a:ext cx="1139060" cy="3342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5.6 h</a:t>
            </a:r>
          </a:p>
        </p:txBody>
      </p:sp>
      <p:sp>
        <p:nvSpPr>
          <p:cNvPr id="20" name="Text 20">
            <a:extLst xmlns:a="http://schemas.openxmlformats.org/drawingml/2006/main">
              <a:ext uri="{FF2B5EF4-FFF2-40B4-BE49-F238E27FC236}">
                <a16:creationId xmlns:a16="http://schemas.microsoft.com/office/drawing/2014/main" id="{B748CB41-BD52-1E24-683F-398173DE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4238" y="1642287"/>
            <a:ext cx="1139060" cy="1432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per day｜15%異常率</a:t>
            </a:r>
          </a:p>
        </p:txBody>
      </p:sp>
      <p:sp>
        <p:nvSpPr>
          <p:cNvPr id="21" name="Shape 21">
            <a:extLst xmlns:a="http://schemas.openxmlformats.org/drawingml/2006/main">
              <a:ext uri="{FF2B5EF4-FFF2-40B4-BE49-F238E27FC236}">
                <a16:creationId xmlns:a16="http://schemas.microsoft.com/office/drawing/2014/main" id="{6A9EEA46-3A2C-5573-1DE4-484F9921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250" y="886144"/>
            <a:ext cx="1359524" cy="1074519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2824C"/>
            </a:solidFill>
            <a:prstDash val="solid"/>
          </a:ln>
        </p:spPr>
      </p:sp>
      <p:sp>
        <p:nvSpPr>
          <p:cNvPr id="22" name="Text 22">
            <a:extLst xmlns:a="http://schemas.openxmlformats.org/drawingml/2006/main">
              <a:ext uri="{FF2B5EF4-FFF2-40B4-BE49-F238E27FC236}">
                <a16:creationId xmlns:a16="http://schemas.microsoft.com/office/drawing/2014/main" id="{377105CE-DF35-D1DA-EF07-C54A5D07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482" y="981657"/>
            <a:ext cx="1139060" cy="1432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跨站涵蓋</a:t>
            </a:r>
          </a:p>
        </p:txBody>
      </p:sp>
      <p:sp>
        <p:nvSpPr>
          <p:cNvPr id="23" name="Text 23">
            <a:extLst xmlns:a="http://schemas.openxmlformats.org/drawingml/2006/main">
              <a:ext uri="{FF2B5EF4-FFF2-40B4-BE49-F238E27FC236}">
                <a16:creationId xmlns:a16="http://schemas.microsoft.com/office/drawing/2014/main" id="{4775F70C-01EA-1900-A72B-1DB5FBD9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482" y="1220439"/>
            <a:ext cx="1139060" cy="3342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4" name="Text 24">
            <a:extLst xmlns:a="http://schemas.openxmlformats.org/drawingml/2006/main">
              <a:ext uri="{FF2B5EF4-FFF2-40B4-BE49-F238E27FC236}">
                <a16:creationId xmlns:a16="http://schemas.microsoft.com/office/drawing/2014/main" id="{23B648AA-AE1C-AC8D-77DF-02EC2A31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482" y="1642287"/>
            <a:ext cx="1139060" cy="1432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Stations</a:t>
            </a:r>
          </a:p>
        </p:txBody>
      </p:sp>
      <p:sp>
        <p:nvSpPr>
          <p:cNvPr id="25" name="Shape 25">
            <a:extLst xmlns:a="http://schemas.openxmlformats.org/drawingml/2006/main">
              <a:ext uri="{FF2B5EF4-FFF2-40B4-BE49-F238E27FC236}">
                <a16:creationId xmlns:a16="http://schemas.microsoft.com/office/drawing/2014/main" id="{7523FAB8-8B50-6F16-9B20-BCBE499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94" y="886144"/>
            <a:ext cx="1249292" cy="1074519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26" name="Text 26">
            <a:extLst xmlns:a="http://schemas.openxmlformats.org/drawingml/2006/main">
              <a:ext uri="{FF2B5EF4-FFF2-40B4-BE49-F238E27FC236}">
                <a16:creationId xmlns:a16="http://schemas.microsoft.com/office/drawing/2014/main" id="{19AE7061-1CD5-E5E1-FAF4-0A59C040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0726" y="981657"/>
            <a:ext cx="1028829" cy="1432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處理狀態</a:t>
            </a:r>
          </a:p>
        </p:txBody>
      </p:sp>
      <p:sp>
        <p:nvSpPr>
          <p:cNvPr id="27" name="Text 27">
            <a:extLst xmlns:a="http://schemas.openxmlformats.org/drawingml/2006/main">
              <a:ext uri="{FF2B5EF4-FFF2-40B4-BE49-F238E27FC236}">
                <a16:creationId xmlns:a16="http://schemas.microsoft.com/office/drawing/2014/main" id="{90B0641C-9DBE-E3B2-C379-3E96B55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0726" y="1220439"/>
            <a:ext cx="1028829" cy="3342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0B5CAD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8" name="Text 28">
            <a:extLst xmlns:a="http://schemas.openxmlformats.org/drawingml/2006/main">
              <a:ext uri="{FF2B5EF4-FFF2-40B4-BE49-F238E27FC236}">
                <a16:creationId xmlns:a16="http://schemas.microsoft.com/office/drawing/2014/main" id="{0ACB499D-7A08-F84B-3B8B-DA7A2E5B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0726" y="1642287"/>
            <a:ext cx="1028829" cy="1432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FOUND / N.F. / ERROR</a:t>
            </a:r>
          </a:p>
        </p:txBody>
      </p:sp>
      <p:sp>
        <p:nvSpPr>
          <p:cNvPr id="29" name="Shape 29">
            <a:extLst xmlns:a="http://schemas.openxmlformats.org/drawingml/2006/main">
              <a:ext uri="{FF2B5EF4-FFF2-40B4-BE49-F238E27FC236}">
                <a16:creationId xmlns:a16="http://schemas.microsoft.com/office/drawing/2014/main" id="{B9336548-9B05-5E61-2A51-024F76A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007" y="2159648"/>
            <a:ext cx="4335780" cy="1233707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9BBDE8"/>
            </a:solidFill>
            <a:prstDash val="solid"/>
          </a:ln>
        </p:spPr>
      </p:sp>
      <p:sp>
        <p:nvSpPr>
          <p:cNvPr id="30" name="Text 30">
            <a:extLst xmlns:a="http://schemas.openxmlformats.org/drawingml/2006/main">
              <a:ext uri="{FF2B5EF4-FFF2-40B4-BE49-F238E27FC236}">
                <a16:creationId xmlns:a16="http://schemas.microsoft.com/office/drawing/2014/main" id="{A137EDE7-5142-FF45-C4F4-E942EE6F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285" y="2263120"/>
            <a:ext cx="4071223" cy="19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0B5CAD"/>
                </a:solidFill>
                <a:latin typeface="Noto Sans TC"/>
                <a:ea typeface="Noto Sans TC"/>
                <a:cs typeface="Noto Sans TC"/>
              </a:rPr>
              <a:t>效率與完整性</a:t>
            </a:r>
          </a:p>
        </p:txBody>
      </p:sp>
      <p:sp>
        <p:nvSpPr>
          <p:cNvPr id="31" name="Text 31">
            <a:extLst xmlns:a="http://schemas.openxmlformats.org/drawingml/2006/main">
              <a:ext uri="{FF2B5EF4-FFF2-40B4-BE49-F238E27FC236}">
                <a16:creationId xmlns:a16="http://schemas.microsoft.com/office/drawing/2014/main" id="{195D6645-DCCD-AC4D-35B5-0E349A8C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285" y="2541700"/>
            <a:ext cx="4071223" cy="7720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長清單可背景分輪；已存在 Output 的項目直接跳過，不重複掃描來源。Output 遺失時可於下一輪補傳。</a:t>
            </a:r>
          </a:p>
        </p:txBody>
      </p:sp>
      <p:sp>
        <p:nvSpPr>
          <p:cNvPr id="32" name="Shape 32">
            <a:extLst xmlns:a="http://schemas.openxmlformats.org/drawingml/2006/main">
              <a:ext uri="{FF2B5EF4-FFF2-40B4-BE49-F238E27FC236}">
                <a16:creationId xmlns:a16="http://schemas.microsoft.com/office/drawing/2014/main" id="{6D2728C5-1EA9-674A-9CB8-FAFA477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007" y="3592341"/>
            <a:ext cx="4335780" cy="7959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8BC6A3"/>
            </a:solidFill>
            <a:prstDash val="solid"/>
          </a:ln>
        </p:spPr>
      </p:sp>
      <p:sp>
        <p:nvSpPr>
          <p:cNvPr id="33" name="Text 33">
            <a:extLst xmlns:a="http://schemas.openxmlformats.org/drawingml/2006/main">
              <a:ext uri="{FF2B5EF4-FFF2-40B4-BE49-F238E27FC236}">
                <a16:creationId xmlns:a16="http://schemas.microsoft.com/office/drawing/2014/main" id="{D4F8ACB0-1FFA-92D7-6BCF-A55AF1B0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285" y="3695813"/>
            <a:ext cx="4071223" cy="19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可追溯與易用性</a:t>
            </a:r>
          </a:p>
        </p:txBody>
      </p:sp>
      <p:sp>
        <p:nvSpPr>
          <p:cNvPr id="34" name="Text 34">
            <a:extLst xmlns:a="http://schemas.openxmlformats.org/drawingml/2006/main">
              <a:ext uri="{FF2B5EF4-FFF2-40B4-BE49-F238E27FC236}">
                <a16:creationId xmlns:a16="http://schemas.microsoft.com/office/drawing/2014/main" id="{B2BBA312-E46A-9CE0-C594-CE11980D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285" y="3974392"/>
            <a:ext cx="4071223" cy="3342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91258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圖片集中於同一 Lot／Station 結構，檔名與 log 保留關鍵資訊。*工時估算僅計人工找圖，不含驗證與例外處理。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D. 以營業秘密保護之考量</a:t>
            </a:r>
          </a:p>
        </p:txBody>
      </p:sp>
      <p:sp>
        <p:nvSpPr>
          <p:cNvPr id="7" name="Shape 6">
            <a:extLst xmlns:a="http://schemas.openxmlformats.org/drawingml/2006/main">
              <a:ext uri="{FF2B5EF4-FFF2-40B4-BE49-F238E27FC236}">
                <a16:creationId xmlns:a16="http://schemas.microsoft.com/office/drawing/2014/main" id="{55A4341D-8BDB-9D14-38DD-B4A576B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" y="883920"/>
            <a:ext cx="2903991" cy="3337987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37664DC7-8F8A-0C56-40D9-622658BD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451" y="977240"/>
            <a:ext cx="2632449" cy="1722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保護標的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60FAF365-B14D-474A-F718-FDEC84D3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451" y="1228486"/>
            <a:ext cx="2632449" cy="2921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各站影像路徑與圖種規則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Lot / Unit 比對與檔名判定邏輯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station_config.json 參數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Output 命名與報表對應設計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FT1 by lot 等差異化處理</a:t>
            </a:r>
          </a:p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E2DCB7CE-6B13-7C1B-DE15-61133A46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9243" y="883920"/>
            <a:ext cx="2903991" cy="3337987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7F1FF"/>
          </a:solidFill>
          <a:ln xmlns:a="http://schemas.openxmlformats.org/drawingml/2006/main" w="12700">
            <a:solidFill>
              <a:srgbClr val="C7B7EA"/>
            </a:solidFill>
            <a:prstDash val="solid"/>
          </a:ln>
        </p:spPr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7E762281-6C23-DA49-9321-CC6689FA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014" y="977240"/>
            <a:ext cx="2632449" cy="1722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6B4E9B"/>
                </a:solidFill>
                <a:latin typeface="Noto Sans TC"/>
                <a:ea typeface="Noto Sans TC"/>
                <a:cs typeface="Noto Sans TC"/>
              </a:rPr>
              <a:t>保密價值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B6690A7F-56DB-F760-D5A3-5006C949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014" y="1228486"/>
            <a:ext cx="2632449" cy="2921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上述內容整合 SPI2、AOI3、AOI4、3DL、FT1 的設備差異，可縮短異常追溯與問題分析時間。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若外部取得，可直接複製影像回追架構與設備對接經驗。</a:t>
            </a:r>
          </a:p>
        </p:txBody>
      </p:sp>
      <p:sp>
        <p:nvSpPr>
          <p:cNvPr id="13" name="Shape 12">
            <a:extLst xmlns:a="http://schemas.openxmlformats.org/drawingml/2006/main">
              <a:ext uri="{FF2B5EF4-FFF2-40B4-BE49-F238E27FC236}">
                <a16:creationId xmlns:a16="http://schemas.microsoft.com/office/drawing/2014/main" id="{22428093-AF44-8C11-58FA-89677D99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1805" y="883920"/>
            <a:ext cx="2753134" cy="3337987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4" name="Text 13">
            <a:extLst xmlns:a="http://schemas.openxmlformats.org/drawingml/2006/main">
              <a:ext uri="{FF2B5EF4-FFF2-40B4-BE49-F238E27FC236}">
                <a16:creationId xmlns:a16="http://schemas.microsoft.com/office/drawing/2014/main" id="{41AA9472-E77D-EE10-37DD-FCB1BE1D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576" y="977240"/>
            <a:ext cx="2481592" cy="1722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113A6B"/>
                </a:solidFill>
                <a:latin typeface="Noto Sans TC"/>
                <a:ea typeface="Noto Sans TC"/>
                <a:cs typeface="Noto Sans TC"/>
              </a:rPr>
              <a:t>建議管理方式</a:t>
            </a:r>
          </a:p>
        </p:txBody>
      </p:sp>
      <p:sp>
        <p:nvSpPr>
          <p:cNvPr id="15" name="Text 14">
            <a:extLst xmlns:a="http://schemas.openxmlformats.org/drawingml/2006/main">
              <a:ext uri="{FF2B5EF4-FFF2-40B4-BE49-F238E27FC236}">
                <a16:creationId xmlns:a16="http://schemas.microsoft.com/office/drawing/2014/main" id="{E0D18A73-D0A9-D96B-7BF3-C79DC7B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576" y="1228486"/>
            <a:ext cx="2481592" cy="2921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文件與程式碼：Confidential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限定製程、設備、IT 與 NPI 使用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config 與來源路徑權限分離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保留版本、log 與異常處置紀錄</a:t>
            </a:r>
          </a:p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• 對外不揭露路徑、規則與資源上限</a:t>
            </a:r>
          </a:p>
        </p:txBody>
      </p:sp>
      <p:sp>
        <p:nvSpPr>
          <p:cNvPr id="16" name="Shape 15">
            <a:extLst xmlns:a="http://schemas.openxmlformats.org/drawingml/2006/main">
              <a:ext uri="{FF2B5EF4-FFF2-40B4-BE49-F238E27FC236}">
                <a16:creationId xmlns:a16="http://schemas.microsoft.com/office/drawing/2014/main" id="{4C37F654-2A25-889F-FF05-04405BB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" y="4329584"/>
            <a:ext cx="8938260" cy="39481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2700">
            <a:solidFill>
              <a:srgbClr val="F0C46A"/>
            </a:solidFill>
            <a:prstDash val="solid"/>
          </a:ln>
        </p:spPr>
      </p:sp>
      <p:sp>
        <p:nvSpPr>
          <p:cNvPr id="17" name="Text 16">
            <a:extLst xmlns:a="http://schemas.openxmlformats.org/drawingml/2006/main">
              <a:ext uri="{FF2B5EF4-FFF2-40B4-BE49-F238E27FC236}">
                <a16:creationId xmlns:a16="http://schemas.microsoft.com/office/drawing/2014/main" id="{A4DC5D6D-8FA5-C3EF-A010-46301ABC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537" y="4451618"/>
            <a:ext cx="8598832" cy="100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建議對外說法：以 Lot / Unit 為主鍵，自動彙整跨站影像以提升異常分析效率；不揭露設備路徑、比對規則與參數細節。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>
                <a:latin typeface="Noto Sans TC"/>
                <a:ea typeface="Noto Sans TC"/>
                <a:cs typeface="Noto Sans TC"/>
              </a:rPr>
              <a:t>Summary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fld id="{D3D7D1C8-AE23-AA48-DF65-C742588DBE47}" type="slidenum">
              <a:rPr>
                <a:latin typeface="Noto Sans TC"/>
                <a:ea typeface="Noto Sans TC"/>
                <a:cs typeface="Noto Sans TC"/>
              </a:rPr>
              <a:t>7</a:t>
            </a:fld>
          </a:p>
        </p:txBody>
      </p:sp>
      <p:sp>
        <p:nvSpPr>
          <p:cNvPr id="33" name="Shape 4">
            <a:extLst xmlns:a="http://schemas.openxmlformats.org/drawingml/2006/main">
              <a:ext uri="{FF2B5EF4-FFF2-40B4-BE49-F238E27FC236}">
                <a16:creationId xmlns:a16="http://schemas.microsoft.com/office/drawing/2014/main" id="{0D3331F5-F189-F3A9-FE95-63EE7ABD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60" y="857623"/>
            <a:ext cx="2026989" cy="2268481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</p:sp>
      <p:sp>
        <p:nvSpPr>
          <p:cNvPr id="34" name="Shape 5">
            <a:extLst xmlns:a="http://schemas.openxmlformats.org/drawingml/2006/main">
              <a:ext uri="{FF2B5EF4-FFF2-40B4-BE49-F238E27FC236}">
                <a16:creationId xmlns:a16="http://schemas.microsoft.com/office/drawing/2014/main" id="{96C66AAF-A7BE-92EA-6ED2-C2C80FC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793" y="1060771"/>
            <a:ext cx="626524" cy="575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</p:sp>
      <p:sp>
        <p:nvSpPr>
          <p:cNvPr id="35" name="Text 6">
            <a:extLst xmlns:a="http://schemas.openxmlformats.org/drawingml/2006/main">
              <a:ext uri="{FF2B5EF4-FFF2-40B4-BE49-F238E27FC236}">
                <a16:creationId xmlns:a16="http://schemas.microsoft.com/office/drawing/2014/main" id="{BE7A96DF-1BE7-E20A-ED2C-4A7867BF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19" y="1182660"/>
            <a:ext cx="184271" cy="121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Text 7">
            <a:extLst xmlns:a="http://schemas.openxmlformats.org/drawingml/2006/main">
              <a:ext uri="{FF2B5EF4-FFF2-40B4-BE49-F238E27FC236}">
                <a16:creationId xmlns:a16="http://schemas.microsoft.com/office/drawing/2014/main" id="{3EF10912-0727-CD0C-80AF-13F60FEC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31" y="1785331"/>
            <a:ext cx="1658446" cy="1692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C0392B"/>
                </a:solidFill>
                <a:latin typeface="Noto Sans TC"/>
                <a:ea typeface="Noto Sans TC"/>
                <a:cs typeface="Noto Sans TC"/>
              </a:rPr>
              <a:t>問題</a:t>
            </a:r>
          </a:p>
        </p:txBody>
      </p:sp>
      <p:sp>
        <p:nvSpPr>
          <p:cNvPr id="37" name="Text 8">
            <a:extLst xmlns:a="http://schemas.openxmlformats.org/drawingml/2006/main">
              <a:ext uri="{FF2B5EF4-FFF2-40B4-BE49-F238E27FC236}">
                <a16:creationId xmlns:a16="http://schemas.microsoft.com/office/drawing/2014/main" id="{8BF34993-94F9-A337-0BA0-AA2DF130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978" y="2076509"/>
            <a:ext cx="1658446" cy="711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異常後需逐站人工找圖；規則不同造成耗時、重複搜尋與漏抓風險。</a:t>
            </a:r>
          </a:p>
        </p:txBody>
      </p:sp>
      <p:sp>
        <p:nvSpPr>
          <p:cNvPr id="38" name="Shape 9">
            <a:extLst xmlns:a="http://schemas.openxmlformats.org/drawingml/2006/main">
              <a:ext uri="{FF2B5EF4-FFF2-40B4-BE49-F238E27FC236}">
                <a16:creationId xmlns:a16="http://schemas.microsoft.com/office/drawing/2014/main" id="{F4A11580-9D26-2628-777E-21976ACE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1788" y="857623"/>
            <a:ext cx="2026989" cy="2268481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39" name="Shape 10">
            <a:extLst xmlns:a="http://schemas.openxmlformats.org/drawingml/2006/main">
              <a:ext uri="{FF2B5EF4-FFF2-40B4-BE49-F238E27FC236}">
                <a16:creationId xmlns:a16="http://schemas.microsoft.com/office/drawing/2014/main" id="{D6C6C939-288E-1551-9513-262E4EDD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2021" y="1060771"/>
            <a:ext cx="626524" cy="575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12700">
            <a:solidFill>
              <a:srgbClr val="0B5CAD"/>
            </a:solidFill>
            <a:prstDash val="solid"/>
          </a:ln>
        </p:spPr>
      </p:sp>
      <p:sp>
        <p:nvSpPr>
          <p:cNvPr id="40" name="Text 11">
            <a:extLst xmlns:a="http://schemas.openxmlformats.org/drawingml/2006/main">
              <a:ext uri="{FF2B5EF4-FFF2-40B4-BE49-F238E27FC236}">
                <a16:creationId xmlns:a16="http://schemas.microsoft.com/office/drawing/2014/main" id="{5B4382AB-90CD-2AF7-C184-3AE16017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3147" y="1182660"/>
            <a:ext cx="184271" cy="121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 12">
            <a:extLst xmlns:a="http://schemas.openxmlformats.org/drawingml/2006/main">
              <a:ext uri="{FF2B5EF4-FFF2-40B4-BE49-F238E27FC236}">
                <a16:creationId xmlns:a16="http://schemas.microsoft.com/office/drawing/2014/main" id="{658E1086-17D5-6271-55B8-EA1C426C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6060" y="1785331"/>
            <a:ext cx="1658446" cy="1692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5CAD"/>
                </a:solidFill>
                <a:latin typeface="Noto Sans TC"/>
                <a:ea typeface="Noto Sans TC"/>
                <a:cs typeface="Noto Sans TC"/>
              </a:rPr>
              <a:t>方案</a:t>
            </a:r>
          </a:p>
        </p:txBody>
      </p:sp>
      <p:sp>
        <p:nvSpPr>
          <p:cNvPr id="42" name="Text 13">
            <a:extLst xmlns:a="http://schemas.openxmlformats.org/drawingml/2006/main">
              <a:ext uri="{FF2B5EF4-FFF2-40B4-BE49-F238E27FC236}">
                <a16:creationId xmlns:a16="http://schemas.microsoft.com/office/drawing/2014/main" id="{A9408A37-983D-C2E3-9572-AEF4411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2915" y="2076509"/>
            <a:ext cx="1584737" cy="711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712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以 Lot / Unit 為主鍵，各站 Collector 自動搜尋並集中輸出至 NAS。</a:t>
            </a:r>
          </a:p>
        </p:txBody>
      </p:sp>
      <p:sp>
        <p:nvSpPr>
          <p:cNvPr id="43" name="Shape 14">
            <a:extLst xmlns:a="http://schemas.openxmlformats.org/drawingml/2006/main">
              <a:ext uri="{FF2B5EF4-FFF2-40B4-BE49-F238E27FC236}">
                <a16:creationId xmlns:a16="http://schemas.microsoft.com/office/drawing/2014/main" id="{292BCD96-4935-4268-C948-409AD149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2017" y="857623"/>
            <a:ext cx="2026989" cy="2268481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B4E9B"/>
            </a:solidFill>
            <a:prstDash val="solid"/>
          </a:ln>
        </p:spPr>
      </p:sp>
      <p:sp>
        <p:nvSpPr>
          <p:cNvPr id="44" name="Shape 15">
            <a:extLst xmlns:a="http://schemas.openxmlformats.org/drawingml/2006/main">
              <a:ext uri="{FF2B5EF4-FFF2-40B4-BE49-F238E27FC236}">
                <a16:creationId xmlns:a16="http://schemas.microsoft.com/office/drawing/2014/main" id="{68E911EC-65BD-A85C-D1B5-1D625F2E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250" y="1060771"/>
            <a:ext cx="626524" cy="575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E9B"/>
          </a:solidFill>
          <a:ln xmlns:a="http://schemas.openxmlformats.org/drawingml/2006/main" w="12700">
            <a:solidFill>
              <a:srgbClr val="6B4E9B"/>
            </a:solidFill>
            <a:prstDash val="solid"/>
          </a:ln>
        </p:spPr>
      </p:sp>
      <p:sp>
        <p:nvSpPr>
          <p:cNvPr id="45" name="Text 16">
            <a:extLst xmlns:a="http://schemas.openxmlformats.org/drawingml/2006/main">
              <a:ext uri="{FF2B5EF4-FFF2-40B4-BE49-F238E27FC236}">
                <a16:creationId xmlns:a16="http://schemas.microsoft.com/office/drawing/2014/main" id="{9D94ECAF-4D94-947F-5EC7-5AB191B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3376" y="1182660"/>
            <a:ext cx="184271" cy="121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6" name="Text 17">
            <a:extLst xmlns:a="http://schemas.openxmlformats.org/drawingml/2006/main">
              <a:ext uri="{FF2B5EF4-FFF2-40B4-BE49-F238E27FC236}">
                <a16:creationId xmlns:a16="http://schemas.microsoft.com/office/drawing/2014/main" id="{87310293-9848-3463-E946-CA4B1F5C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289" y="1785331"/>
            <a:ext cx="1658446" cy="1692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6B4E9B"/>
                </a:solidFill>
                <a:latin typeface="Noto Sans TC"/>
                <a:ea typeface="Noto Sans TC"/>
                <a:cs typeface="Noto Sans TC"/>
              </a:rPr>
              <a:t>可靠性</a:t>
            </a:r>
          </a:p>
        </p:txBody>
      </p:sp>
      <p:sp>
        <p:nvSpPr>
          <p:cNvPr id="47" name="Text 18">
            <a:extLst xmlns:a="http://schemas.openxmlformats.org/drawingml/2006/main">
              <a:ext uri="{FF2B5EF4-FFF2-40B4-BE49-F238E27FC236}">
                <a16:creationId xmlns:a16="http://schemas.microsoft.com/office/drawing/2014/main" id="{A99997B2-366E-6967-4AAA-6E8524A8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289" y="2076509"/>
            <a:ext cx="1717414" cy="711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712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.part 安全複製、補傳、分輪、去重、heartbeat 與自動封存。</a:t>
            </a:r>
          </a:p>
        </p:txBody>
      </p:sp>
      <p:sp>
        <p:nvSpPr>
          <p:cNvPr id="48" name="Shape 19">
            <a:extLst xmlns:a="http://schemas.openxmlformats.org/drawingml/2006/main">
              <a:ext uri="{FF2B5EF4-FFF2-40B4-BE49-F238E27FC236}">
                <a16:creationId xmlns:a16="http://schemas.microsoft.com/office/drawing/2014/main" id="{BD3F6BC2-38F1-654F-527C-CEC5F09B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246" y="857623"/>
            <a:ext cx="2026989" cy="2268481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2824C"/>
            </a:solidFill>
            <a:prstDash val="solid"/>
          </a:ln>
        </p:spPr>
      </p:sp>
      <p:sp>
        <p:nvSpPr>
          <p:cNvPr id="49" name="Shape 20">
            <a:extLst xmlns:a="http://schemas.openxmlformats.org/drawingml/2006/main">
              <a:ext uri="{FF2B5EF4-FFF2-40B4-BE49-F238E27FC236}">
                <a16:creationId xmlns:a16="http://schemas.microsoft.com/office/drawing/2014/main" id="{503C545E-B982-7D79-09A6-F9BC1868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2479" y="1060771"/>
            <a:ext cx="626524" cy="575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4C"/>
          </a:solidFill>
          <a:ln xmlns:a="http://schemas.openxmlformats.org/drawingml/2006/main" w="12700">
            <a:solidFill>
              <a:srgbClr val="12824C"/>
            </a:solidFill>
            <a:prstDash val="solid"/>
          </a:ln>
        </p:spPr>
      </p:sp>
      <p:sp>
        <p:nvSpPr>
          <p:cNvPr id="50" name="Text 21">
            <a:extLst xmlns:a="http://schemas.openxmlformats.org/drawingml/2006/main">
              <a:ext uri="{FF2B5EF4-FFF2-40B4-BE49-F238E27FC236}">
                <a16:creationId xmlns:a16="http://schemas.microsoft.com/office/drawing/2014/main" id="{8E3C8456-B78F-A781-1235-74243993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3605" y="1182660"/>
            <a:ext cx="184271" cy="121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Text 22">
            <a:extLst xmlns:a="http://schemas.openxmlformats.org/drawingml/2006/main">
              <a:ext uri="{FF2B5EF4-FFF2-40B4-BE49-F238E27FC236}">
                <a16:creationId xmlns:a16="http://schemas.microsoft.com/office/drawing/2014/main" id="{073A17C0-4616-A144-BCFC-9E54714D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6518" y="1785331"/>
            <a:ext cx="1658446" cy="1692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價值</a:t>
            </a:r>
          </a:p>
        </p:txBody>
      </p:sp>
      <p:sp>
        <p:nvSpPr>
          <p:cNvPr id="52" name="Text 23">
            <a:extLst xmlns:a="http://schemas.openxmlformats.org/drawingml/2006/main">
              <a:ext uri="{FF2B5EF4-FFF2-40B4-BE49-F238E27FC236}">
                <a16:creationId xmlns:a16="http://schemas.microsoft.com/office/drawing/2014/main" id="{0A5A2457-8F62-5A14-0FF8-F94CEC79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3372" y="2076509"/>
            <a:ext cx="1584737" cy="711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2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估計釋放 5.6 小時/日找圖負荷，並提高完整性與可追溯性。</a:t>
            </a:r>
          </a:p>
        </p:txBody>
      </p:sp>
      <p:sp>
        <p:nvSpPr>
          <p:cNvPr id="53" name="Shape 24">
            <a:extLst xmlns:a="http://schemas.openxmlformats.org/drawingml/2006/main">
              <a:ext uri="{FF2B5EF4-FFF2-40B4-BE49-F238E27FC236}">
                <a16:creationId xmlns:a16="http://schemas.microsoft.com/office/drawing/2014/main" id="{FDA5ED6E-4340-95AF-927B-474527D8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60" y="3498543"/>
            <a:ext cx="4275105" cy="6433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9BBDE8"/>
            </a:solidFill>
            <a:prstDash val="solid"/>
          </a:ln>
        </p:spPr>
      </p:sp>
      <p:sp>
        <p:nvSpPr>
          <p:cNvPr id="54" name="Text 25">
            <a:extLst xmlns:a="http://schemas.openxmlformats.org/drawingml/2006/main">
              <a:ext uri="{FF2B5EF4-FFF2-40B4-BE49-F238E27FC236}">
                <a16:creationId xmlns:a16="http://schemas.microsoft.com/office/drawing/2014/main" id="{94997DA9-21AD-D2D1-183D-F0124F23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235" y="3586573"/>
            <a:ext cx="4009754" cy="162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0B5CAD"/>
                </a:solidFill>
                <a:latin typeface="Noto Sans TC"/>
                <a:ea typeface="Noto Sans TC"/>
                <a:cs typeface="Noto Sans TC"/>
              </a:rPr>
              <a:t>建議導入</a:t>
            </a:r>
          </a:p>
        </p:txBody>
      </p:sp>
      <p:sp>
        <p:nvSpPr>
          <p:cNvPr id="55" name="Text 26">
            <a:extLst xmlns:a="http://schemas.openxmlformats.org/drawingml/2006/main">
              <a:ext uri="{FF2B5EF4-FFF2-40B4-BE49-F238E27FC236}">
                <a16:creationId xmlns:a16="http://schemas.microsoft.com/office/drawing/2014/main" id="{A6FCFCEF-4AEB-C786-8A68-448E61F9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235" y="3823579"/>
            <a:ext cx="4009754" cy="2505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79906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先以 1 個異常 Lot 完成 5 站端到端驗證，再擴充長清單、斷線補傳與報表自動化。</a:t>
            </a:r>
          </a:p>
        </p:txBody>
      </p:sp>
      <p:sp>
        <p:nvSpPr>
          <p:cNvPr id="56" name="Shape 27">
            <a:extLst xmlns:a="http://schemas.openxmlformats.org/drawingml/2006/main">
              <a:ext uri="{FF2B5EF4-FFF2-40B4-BE49-F238E27FC236}">
                <a16:creationId xmlns:a16="http://schemas.microsoft.com/office/drawing/2014/main" id="{CBE0462B-3F9E-7DFD-F37D-36B99370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792" y="3498543"/>
            <a:ext cx="4017125" cy="6433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8BC6A3"/>
            </a:solidFill>
            <a:prstDash val="solid"/>
          </a:ln>
        </p:spPr>
      </p:sp>
      <p:sp>
        <p:nvSpPr>
          <p:cNvPr id="57" name="Text 28">
            <a:extLst xmlns:a="http://schemas.openxmlformats.org/drawingml/2006/main">
              <a:ext uri="{FF2B5EF4-FFF2-40B4-BE49-F238E27FC236}">
                <a16:creationId xmlns:a16="http://schemas.microsoft.com/office/drawing/2014/main" id="{0D52E856-A4E5-C013-BFB1-A77496A5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468" y="3586573"/>
            <a:ext cx="3751774" cy="162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400" b="1">
                <a:solidFill>
                  <a:srgbClr val="12824C"/>
                </a:solidFill>
                <a:latin typeface="Noto Sans TC"/>
                <a:ea typeface="Noto Sans TC"/>
                <a:cs typeface="Noto Sans TC"/>
              </a:rPr>
              <a:t>驗收 KPI</a:t>
            </a:r>
          </a:p>
        </p:txBody>
      </p:sp>
      <p:sp>
        <p:nvSpPr>
          <p:cNvPr id="58" name="Text 29">
            <a:extLst xmlns:a="http://schemas.openxmlformats.org/drawingml/2006/main">
              <a:ext uri="{FF2B5EF4-FFF2-40B4-BE49-F238E27FC236}">
                <a16:creationId xmlns:a16="http://schemas.microsoft.com/office/drawing/2014/main" id="{893F7ECF-21D6-36F1-AA04-7B89BD0F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468" y="3823579"/>
            <a:ext cx="3751774" cy="2505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91408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100">
                <a:solidFill>
                  <a:srgbClr val="1F2937"/>
                </a:solidFill>
                <a:latin typeface="Noto Sans TC"/>
                <a:ea typeface="Noto Sans TC"/>
                <a:cs typeface="Noto Sans TC"/>
              </a:rPr>
              <a:t>FOUND率／漏抓率、平均完成時間、補傳成功率、人工找圖工時。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